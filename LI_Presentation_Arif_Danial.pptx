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75" r:id="rId6"/>
    <p:sldId id="260" r:id="rId7"/>
    <p:sldId id="261" r:id="rId8"/>
    <p:sldId id="262" r:id="rId9"/>
    <p:sldId id="263" r:id="rId10"/>
    <p:sldId id="264" r:id="rId11"/>
    <p:sldId id="265" r:id="rId12"/>
    <p:sldId id="266" r:id="rId13"/>
    <p:sldId id="267" r:id="rId14"/>
    <p:sldId id="268" r:id="rId15"/>
    <p:sldId id="269" r:id="rId16"/>
    <p:sldId id="276" r:id="rId17"/>
    <p:sldId id="270" r:id="rId18"/>
    <p:sldId id="277" r:id="rId19"/>
    <p:sldId id="271" r:id="rId20"/>
    <p:sldId id="272" r:id="rId21"/>
    <p:sldId id="273" r:id="rId22"/>
    <p:sldId id="274"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p:scale>
          <a:sx n="125" d="100"/>
          <a:sy n="125" d="100"/>
        </p:scale>
        <p:origin x="-6" y="10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062699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morning/afternoon. My name is Muhammad Arif Danial. This is my practical training report presentation for my 24-week internship at KYROL Security Labs, where my main project was building an Automated Email Reminder System.</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I'll start with a brief look at the company, then spend most of the time on my main project before covering my two other tasks and wrapping up with what I learned.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Practical training is a required part of the diploma. I completed my 24 weeks at KYROL Security Labs, an IT and cybersecurity firm in Cyberjaya, under the supervision of their system engineer.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KYROL Security Labs has been in the IT and cybersecurity industry for over a decade. The org chart on the right shows where I sat as an intern under the system engineering team.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core problem was that client license renewals were tracked by hand, which is easy to get wrong. My system checks every client's expiry date daily and sends reminders at 30, 7, and 1 day before expiry, so nothing slips through.</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project had four objectives: remove human error, save staff time, keep client communication consistent, and make sure the system can scale as the client list grows.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system is built in Python using pandas and smtplib. Everything is packaged in Docker so it runs identically in testing and production, and the server triggers it daily through Windows Task Scheduler over a secure SMTP connection.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followed a standard software development life cycle: planning and design, a Docker-based architecture, implementation in Python, thorough testing on mock data so no real client was emailed by accident, then deployment to the production server with logging for maintenance.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flowchart shows the exact runtime logic. It loads config and the workbook, validates the data, then loops through each client. It only sends on the 30, 7, or 1-day marks, skips anyone already emailed, and has a hard cap so a data mistake can never spam clients.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 case diagram has three actors: the admin maintains the data, the Task Scheduler runs the script automatically, and the mail relay is external. Sending an alert is an extend use case — it only happens when a run finds a matching client.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shows the physical setup. I develop and push to GitHub; the production server pulls the code, builds a Windows container, and runs it daily. Client data stays on the server's disk so it's still editable in Excel, and email goes out over TLS on port 587.</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code is organized into components. main.py is the orchestrator and the only module tying everything together. Each of the six supporting modules does one job with one clear interface, which keeps the program easy to test and maintain.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sequence diagram traces one daily run in time order. main.py loads the data and dedup log, loops over candidates, and for eligible clients calls the emailer, which retries on failure. It only records a client as sent if delivery succeeded, then writes a summary at the end.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only user-facing part is the email itself — a branded HTML template with placeholder tags filled in for each client at runtime: the product, the milestone, the expiry date, and the client's contact details from the spreadsheet. Every value is escaped so a stray character can't break the layout.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Task A, I rebuilt the Muzium Petaling Jaya website. The old one looked dated and didn't work on phones. I used Joomla with SP Page Builder and custom CSS to give it a clean, modern, fully responsive layout that staff can update themselves without coding.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Task B was graphic design. I designed corporate polo uniforms and festive greeting posters for Malaysian holidays, all keeping the company logo, colours, and tagline consistent. I mainly used Canva, including its AI tools, exporting each poster in banner and portrait versions.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conclude — this training let me apply what I learned in the diploma to real work. My main project took me through the entire software development life cycle, and beyond it I was exposed to cybersecurity, systems administration, and design.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My recommendations: the university could help more with securing placements; future students should be proactive and ask for extra responsibilities; and they should embrace flexible working arrangements, because that variety taught me the most.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That's the end of my presentation. Thank you for listening — I'm happy to take any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21.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ight Triangle 2"/>
          <p:cNvSpPr/>
          <p:nvPr/>
        </p:nvSpPr>
        <p:spPr>
          <a:xfrm rot="5400000">
            <a:off x="9966960" y="-182880"/>
            <a:ext cx="2468880" cy="2011680"/>
          </a:xfrm>
          <a:prstGeom prst="rtTriangle">
            <a:avLst/>
          </a:prstGeom>
          <a:solidFill>
            <a:srgbClr val="2E6B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ight Triangle 3"/>
          <p:cNvSpPr/>
          <p:nvPr/>
        </p:nvSpPr>
        <p:spPr>
          <a:xfrm rot="5400000">
            <a:off x="10698480" y="-182880"/>
            <a:ext cx="1737360" cy="1371600"/>
          </a:xfrm>
          <a:prstGeom prst="rtTriangle">
            <a:avLst/>
          </a:prstGeom>
          <a:solidFill>
            <a:srgbClr val="2453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965960"/>
            <a:ext cx="10360152" cy="457200"/>
          </a:xfrm>
          <a:prstGeom prst="rect">
            <a:avLst/>
          </a:prstGeom>
          <a:noFill/>
        </p:spPr>
        <p:txBody>
          <a:bodyPr wrap="square" lIns="0" tIns="0" rIns="0" bIns="0" anchor="t">
            <a:spAutoFit/>
          </a:bodyPr>
          <a:lstStyle/>
          <a:p>
            <a:pPr algn="ctr">
              <a:lnSpc>
                <a:spcPct val="100000"/>
              </a:lnSpc>
              <a:spcBef>
                <a:spcPts val="0"/>
              </a:spcBef>
              <a:spcAft>
                <a:spcPts val="600"/>
              </a:spcAft>
            </a:pPr>
            <a:r>
              <a:rPr sz="1700" b="1" i="0" dirty="0">
                <a:solidFill>
                  <a:srgbClr val="9FC1E6"/>
                </a:solidFill>
                <a:latin typeface="Segoe UI"/>
              </a:rPr>
              <a:t>PRACTICAL TRAINING REPORT</a:t>
            </a:r>
          </a:p>
        </p:txBody>
      </p:sp>
      <p:sp>
        <p:nvSpPr>
          <p:cNvPr id="7" name="TextBox 6"/>
          <p:cNvSpPr txBox="1"/>
          <p:nvPr/>
        </p:nvSpPr>
        <p:spPr>
          <a:xfrm>
            <a:off x="731520" y="2395728"/>
            <a:ext cx="10725912" cy="1379865"/>
          </a:xfrm>
          <a:prstGeom prst="rect">
            <a:avLst/>
          </a:prstGeom>
          <a:noFill/>
        </p:spPr>
        <p:txBody>
          <a:bodyPr wrap="square" lIns="0" tIns="0" rIns="0" bIns="0" anchor="t">
            <a:spAutoFit/>
          </a:bodyPr>
          <a:lstStyle/>
          <a:p>
            <a:pPr algn="ctr">
              <a:lnSpc>
                <a:spcPct val="100000"/>
              </a:lnSpc>
              <a:spcBef>
                <a:spcPts val="0"/>
              </a:spcBef>
              <a:spcAft>
                <a:spcPts val="200"/>
              </a:spcAft>
            </a:pPr>
            <a:r>
              <a:rPr lang="en-US" sz="4400" b="1" i="0" dirty="0">
                <a:solidFill>
                  <a:srgbClr val="FFFFFF"/>
                </a:solidFill>
                <a:latin typeface="Segoe UI Semibold"/>
              </a:rPr>
              <a:t>Practical Training</a:t>
            </a:r>
          </a:p>
          <a:p>
            <a:pPr algn="ctr">
              <a:lnSpc>
                <a:spcPct val="100000"/>
              </a:lnSpc>
              <a:spcBef>
                <a:spcPts val="0"/>
              </a:spcBef>
              <a:spcAft>
                <a:spcPts val="200"/>
              </a:spcAft>
            </a:pPr>
            <a:r>
              <a:rPr lang="en-US" sz="4400" b="1" dirty="0">
                <a:solidFill>
                  <a:srgbClr val="FFFFFF"/>
                </a:solidFill>
                <a:latin typeface="Segoe UI Semibold"/>
              </a:rPr>
              <a:t>Presentation</a:t>
            </a:r>
            <a:endParaRPr sz="4400" b="1" i="0" dirty="0">
              <a:solidFill>
                <a:srgbClr val="FFFFFF"/>
              </a:solidFill>
              <a:latin typeface="Segoe UI Semibold"/>
            </a:endParaRPr>
          </a:p>
        </p:txBody>
      </p:sp>
      <p:sp>
        <p:nvSpPr>
          <p:cNvPr id="8" name="Rectangle 7"/>
          <p:cNvSpPr/>
          <p:nvPr/>
        </p:nvSpPr>
        <p:spPr>
          <a:xfrm>
            <a:off x="5175504" y="3913632"/>
            <a:ext cx="1828800" cy="31750"/>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4114800"/>
            <a:ext cx="10360152" cy="822960"/>
          </a:xfrm>
          <a:prstGeom prst="rect">
            <a:avLst/>
          </a:prstGeom>
          <a:noFill/>
        </p:spPr>
        <p:txBody>
          <a:bodyPr wrap="square" lIns="0" tIns="0" rIns="0" bIns="0" anchor="t">
            <a:spAutoFit/>
          </a:bodyPr>
          <a:lstStyle/>
          <a:p>
            <a:pPr algn="ctr">
              <a:lnSpc>
                <a:spcPct val="100000"/>
              </a:lnSpc>
              <a:spcBef>
                <a:spcPts val="0"/>
              </a:spcBef>
              <a:spcAft>
                <a:spcPts val="300"/>
              </a:spcAft>
            </a:pPr>
            <a:r>
              <a:rPr sz="1900" b="1" i="0">
                <a:solidFill>
                  <a:srgbClr val="FFFFFF"/>
                </a:solidFill>
                <a:latin typeface="Calibri"/>
              </a:rPr>
              <a:t>Muhammad Arif Danial Bin Mohd Anuar</a:t>
            </a:r>
          </a:p>
          <a:p>
            <a:pPr algn="ctr">
              <a:lnSpc>
                <a:spcPct val="100000"/>
              </a:lnSpc>
              <a:spcBef>
                <a:spcPts val="0"/>
              </a:spcBef>
              <a:spcAft>
                <a:spcPts val="300"/>
              </a:spcAft>
            </a:pPr>
            <a:r>
              <a:rPr sz="1500" b="0" i="0">
                <a:solidFill>
                  <a:srgbClr val="BFD2E8"/>
                </a:solidFill>
                <a:latin typeface="Calibri"/>
              </a:rPr>
              <a:t>2024933617</a:t>
            </a:r>
          </a:p>
        </p:txBody>
      </p:sp>
      <p:sp>
        <p:nvSpPr>
          <p:cNvPr id="10" name="TextBox 9"/>
          <p:cNvSpPr txBox="1"/>
          <p:nvPr/>
        </p:nvSpPr>
        <p:spPr>
          <a:xfrm>
            <a:off x="914400" y="5257800"/>
            <a:ext cx="10360152" cy="687368"/>
          </a:xfrm>
          <a:prstGeom prst="rect">
            <a:avLst/>
          </a:prstGeom>
          <a:noFill/>
        </p:spPr>
        <p:txBody>
          <a:bodyPr wrap="square" lIns="0" tIns="0" rIns="0" bIns="0" anchor="t">
            <a:spAutoFit/>
          </a:bodyPr>
          <a:lstStyle/>
          <a:p>
            <a:pPr algn="ctr">
              <a:lnSpc>
                <a:spcPct val="100000"/>
              </a:lnSpc>
              <a:spcBef>
                <a:spcPts val="0"/>
              </a:spcBef>
              <a:spcAft>
                <a:spcPts val="400"/>
              </a:spcAft>
            </a:pPr>
            <a:r>
              <a:rPr sz="1300" b="0" i="0" dirty="0">
                <a:solidFill>
                  <a:srgbClr val="BFD2E8"/>
                </a:solidFill>
                <a:latin typeface="Calibri"/>
              </a:rPr>
              <a:t>KYROL Security Labs </a:t>
            </a:r>
            <a:r>
              <a:rPr sz="1300" b="0" i="0" dirty="0" err="1">
                <a:solidFill>
                  <a:srgbClr val="BFD2E8"/>
                </a:solidFill>
                <a:latin typeface="Calibri"/>
              </a:rPr>
              <a:t>Sdn</a:t>
            </a:r>
            <a:r>
              <a:rPr sz="1300" b="0" i="0" dirty="0">
                <a:solidFill>
                  <a:srgbClr val="BFD2E8"/>
                </a:solidFill>
                <a:latin typeface="Calibri"/>
              </a:rPr>
              <a:t>. Bhd.  ·  Cyberjaya, Selangor</a:t>
            </a:r>
          </a:p>
          <a:p>
            <a:pPr algn="ctr">
              <a:lnSpc>
                <a:spcPct val="100000"/>
              </a:lnSpc>
              <a:spcBef>
                <a:spcPts val="0"/>
              </a:spcBef>
              <a:spcAft>
                <a:spcPts val="400"/>
              </a:spcAft>
            </a:pPr>
            <a:r>
              <a:rPr sz="1300" b="0" i="0" dirty="0">
                <a:solidFill>
                  <a:srgbClr val="BFD2E8"/>
                </a:solidFill>
                <a:latin typeface="Calibri"/>
              </a:rPr>
              <a:t>Diploma in Computer Science (CDCS110)</a:t>
            </a:r>
          </a:p>
          <a:p>
            <a:pPr algn="ctr">
              <a:lnSpc>
                <a:spcPct val="100000"/>
              </a:lnSpc>
              <a:spcBef>
                <a:spcPts val="0"/>
              </a:spcBef>
              <a:spcAft>
                <a:spcPts val="400"/>
              </a:spcAft>
            </a:pPr>
            <a:r>
              <a:rPr lang="en-US" sz="1200" dirty="0">
                <a:solidFill>
                  <a:srgbClr val="8FA6BE"/>
                </a:solidFill>
              </a:rPr>
              <a:t>Faculty of Computer and Mathematical Sciences  </a:t>
            </a:r>
            <a:r>
              <a:rPr sz="1200" b="0" i="0" dirty="0">
                <a:solidFill>
                  <a:srgbClr val="8FA6BE"/>
                </a:solidFill>
                <a:latin typeface="Calibri"/>
              </a:rPr>
              <a:t>·  UiTM Malacca Branch</a:t>
            </a:r>
            <a:r>
              <a:rPr lang="en-US" sz="1200" b="0" i="0" dirty="0">
                <a:solidFill>
                  <a:srgbClr val="8FA6BE"/>
                </a:solidFill>
                <a:latin typeface="Calibri"/>
              </a:rPr>
              <a:t> Jasin Campus</a:t>
            </a:r>
            <a:endParaRPr sz="1200" b="0" i="0" dirty="0">
              <a:solidFill>
                <a:srgbClr val="8FA6BE"/>
              </a:solidFill>
              <a:latin typeface="Calibri"/>
            </a:endParaRPr>
          </a:p>
        </p:txBody>
      </p:sp>
      <p:sp>
        <p:nvSpPr>
          <p:cNvPr id="12" name="TextBox 11">
            <a:extLst>
              <a:ext uri="{FF2B5EF4-FFF2-40B4-BE49-F238E27FC236}">
                <a16:creationId xmlns:a16="http://schemas.microsoft.com/office/drawing/2014/main" id="{E1851583-B32F-438D-C1C5-23CD34B14C94}"/>
              </a:ext>
            </a:extLst>
          </p:cNvPr>
          <p:cNvSpPr txBox="1"/>
          <p:nvPr/>
        </p:nvSpPr>
        <p:spPr>
          <a:xfrm>
            <a:off x="3063240" y="3038594"/>
            <a:ext cx="6126480" cy="369332"/>
          </a:xfrm>
          <a:prstGeom prst="rect">
            <a:avLst/>
          </a:prstGeom>
          <a:noFill/>
        </p:spPr>
        <p:txBody>
          <a:bodyPr wrap="square">
            <a:spAutoFit/>
          </a:bodyPr>
          <a:lstStyle/>
          <a:p>
            <a:endParaRPr lang="en-US" dirty="0"/>
          </a:p>
        </p:txBody>
      </p:sp>
      <p:pic>
        <p:nvPicPr>
          <p:cNvPr id="11" name="Picture 10">
            <a:extLst>
              <a:ext uri="{FF2B5EF4-FFF2-40B4-BE49-F238E27FC236}">
                <a16:creationId xmlns:a16="http://schemas.microsoft.com/office/drawing/2014/main" id="{A27A4A95-778A-6C6A-C48A-25EDF0C765DC}"/>
              </a:ext>
            </a:extLst>
          </p:cNvPr>
          <p:cNvPicPr>
            <a:picLocks noChangeAspect="1"/>
          </p:cNvPicPr>
          <p:nvPr/>
        </p:nvPicPr>
        <p:blipFill>
          <a:blip r:embed="rId3"/>
          <a:stretch>
            <a:fillRect/>
          </a:stretch>
        </p:blipFill>
        <p:spPr>
          <a:xfrm>
            <a:off x="3755136" y="739412"/>
            <a:ext cx="2157974" cy="739298"/>
          </a:xfrm>
          <a:prstGeom prst="rect">
            <a:avLst/>
          </a:prstGeom>
        </p:spPr>
      </p:pic>
      <p:pic>
        <p:nvPicPr>
          <p:cNvPr id="14" name="Picture 13">
            <a:extLst>
              <a:ext uri="{FF2B5EF4-FFF2-40B4-BE49-F238E27FC236}">
                <a16:creationId xmlns:a16="http://schemas.microsoft.com/office/drawing/2014/main" id="{54F6CCCD-4CF4-F7E4-B8CD-5CE84654F828}"/>
              </a:ext>
            </a:extLst>
          </p:cNvPr>
          <p:cNvPicPr>
            <a:picLocks noChangeAspect="1"/>
          </p:cNvPicPr>
          <p:nvPr/>
        </p:nvPicPr>
        <p:blipFill>
          <a:blip r:embed="rId4"/>
          <a:stretch>
            <a:fillRect/>
          </a:stretch>
        </p:blipFill>
        <p:spPr>
          <a:xfrm>
            <a:off x="6278892" y="781111"/>
            <a:ext cx="1850124" cy="73342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78992"/>
          </a:xfrm>
          <a:prstGeom prst="rect">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78992"/>
            <a:ext cx="12191695" cy="5029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02920" y="274320"/>
            <a:ext cx="100584" cy="53035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82880"/>
            <a:ext cx="10789920" cy="310896"/>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9FC1E6"/>
                </a:solidFill>
                <a:latin typeface="Segoe UI"/>
              </a:rPr>
              <a:t>OVERVIEW</a:t>
            </a:r>
          </a:p>
        </p:txBody>
      </p:sp>
      <p:sp>
        <p:nvSpPr>
          <p:cNvPr id="7" name="TextBox 6"/>
          <p:cNvSpPr txBox="1"/>
          <p:nvPr/>
        </p:nvSpPr>
        <p:spPr>
          <a:xfrm>
            <a:off x="749808" y="457200"/>
            <a:ext cx="10789920" cy="566928"/>
          </a:xfrm>
          <a:prstGeom prst="rect">
            <a:avLst/>
          </a:prstGeom>
          <a:noFill/>
        </p:spPr>
        <p:txBody>
          <a:bodyPr wrap="square" lIns="0" tIns="0" rIns="0" bIns="0" anchor="ctr">
            <a:spAutoFit/>
          </a:bodyPr>
          <a:lstStyle/>
          <a:p>
            <a:pPr algn="l">
              <a:lnSpc>
                <a:spcPct val="100000"/>
              </a:lnSpc>
              <a:spcBef>
                <a:spcPts val="0"/>
              </a:spcBef>
              <a:spcAft>
                <a:spcPts val="600"/>
              </a:spcAft>
            </a:pPr>
            <a:r>
              <a:rPr sz="2500" b="1" i="0">
                <a:solidFill>
                  <a:srgbClr val="FFFFFF"/>
                </a:solidFill>
                <a:latin typeface="Segoe UI Semibold"/>
              </a:rPr>
              <a:t>Presentation Outline</a:t>
            </a:r>
          </a:p>
        </p:txBody>
      </p:sp>
      <p:sp>
        <p:nvSpPr>
          <p:cNvPr id="8" name="Rectangle 7"/>
          <p:cNvSpPr/>
          <p:nvPr/>
        </p:nvSpPr>
        <p:spPr>
          <a:xfrm>
            <a:off x="502920" y="6419088"/>
            <a:ext cx="11183112" cy="12700"/>
          </a:xfrm>
          <a:prstGeom prst="rect">
            <a:avLst/>
          </a:prstGeom>
          <a:solidFill>
            <a:srgbClr val="D5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6455664"/>
            <a:ext cx="7315200" cy="274320"/>
          </a:xfrm>
          <a:prstGeom prst="rect">
            <a:avLst/>
          </a:prstGeom>
          <a:noFill/>
        </p:spPr>
        <p:txBody>
          <a:bodyPr wrap="square" lIns="0" tIns="0" rIns="0" bIns="0" anchor="t">
            <a:spAutoFit/>
          </a:bodyPr>
          <a:lstStyle/>
          <a:p>
            <a:pPr algn="l">
              <a:lnSpc>
                <a:spcPct val="100000"/>
              </a:lnSpc>
              <a:spcBef>
                <a:spcPts val="0"/>
              </a:spcBef>
              <a:spcAft>
                <a:spcPts val="600"/>
              </a:spcAft>
            </a:pPr>
            <a:r>
              <a:rPr sz="900" b="0" i="0">
                <a:solidFill>
                  <a:srgbClr val="5C6B7D"/>
                </a:solidFill>
                <a:latin typeface="Calibri"/>
              </a:rPr>
              <a:t>Muhammad Arif Danial Bin Mohd Anuar  ·  2024933617</a:t>
            </a:r>
          </a:p>
        </p:txBody>
      </p:sp>
      <p:sp>
        <p:nvSpPr>
          <p:cNvPr id="10" name="TextBox 9"/>
          <p:cNvSpPr txBox="1"/>
          <p:nvPr/>
        </p:nvSpPr>
        <p:spPr>
          <a:xfrm>
            <a:off x="10515600" y="6455664"/>
            <a:ext cx="1170432" cy="274320"/>
          </a:xfrm>
          <a:prstGeom prst="rect">
            <a:avLst/>
          </a:prstGeom>
          <a:noFill/>
        </p:spPr>
        <p:txBody>
          <a:bodyPr wrap="square" lIns="0" tIns="0" rIns="0" bIns="0" anchor="t">
            <a:spAutoFit/>
          </a:bodyPr>
          <a:lstStyle/>
          <a:p>
            <a:pPr algn="r">
              <a:lnSpc>
                <a:spcPct val="100000"/>
              </a:lnSpc>
              <a:spcBef>
                <a:spcPts val="0"/>
              </a:spcBef>
              <a:spcAft>
                <a:spcPts val="600"/>
              </a:spcAft>
            </a:pPr>
            <a:r>
              <a:rPr sz="900" b="0" i="0">
                <a:solidFill>
                  <a:srgbClr val="5C6B7D"/>
                </a:solidFill>
                <a:latin typeface="Calibri"/>
              </a:rPr>
              <a:t>KYROL Security Labs</a:t>
            </a:r>
          </a:p>
        </p:txBody>
      </p:sp>
      <p:sp>
        <p:nvSpPr>
          <p:cNvPr id="11" name="Rectangle 10"/>
          <p:cNvSpPr/>
          <p:nvPr/>
        </p:nvSpPr>
        <p:spPr>
          <a:xfrm>
            <a:off x="548640" y="1481328"/>
            <a:ext cx="3611880" cy="1481328"/>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48640" y="1481328"/>
            <a:ext cx="82296" cy="1481328"/>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4672" y="1627632"/>
            <a:ext cx="1280160" cy="548640"/>
          </a:xfrm>
          <a:prstGeom prst="rect">
            <a:avLst/>
          </a:prstGeom>
          <a:noFill/>
        </p:spPr>
        <p:txBody>
          <a:bodyPr wrap="square" lIns="0" tIns="0" rIns="0" bIns="0" anchor="t">
            <a:spAutoFit/>
          </a:bodyPr>
          <a:lstStyle/>
          <a:p>
            <a:pPr algn="l">
              <a:lnSpc>
                <a:spcPct val="100000"/>
              </a:lnSpc>
              <a:spcBef>
                <a:spcPts val="0"/>
              </a:spcBef>
              <a:spcAft>
                <a:spcPts val="600"/>
              </a:spcAft>
            </a:pPr>
            <a:r>
              <a:rPr sz="3000" b="1" i="0">
                <a:solidFill>
                  <a:srgbClr val="E2E9F1"/>
                </a:solidFill>
                <a:latin typeface="Segoe UI Semibold"/>
              </a:rPr>
              <a:t>01</a:t>
            </a:r>
          </a:p>
        </p:txBody>
      </p:sp>
      <p:sp>
        <p:nvSpPr>
          <p:cNvPr id="14" name="TextBox 13"/>
          <p:cNvSpPr txBox="1"/>
          <p:nvPr/>
        </p:nvSpPr>
        <p:spPr>
          <a:xfrm>
            <a:off x="804672" y="2084832"/>
            <a:ext cx="3154680" cy="365760"/>
          </a:xfrm>
          <a:prstGeom prst="rect">
            <a:avLst/>
          </a:prstGeom>
          <a:noFill/>
        </p:spPr>
        <p:txBody>
          <a:bodyPr wrap="square" lIns="0" tIns="0" rIns="0" bIns="0" anchor="t">
            <a:spAutoFit/>
          </a:bodyPr>
          <a:lstStyle/>
          <a:p>
            <a:pPr algn="l">
              <a:lnSpc>
                <a:spcPct val="100000"/>
              </a:lnSpc>
              <a:spcBef>
                <a:spcPts val="0"/>
              </a:spcBef>
              <a:spcAft>
                <a:spcPts val="600"/>
              </a:spcAft>
            </a:pPr>
            <a:r>
              <a:rPr sz="1650" b="1" i="0">
                <a:solidFill>
                  <a:srgbClr val="0F2A47"/>
                </a:solidFill>
                <a:latin typeface="Segoe UI Semibold"/>
              </a:rPr>
              <a:t>The Organization</a:t>
            </a:r>
          </a:p>
        </p:txBody>
      </p:sp>
      <p:sp>
        <p:nvSpPr>
          <p:cNvPr id="15" name="TextBox 14"/>
          <p:cNvSpPr txBox="1"/>
          <p:nvPr/>
        </p:nvSpPr>
        <p:spPr>
          <a:xfrm>
            <a:off x="804672" y="2450592"/>
            <a:ext cx="3154680" cy="457200"/>
          </a:xfrm>
          <a:prstGeom prst="rect">
            <a:avLst/>
          </a:prstGeom>
          <a:noFill/>
        </p:spPr>
        <p:txBody>
          <a:bodyPr wrap="square" lIns="0" tIns="0" rIns="0" bIns="0" anchor="t">
            <a:spAutoFit/>
          </a:bodyPr>
          <a:lstStyle/>
          <a:p>
            <a:pPr algn="l">
              <a:lnSpc>
                <a:spcPct val="100000"/>
              </a:lnSpc>
              <a:spcBef>
                <a:spcPts val="0"/>
              </a:spcBef>
              <a:spcAft>
                <a:spcPts val="600"/>
              </a:spcAft>
            </a:pPr>
            <a:r>
              <a:rPr sz="1200" b="0" i="0">
                <a:solidFill>
                  <a:srgbClr val="5C6B7D"/>
                </a:solidFill>
                <a:latin typeface="Calibri"/>
              </a:rPr>
              <a:t>KYROL Security Labs Sdn. Bhd.</a:t>
            </a:r>
          </a:p>
        </p:txBody>
      </p:sp>
      <p:sp>
        <p:nvSpPr>
          <p:cNvPr id="16" name="Rectangle 15"/>
          <p:cNvSpPr/>
          <p:nvPr/>
        </p:nvSpPr>
        <p:spPr>
          <a:xfrm>
            <a:off x="4334256" y="1481328"/>
            <a:ext cx="3611880" cy="1481328"/>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334256" y="1481328"/>
            <a:ext cx="82296" cy="1481328"/>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90288" y="1627632"/>
            <a:ext cx="1280160" cy="548640"/>
          </a:xfrm>
          <a:prstGeom prst="rect">
            <a:avLst/>
          </a:prstGeom>
          <a:noFill/>
        </p:spPr>
        <p:txBody>
          <a:bodyPr wrap="square" lIns="0" tIns="0" rIns="0" bIns="0" anchor="t">
            <a:spAutoFit/>
          </a:bodyPr>
          <a:lstStyle/>
          <a:p>
            <a:pPr algn="l">
              <a:lnSpc>
                <a:spcPct val="100000"/>
              </a:lnSpc>
              <a:spcBef>
                <a:spcPts val="0"/>
              </a:spcBef>
              <a:spcAft>
                <a:spcPts val="600"/>
              </a:spcAft>
            </a:pPr>
            <a:r>
              <a:rPr sz="3000" b="1" i="0">
                <a:solidFill>
                  <a:srgbClr val="E2E9F1"/>
                </a:solidFill>
                <a:latin typeface="Segoe UI Semibold"/>
              </a:rPr>
              <a:t>02</a:t>
            </a:r>
          </a:p>
        </p:txBody>
      </p:sp>
      <p:sp>
        <p:nvSpPr>
          <p:cNvPr id="19" name="TextBox 18"/>
          <p:cNvSpPr txBox="1"/>
          <p:nvPr/>
        </p:nvSpPr>
        <p:spPr>
          <a:xfrm>
            <a:off x="4590288" y="2084832"/>
            <a:ext cx="3154680" cy="365760"/>
          </a:xfrm>
          <a:prstGeom prst="rect">
            <a:avLst/>
          </a:prstGeom>
          <a:noFill/>
        </p:spPr>
        <p:txBody>
          <a:bodyPr wrap="square" lIns="0" tIns="0" rIns="0" bIns="0" anchor="t">
            <a:spAutoFit/>
          </a:bodyPr>
          <a:lstStyle/>
          <a:p>
            <a:pPr algn="l">
              <a:lnSpc>
                <a:spcPct val="100000"/>
              </a:lnSpc>
              <a:spcBef>
                <a:spcPts val="0"/>
              </a:spcBef>
              <a:spcAft>
                <a:spcPts val="600"/>
              </a:spcAft>
            </a:pPr>
            <a:r>
              <a:rPr sz="1650" b="1" i="0">
                <a:solidFill>
                  <a:srgbClr val="0F2A47"/>
                </a:solidFill>
                <a:latin typeface="Segoe UI Semibold"/>
              </a:rPr>
              <a:t>Main Project</a:t>
            </a:r>
          </a:p>
        </p:txBody>
      </p:sp>
      <p:sp>
        <p:nvSpPr>
          <p:cNvPr id="20" name="TextBox 19"/>
          <p:cNvSpPr txBox="1"/>
          <p:nvPr/>
        </p:nvSpPr>
        <p:spPr>
          <a:xfrm>
            <a:off x="4590288" y="2450592"/>
            <a:ext cx="3154680" cy="457200"/>
          </a:xfrm>
          <a:prstGeom prst="rect">
            <a:avLst/>
          </a:prstGeom>
          <a:noFill/>
        </p:spPr>
        <p:txBody>
          <a:bodyPr wrap="square" lIns="0" tIns="0" rIns="0" bIns="0" anchor="t">
            <a:spAutoFit/>
          </a:bodyPr>
          <a:lstStyle/>
          <a:p>
            <a:pPr algn="l">
              <a:lnSpc>
                <a:spcPct val="100000"/>
              </a:lnSpc>
              <a:spcBef>
                <a:spcPts val="0"/>
              </a:spcBef>
              <a:spcAft>
                <a:spcPts val="600"/>
              </a:spcAft>
            </a:pPr>
            <a:r>
              <a:rPr sz="1200" b="0" i="0" dirty="0">
                <a:solidFill>
                  <a:srgbClr val="5C6B7D"/>
                </a:solidFill>
                <a:latin typeface="Calibri"/>
              </a:rPr>
              <a:t>Automated Email Reminder System</a:t>
            </a:r>
          </a:p>
        </p:txBody>
      </p:sp>
      <p:sp>
        <p:nvSpPr>
          <p:cNvPr id="21" name="Rectangle 20"/>
          <p:cNvSpPr/>
          <p:nvPr/>
        </p:nvSpPr>
        <p:spPr>
          <a:xfrm>
            <a:off x="8119872" y="1481328"/>
            <a:ext cx="3611880" cy="1481328"/>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119872" y="1481328"/>
            <a:ext cx="82296" cy="1481328"/>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375904" y="1627632"/>
            <a:ext cx="1280160" cy="548640"/>
          </a:xfrm>
          <a:prstGeom prst="rect">
            <a:avLst/>
          </a:prstGeom>
          <a:noFill/>
        </p:spPr>
        <p:txBody>
          <a:bodyPr wrap="square" lIns="0" tIns="0" rIns="0" bIns="0" anchor="t">
            <a:spAutoFit/>
          </a:bodyPr>
          <a:lstStyle/>
          <a:p>
            <a:pPr algn="l">
              <a:lnSpc>
                <a:spcPct val="100000"/>
              </a:lnSpc>
              <a:spcBef>
                <a:spcPts val="0"/>
              </a:spcBef>
              <a:spcAft>
                <a:spcPts val="600"/>
              </a:spcAft>
            </a:pPr>
            <a:r>
              <a:rPr sz="3000" b="1" i="0">
                <a:solidFill>
                  <a:srgbClr val="E2E9F1"/>
                </a:solidFill>
                <a:latin typeface="Segoe UI Semibold"/>
              </a:rPr>
              <a:t>03</a:t>
            </a:r>
          </a:p>
        </p:txBody>
      </p:sp>
      <p:sp>
        <p:nvSpPr>
          <p:cNvPr id="24" name="TextBox 23"/>
          <p:cNvSpPr txBox="1"/>
          <p:nvPr/>
        </p:nvSpPr>
        <p:spPr>
          <a:xfrm>
            <a:off x="8375904" y="2084832"/>
            <a:ext cx="3154680" cy="365760"/>
          </a:xfrm>
          <a:prstGeom prst="rect">
            <a:avLst/>
          </a:prstGeom>
          <a:noFill/>
        </p:spPr>
        <p:txBody>
          <a:bodyPr wrap="square" lIns="0" tIns="0" rIns="0" bIns="0" anchor="t">
            <a:spAutoFit/>
          </a:bodyPr>
          <a:lstStyle/>
          <a:p>
            <a:pPr algn="l">
              <a:lnSpc>
                <a:spcPct val="100000"/>
              </a:lnSpc>
              <a:spcBef>
                <a:spcPts val="0"/>
              </a:spcBef>
              <a:spcAft>
                <a:spcPts val="600"/>
              </a:spcAft>
            </a:pPr>
            <a:r>
              <a:rPr sz="1650" b="1" i="0">
                <a:solidFill>
                  <a:srgbClr val="0F2A47"/>
                </a:solidFill>
                <a:latin typeface="Segoe UI Semibold"/>
              </a:rPr>
              <a:t>System Design</a:t>
            </a:r>
          </a:p>
        </p:txBody>
      </p:sp>
      <p:sp>
        <p:nvSpPr>
          <p:cNvPr id="25" name="TextBox 24"/>
          <p:cNvSpPr txBox="1"/>
          <p:nvPr/>
        </p:nvSpPr>
        <p:spPr>
          <a:xfrm>
            <a:off x="8375904" y="2450592"/>
            <a:ext cx="3154680" cy="457200"/>
          </a:xfrm>
          <a:prstGeom prst="rect">
            <a:avLst/>
          </a:prstGeom>
          <a:noFill/>
        </p:spPr>
        <p:txBody>
          <a:bodyPr wrap="square" lIns="0" tIns="0" rIns="0" bIns="0" anchor="t">
            <a:spAutoFit/>
          </a:bodyPr>
          <a:lstStyle/>
          <a:p>
            <a:pPr algn="l">
              <a:lnSpc>
                <a:spcPct val="100000"/>
              </a:lnSpc>
              <a:spcBef>
                <a:spcPts val="0"/>
              </a:spcBef>
              <a:spcAft>
                <a:spcPts val="600"/>
              </a:spcAft>
            </a:pPr>
            <a:r>
              <a:rPr sz="1200" b="0" i="0">
                <a:solidFill>
                  <a:srgbClr val="5C6B7D"/>
                </a:solidFill>
                <a:latin typeface="Calibri"/>
              </a:rPr>
              <a:t>SDLC &amp; five UML diagrams</a:t>
            </a:r>
          </a:p>
        </p:txBody>
      </p:sp>
      <p:sp>
        <p:nvSpPr>
          <p:cNvPr id="26" name="Rectangle 25"/>
          <p:cNvSpPr/>
          <p:nvPr/>
        </p:nvSpPr>
        <p:spPr>
          <a:xfrm>
            <a:off x="548640" y="3163824"/>
            <a:ext cx="3611880" cy="1481328"/>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548640" y="3163824"/>
            <a:ext cx="82296" cy="1481328"/>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04672" y="3310128"/>
            <a:ext cx="1280160" cy="548640"/>
          </a:xfrm>
          <a:prstGeom prst="rect">
            <a:avLst/>
          </a:prstGeom>
          <a:noFill/>
        </p:spPr>
        <p:txBody>
          <a:bodyPr wrap="square" lIns="0" tIns="0" rIns="0" bIns="0" anchor="t">
            <a:spAutoFit/>
          </a:bodyPr>
          <a:lstStyle/>
          <a:p>
            <a:pPr algn="l">
              <a:lnSpc>
                <a:spcPct val="100000"/>
              </a:lnSpc>
              <a:spcBef>
                <a:spcPts val="0"/>
              </a:spcBef>
              <a:spcAft>
                <a:spcPts val="600"/>
              </a:spcAft>
            </a:pPr>
            <a:r>
              <a:rPr sz="3000" b="1" i="0">
                <a:solidFill>
                  <a:srgbClr val="E2E9F1"/>
                </a:solidFill>
                <a:latin typeface="Segoe UI Semibold"/>
              </a:rPr>
              <a:t>04</a:t>
            </a:r>
          </a:p>
        </p:txBody>
      </p:sp>
      <p:sp>
        <p:nvSpPr>
          <p:cNvPr id="29" name="TextBox 28"/>
          <p:cNvSpPr txBox="1"/>
          <p:nvPr/>
        </p:nvSpPr>
        <p:spPr>
          <a:xfrm>
            <a:off x="804672" y="3767328"/>
            <a:ext cx="3154680" cy="365760"/>
          </a:xfrm>
          <a:prstGeom prst="rect">
            <a:avLst/>
          </a:prstGeom>
          <a:noFill/>
        </p:spPr>
        <p:txBody>
          <a:bodyPr wrap="square" lIns="0" tIns="0" rIns="0" bIns="0" anchor="t">
            <a:spAutoFit/>
          </a:bodyPr>
          <a:lstStyle/>
          <a:p>
            <a:pPr algn="l">
              <a:lnSpc>
                <a:spcPct val="100000"/>
              </a:lnSpc>
              <a:spcBef>
                <a:spcPts val="0"/>
              </a:spcBef>
              <a:spcAft>
                <a:spcPts val="600"/>
              </a:spcAft>
            </a:pPr>
            <a:r>
              <a:rPr sz="1650" b="1" i="0">
                <a:solidFill>
                  <a:srgbClr val="0F2A47"/>
                </a:solidFill>
                <a:latin typeface="Segoe UI Semibold"/>
              </a:rPr>
              <a:t>Project Interface</a:t>
            </a:r>
          </a:p>
        </p:txBody>
      </p:sp>
      <p:sp>
        <p:nvSpPr>
          <p:cNvPr id="30" name="TextBox 29"/>
          <p:cNvSpPr txBox="1"/>
          <p:nvPr/>
        </p:nvSpPr>
        <p:spPr>
          <a:xfrm>
            <a:off x="804672" y="4133088"/>
            <a:ext cx="3154680" cy="457200"/>
          </a:xfrm>
          <a:prstGeom prst="rect">
            <a:avLst/>
          </a:prstGeom>
          <a:noFill/>
        </p:spPr>
        <p:txBody>
          <a:bodyPr wrap="square" lIns="0" tIns="0" rIns="0" bIns="0" anchor="t">
            <a:spAutoFit/>
          </a:bodyPr>
          <a:lstStyle/>
          <a:p>
            <a:pPr algn="l">
              <a:lnSpc>
                <a:spcPct val="100000"/>
              </a:lnSpc>
              <a:spcBef>
                <a:spcPts val="0"/>
              </a:spcBef>
              <a:spcAft>
                <a:spcPts val="600"/>
              </a:spcAft>
            </a:pPr>
            <a:r>
              <a:rPr sz="1200" b="0" i="0">
                <a:solidFill>
                  <a:srgbClr val="5C6B7D"/>
                </a:solidFill>
                <a:latin typeface="Calibri"/>
              </a:rPr>
              <a:t>Dynamic HTML email template</a:t>
            </a:r>
          </a:p>
        </p:txBody>
      </p:sp>
      <p:sp>
        <p:nvSpPr>
          <p:cNvPr id="31" name="Rectangle 30"/>
          <p:cNvSpPr/>
          <p:nvPr/>
        </p:nvSpPr>
        <p:spPr>
          <a:xfrm>
            <a:off x="4334256" y="3163824"/>
            <a:ext cx="3611880" cy="1481328"/>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4334256" y="3163824"/>
            <a:ext cx="82296" cy="1481328"/>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590288" y="3310128"/>
            <a:ext cx="1280160" cy="548640"/>
          </a:xfrm>
          <a:prstGeom prst="rect">
            <a:avLst/>
          </a:prstGeom>
          <a:noFill/>
        </p:spPr>
        <p:txBody>
          <a:bodyPr wrap="square" lIns="0" tIns="0" rIns="0" bIns="0" anchor="t">
            <a:spAutoFit/>
          </a:bodyPr>
          <a:lstStyle/>
          <a:p>
            <a:pPr algn="l">
              <a:lnSpc>
                <a:spcPct val="100000"/>
              </a:lnSpc>
              <a:spcBef>
                <a:spcPts val="0"/>
              </a:spcBef>
              <a:spcAft>
                <a:spcPts val="600"/>
              </a:spcAft>
            </a:pPr>
            <a:r>
              <a:rPr sz="3000" b="1" i="0">
                <a:solidFill>
                  <a:srgbClr val="E2E9F1"/>
                </a:solidFill>
                <a:latin typeface="Segoe UI Semibold"/>
              </a:rPr>
              <a:t>05</a:t>
            </a:r>
          </a:p>
        </p:txBody>
      </p:sp>
      <p:sp>
        <p:nvSpPr>
          <p:cNvPr id="34" name="TextBox 33"/>
          <p:cNvSpPr txBox="1"/>
          <p:nvPr/>
        </p:nvSpPr>
        <p:spPr>
          <a:xfrm>
            <a:off x="4590288" y="3767328"/>
            <a:ext cx="3154680" cy="365760"/>
          </a:xfrm>
          <a:prstGeom prst="rect">
            <a:avLst/>
          </a:prstGeom>
          <a:noFill/>
        </p:spPr>
        <p:txBody>
          <a:bodyPr wrap="square" lIns="0" tIns="0" rIns="0" bIns="0" anchor="t">
            <a:spAutoFit/>
          </a:bodyPr>
          <a:lstStyle/>
          <a:p>
            <a:pPr algn="l">
              <a:lnSpc>
                <a:spcPct val="100000"/>
              </a:lnSpc>
              <a:spcBef>
                <a:spcPts val="0"/>
              </a:spcBef>
              <a:spcAft>
                <a:spcPts val="600"/>
              </a:spcAft>
            </a:pPr>
            <a:r>
              <a:rPr sz="1650" b="1" i="0">
                <a:solidFill>
                  <a:srgbClr val="0F2A47"/>
                </a:solidFill>
                <a:latin typeface="Segoe UI Semibold"/>
              </a:rPr>
              <a:t>Other Tasks</a:t>
            </a:r>
          </a:p>
        </p:txBody>
      </p:sp>
      <p:sp>
        <p:nvSpPr>
          <p:cNvPr id="35" name="TextBox 34"/>
          <p:cNvSpPr txBox="1"/>
          <p:nvPr/>
        </p:nvSpPr>
        <p:spPr>
          <a:xfrm>
            <a:off x="4590288" y="4133088"/>
            <a:ext cx="3154680" cy="457200"/>
          </a:xfrm>
          <a:prstGeom prst="rect">
            <a:avLst/>
          </a:prstGeom>
          <a:noFill/>
        </p:spPr>
        <p:txBody>
          <a:bodyPr wrap="square" lIns="0" tIns="0" rIns="0" bIns="0" anchor="t">
            <a:spAutoFit/>
          </a:bodyPr>
          <a:lstStyle/>
          <a:p>
            <a:pPr algn="l">
              <a:lnSpc>
                <a:spcPct val="100000"/>
              </a:lnSpc>
              <a:spcBef>
                <a:spcPts val="0"/>
              </a:spcBef>
              <a:spcAft>
                <a:spcPts val="600"/>
              </a:spcAft>
            </a:pPr>
            <a:r>
              <a:rPr sz="1200" b="0" i="0" dirty="0">
                <a:solidFill>
                  <a:srgbClr val="5C6B7D"/>
                </a:solidFill>
                <a:latin typeface="Calibri"/>
              </a:rPr>
              <a:t>Joomla revamp &amp; graphic design</a:t>
            </a:r>
          </a:p>
        </p:txBody>
      </p:sp>
      <p:sp>
        <p:nvSpPr>
          <p:cNvPr id="36" name="Rectangle 35"/>
          <p:cNvSpPr/>
          <p:nvPr/>
        </p:nvSpPr>
        <p:spPr>
          <a:xfrm>
            <a:off x="8119872" y="3163824"/>
            <a:ext cx="3611880" cy="1481328"/>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8119872" y="3163824"/>
            <a:ext cx="82296" cy="1481328"/>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375904" y="3310128"/>
            <a:ext cx="1280160" cy="548640"/>
          </a:xfrm>
          <a:prstGeom prst="rect">
            <a:avLst/>
          </a:prstGeom>
          <a:noFill/>
        </p:spPr>
        <p:txBody>
          <a:bodyPr wrap="square" lIns="0" tIns="0" rIns="0" bIns="0" anchor="t">
            <a:spAutoFit/>
          </a:bodyPr>
          <a:lstStyle/>
          <a:p>
            <a:pPr algn="l">
              <a:lnSpc>
                <a:spcPct val="100000"/>
              </a:lnSpc>
              <a:spcBef>
                <a:spcPts val="0"/>
              </a:spcBef>
              <a:spcAft>
                <a:spcPts val="600"/>
              </a:spcAft>
            </a:pPr>
            <a:r>
              <a:rPr sz="3000" b="1" i="0">
                <a:solidFill>
                  <a:srgbClr val="E2E9F1"/>
                </a:solidFill>
                <a:latin typeface="Segoe UI Semibold"/>
              </a:rPr>
              <a:t>06</a:t>
            </a:r>
          </a:p>
        </p:txBody>
      </p:sp>
      <p:sp>
        <p:nvSpPr>
          <p:cNvPr id="39" name="TextBox 38"/>
          <p:cNvSpPr txBox="1"/>
          <p:nvPr/>
        </p:nvSpPr>
        <p:spPr>
          <a:xfrm>
            <a:off x="8375904" y="3767328"/>
            <a:ext cx="3154680" cy="365760"/>
          </a:xfrm>
          <a:prstGeom prst="rect">
            <a:avLst/>
          </a:prstGeom>
          <a:noFill/>
        </p:spPr>
        <p:txBody>
          <a:bodyPr wrap="square" lIns="0" tIns="0" rIns="0" bIns="0" anchor="t">
            <a:spAutoFit/>
          </a:bodyPr>
          <a:lstStyle/>
          <a:p>
            <a:pPr algn="l">
              <a:lnSpc>
                <a:spcPct val="100000"/>
              </a:lnSpc>
              <a:spcBef>
                <a:spcPts val="0"/>
              </a:spcBef>
              <a:spcAft>
                <a:spcPts val="600"/>
              </a:spcAft>
            </a:pPr>
            <a:r>
              <a:rPr sz="1650" b="1" i="0">
                <a:solidFill>
                  <a:srgbClr val="0F2A47"/>
                </a:solidFill>
                <a:latin typeface="Segoe UI Semibold"/>
              </a:rPr>
              <a:t>Conclusion</a:t>
            </a:r>
          </a:p>
        </p:txBody>
      </p:sp>
      <p:sp>
        <p:nvSpPr>
          <p:cNvPr id="40" name="TextBox 39"/>
          <p:cNvSpPr txBox="1"/>
          <p:nvPr/>
        </p:nvSpPr>
        <p:spPr>
          <a:xfrm>
            <a:off x="8375904" y="4133088"/>
            <a:ext cx="3154680" cy="457200"/>
          </a:xfrm>
          <a:prstGeom prst="rect">
            <a:avLst/>
          </a:prstGeom>
          <a:noFill/>
        </p:spPr>
        <p:txBody>
          <a:bodyPr wrap="square" lIns="0" tIns="0" rIns="0" bIns="0" anchor="t">
            <a:spAutoFit/>
          </a:bodyPr>
          <a:lstStyle/>
          <a:p>
            <a:pPr algn="l">
              <a:lnSpc>
                <a:spcPct val="100000"/>
              </a:lnSpc>
              <a:spcBef>
                <a:spcPts val="0"/>
              </a:spcBef>
              <a:spcAft>
                <a:spcPts val="600"/>
              </a:spcAft>
            </a:pPr>
            <a:r>
              <a:rPr sz="1200" b="0" i="0">
                <a:solidFill>
                  <a:srgbClr val="5C6B7D"/>
                </a:solidFill>
                <a:latin typeface="Calibri"/>
              </a:rPr>
              <a:t>Outcomes &amp; recommendations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78992"/>
          </a:xfrm>
          <a:prstGeom prst="rect">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78992"/>
            <a:ext cx="12191695" cy="5029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02920" y="274320"/>
            <a:ext cx="100584" cy="53035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82880"/>
            <a:ext cx="10789920" cy="310896"/>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9FC1E6"/>
                </a:solidFill>
                <a:latin typeface="Segoe UI"/>
              </a:rPr>
              <a:t>CHAPTER 1</a:t>
            </a:r>
          </a:p>
        </p:txBody>
      </p:sp>
      <p:sp>
        <p:nvSpPr>
          <p:cNvPr id="7" name="TextBox 6"/>
          <p:cNvSpPr txBox="1"/>
          <p:nvPr/>
        </p:nvSpPr>
        <p:spPr>
          <a:xfrm>
            <a:off x="749808" y="457200"/>
            <a:ext cx="10789920" cy="566928"/>
          </a:xfrm>
          <a:prstGeom prst="rect">
            <a:avLst/>
          </a:prstGeom>
          <a:noFill/>
        </p:spPr>
        <p:txBody>
          <a:bodyPr wrap="square" lIns="0" tIns="0" rIns="0" bIns="0" anchor="ctr">
            <a:spAutoFit/>
          </a:bodyPr>
          <a:lstStyle/>
          <a:p>
            <a:pPr algn="l">
              <a:lnSpc>
                <a:spcPct val="100000"/>
              </a:lnSpc>
              <a:spcBef>
                <a:spcPts val="0"/>
              </a:spcBef>
              <a:spcAft>
                <a:spcPts val="600"/>
              </a:spcAft>
            </a:pPr>
            <a:r>
              <a:rPr sz="2500" b="1" i="0">
                <a:solidFill>
                  <a:srgbClr val="FFFFFF"/>
                </a:solidFill>
                <a:latin typeface="Segoe UI Semibold"/>
              </a:rPr>
              <a:t>Introduction to Practical Training</a:t>
            </a:r>
          </a:p>
        </p:txBody>
      </p:sp>
      <p:sp>
        <p:nvSpPr>
          <p:cNvPr id="8" name="Rectangle 7"/>
          <p:cNvSpPr/>
          <p:nvPr/>
        </p:nvSpPr>
        <p:spPr>
          <a:xfrm>
            <a:off x="502920" y="6419088"/>
            <a:ext cx="11183112" cy="12700"/>
          </a:xfrm>
          <a:prstGeom prst="rect">
            <a:avLst/>
          </a:prstGeom>
          <a:solidFill>
            <a:srgbClr val="D5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6455664"/>
            <a:ext cx="7315200" cy="274320"/>
          </a:xfrm>
          <a:prstGeom prst="rect">
            <a:avLst/>
          </a:prstGeom>
          <a:noFill/>
        </p:spPr>
        <p:txBody>
          <a:bodyPr wrap="square" lIns="0" tIns="0" rIns="0" bIns="0" anchor="t">
            <a:spAutoFit/>
          </a:bodyPr>
          <a:lstStyle/>
          <a:p>
            <a:pPr algn="l">
              <a:lnSpc>
                <a:spcPct val="100000"/>
              </a:lnSpc>
              <a:spcBef>
                <a:spcPts val="0"/>
              </a:spcBef>
              <a:spcAft>
                <a:spcPts val="600"/>
              </a:spcAft>
            </a:pPr>
            <a:r>
              <a:rPr sz="900" b="0" i="0">
                <a:solidFill>
                  <a:srgbClr val="5C6B7D"/>
                </a:solidFill>
                <a:latin typeface="Calibri"/>
              </a:rPr>
              <a:t>Muhammad Arif Danial Bin Mohd Anuar  ·  2024933617</a:t>
            </a:r>
          </a:p>
        </p:txBody>
      </p:sp>
      <p:sp>
        <p:nvSpPr>
          <p:cNvPr id="10" name="TextBox 9"/>
          <p:cNvSpPr txBox="1"/>
          <p:nvPr/>
        </p:nvSpPr>
        <p:spPr>
          <a:xfrm>
            <a:off x="10515600" y="6455664"/>
            <a:ext cx="1170432" cy="274320"/>
          </a:xfrm>
          <a:prstGeom prst="rect">
            <a:avLst/>
          </a:prstGeom>
          <a:noFill/>
        </p:spPr>
        <p:txBody>
          <a:bodyPr wrap="square" lIns="0" tIns="0" rIns="0" bIns="0" anchor="t">
            <a:spAutoFit/>
          </a:bodyPr>
          <a:lstStyle/>
          <a:p>
            <a:pPr algn="r">
              <a:lnSpc>
                <a:spcPct val="100000"/>
              </a:lnSpc>
              <a:spcBef>
                <a:spcPts val="0"/>
              </a:spcBef>
              <a:spcAft>
                <a:spcPts val="600"/>
              </a:spcAft>
            </a:pPr>
            <a:r>
              <a:rPr sz="900" b="0" i="0">
                <a:solidFill>
                  <a:srgbClr val="5C6B7D"/>
                </a:solidFill>
                <a:latin typeface="Calibri"/>
              </a:rPr>
              <a:t>KYROL Security Labs</a:t>
            </a:r>
          </a:p>
        </p:txBody>
      </p:sp>
      <p:sp>
        <p:nvSpPr>
          <p:cNvPr id="11" name="TextBox 10"/>
          <p:cNvSpPr txBox="1"/>
          <p:nvPr/>
        </p:nvSpPr>
        <p:spPr>
          <a:xfrm>
            <a:off x="548640" y="1463040"/>
            <a:ext cx="5852160" cy="457200"/>
          </a:xfrm>
          <a:prstGeom prst="rect">
            <a:avLst/>
          </a:prstGeom>
          <a:noFill/>
        </p:spPr>
        <p:txBody>
          <a:bodyPr wrap="square" lIns="0" tIns="0" rIns="0" bIns="0" anchor="t">
            <a:spAutoFit/>
          </a:bodyPr>
          <a:lstStyle/>
          <a:p>
            <a:pPr algn="l">
              <a:lnSpc>
                <a:spcPct val="112000"/>
              </a:lnSpc>
              <a:spcBef>
                <a:spcPts val="0"/>
              </a:spcBef>
              <a:spcAft>
                <a:spcPts val="600"/>
              </a:spcAft>
            </a:pPr>
            <a:r>
              <a:rPr sz="1500" b="0" i="0" dirty="0">
                <a:solidFill>
                  <a:srgbClr val="1E2A36"/>
                </a:solidFill>
                <a:latin typeface="Calibri"/>
              </a:rPr>
              <a:t>Practical training is a compulsory 24-week course in the Diploma of Computer Science, giving students real working experience under professional supervision.</a:t>
            </a:r>
          </a:p>
        </p:txBody>
      </p:sp>
      <p:sp>
        <p:nvSpPr>
          <p:cNvPr id="12" name="TextBox 11"/>
          <p:cNvSpPr txBox="1"/>
          <p:nvPr/>
        </p:nvSpPr>
        <p:spPr>
          <a:xfrm>
            <a:off x="548640" y="2788920"/>
            <a:ext cx="5852160" cy="365760"/>
          </a:xfrm>
          <a:prstGeom prst="rect">
            <a:avLst/>
          </a:prstGeom>
          <a:noFill/>
        </p:spPr>
        <p:txBody>
          <a:bodyPr wrap="square" lIns="0" tIns="0" rIns="0" bIns="0" anchor="t">
            <a:spAutoFit/>
          </a:bodyPr>
          <a:lstStyle/>
          <a:p>
            <a:pPr algn="l">
              <a:lnSpc>
                <a:spcPct val="100000"/>
              </a:lnSpc>
              <a:spcBef>
                <a:spcPts val="0"/>
              </a:spcBef>
              <a:spcAft>
                <a:spcPts val="600"/>
              </a:spcAft>
            </a:pPr>
            <a:r>
              <a:rPr sz="1300" b="1" i="0">
                <a:solidFill>
                  <a:srgbClr val="2E6BB0"/>
                </a:solidFill>
                <a:latin typeface="Segoe UI"/>
              </a:rPr>
              <a:t>OBJECTIVES OF THE TRAINING</a:t>
            </a:r>
          </a:p>
        </p:txBody>
      </p:sp>
      <p:sp>
        <p:nvSpPr>
          <p:cNvPr id="13" name="TextBox 12"/>
          <p:cNvSpPr txBox="1"/>
          <p:nvPr/>
        </p:nvSpPr>
        <p:spPr>
          <a:xfrm>
            <a:off x="548640" y="3200400"/>
            <a:ext cx="5852160" cy="2926080"/>
          </a:xfrm>
          <a:prstGeom prst="rect">
            <a:avLst/>
          </a:prstGeom>
          <a:noFill/>
        </p:spPr>
        <p:txBody>
          <a:bodyPr wrap="square" lIns="0" tIns="0" rIns="0" bIns="0">
            <a:spAutoFit/>
          </a:bodyPr>
          <a:lstStyle/>
          <a:p>
            <a:pPr marL="274320" indent="-237744">
              <a:lnSpc>
                <a:spcPct val="105000"/>
              </a:lnSpc>
              <a:spcBef>
                <a:spcPts val="0"/>
              </a:spcBef>
              <a:spcAft>
                <a:spcPts val="1200"/>
              </a:spcAft>
            </a:pPr>
            <a:r>
              <a:rPr sz="1500" b="1">
                <a:solidFill>
                  <a:srgbClr val="E8821E"/>
                </a:solidFill>
                <a:latin typeface="Calibri"/>
              </a:rPr>
              <a:t>▸  </a:t>
            </a:r>
            <a:r>
              <a:rPr sz="1500" b="0">
                <a:solidFill>
                  <a:srgbClr val="1E2A36"/>
                </a:solidFill>
                <a:latin typeface="Calibri"/>
              </a:rPr>
              <a:t>Build students' confidence after graduation</a:t>
            </a:r>
          </a:p>
          <a:p>
            <a:pPr marL="274320" indent="-237744">
              <a:lnSpc>
                <a:spcPct val="105000"/>
              </a:lnSpc>
              <a:spcBef>
                <a:spcPts val="0"/>
              </a:spcBef>
              <a:spcAft>
                <a:spcPts val="1200"/>
              </a:spcAft>
            </a:pPr>
            <a:r>
              <a:rPr sz="1500" b="1">
                <a:solidFill>
                  <a:srgbClr val="E8821E"/>
                </a:solidFill>
                <a:latin typeface="Calibri"/>
              </a:rPr>
              <a:t>▸  </a:t>
            </a:r>
            <a:r>
              <a:rPr sz="1500" b="0">
                <a:solidFill>
                  <a:srgbClr val="1E2A36"/>
                </a:solidFill>
                <a:latin typeface="Calibri"/>
              </a:rPr>
              <a:t>Improve both soft skills and hard skills</a:t>
            </a:r>
          </a:p>
          <a:p>
            <a:pPr marL="274320" indent="-237744">
              <a:lnSpc>
                <a:spcPct val="105000"/>
              </a:lnSpc>
              <a:spcBef>
                <a:spcPts val="0"/>
              </a:spcBef>
              <a:spcAft>
                <a:spcPts val="1200"/>
              </a:spcAft>
            </a:pPr>
            <a:r>
              <a:rPr sz="1500" b="1">
                <a:solidFill>
                  <a:srgbClr val="E8821E"/>
                </a:solidFill>
                <a:latin typeface="Calibri"/>
              </a:rPr>
              <a:t>▸  </a:t>
            </a:r>
            <a:r>
              <a:rPr sz="1500" b="0">
                <a:solidFill>
                  <a:srgbClr val="1E2A36"/>
                </a:solidFill>
                <a:latin typeface="Calibri"/>
              </a:rPr>
              <a:t>Strengthen communication and management skills</a:t>
            </a:r>
          </a:p>
          <a:p>
            <a:pPr marL="274320" indent="-237744">
              <a:lnSpc>
                <a:spcPct val="105000"/>
              </a:lnSpc>
              <a:spcBef>
                <a:spcPts val="0"/>
              </a:spcBef>
              <a:spcAft>
                <a:spcPts val="1200"/>
              </a:spcAft>
            </a:pPr>
            <a:r>
              <a:rPr sz="1500" b="1">
                <a:solidFill>
                  <a:srgbClr val="E8821E"/>
                </a:solidFill>
                <a:latin typeface="Calibri"/>
              </a:rPr>
              <a:t>▸  </a:t>
            </a:r>
            <a:r>
              <a:rPr sz="1500" b="0">
                <a:solidFill>
                  <a:srgbClr val="1E2A36"/>
                </a:solidFill>
                <a:latin typeface="Calibri"/>
              </a:rPr>
              <a:t>Expose students to the real working environment</a:t>
            </a:r>
          </a:p>
        </p:txBody>
      </p:sp>
      <p:sp>
        <p:nvSpPr>
          <p:cNvPr id="14" name="Rectangle 13"/>
          <p:cNvSpPr/>
          <p:nvPr/>
        </p:nvSpPr>
        <p:spPr>
          <a:xfrm>
            <a:off x="6720840" y="1463040"/>
            <a:ext cx="4937760" cy="4480560"/>
          </a:xfrm>
          <a:prstGeom prst="rect">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720840" y="1463040"/>
            <a:ext cx="4937760" cy="82296"/>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086600" y="1783080"/>
            <a:ext cx="4297680" cy="457200"/>
          </a:xfrm>
          <a:prstGeom prst="rect">
            <a:avLst/>
          </a:prstGeom>
          <a:noFill/>
        </p:spPr>
        <p:txBody>
          <a:bodyPr wrap="square" lIns="0" tIns="0" rIns="0" bIns="0" anchor="t">
            <a:spAutoFit/>
          </a:bodyPr>
          <a:lstStyle/>
          <a:p>
            <a:pPr algn="l">
              <a:lnSpc>
                <a:spcPct val="100000"/>
              </a:lnSpc>
              <a:spcBef>
                <a:spcPts val="0"/>
              </a:spcBef>
              <a:spcAft>
                <a:spcPts val="600"/>
              </a:spcAft>
            </a:pPr>
            <a:r>
              <a:rPr sz="1300" b="1" i="0">
                <a:solidFill>
                  <a:srgbClr val="9FC1E6"/>
                </a:solidFill>
                <a:latin typeface="Segoe UI"/>
              </a:rPr>
              <a:t>MY PLACEMENT</a:t>
            </a:r>
          </a:p>
        </p:txBody>
      </p:sp>
      <p:sp>
        <p:nvSpPr>
          <p:cNvPr id="17" name="TextBox 16"/>
          <p:cNvSpPr txBox="1"/>
          <p:nvPr/>
        </p:nvSpPr>
        <p:spPr>
          <a:xfrm>
            <a:off x="7086600" y="2286000"/>
            <a:ext cx="4297680" cy="274320"/>
          </a:xfrm>
          <a:prstGeom prst="rect">
            <a:avLst/>
          </a:prstGeom>
          <a:noFill/>
        </p:spPr>
        <p:txBody>
          <a:bodyPr wrap="square" lIns="0" tIns="0" rIns="0" bIns="0" anchor="t">
            <a:spAutoFit/>
          </a:bodyPr>
          <a:lstStyle/>
          <a:p>
            <a:pPr algn="l">
              <a:lnSpc>
                <a:spcPct val="100000"/>
              </a:lnSpc>
              <a:spcBef>
                <a:spcPts val="0"/>
              </a:spcBef>
              <a:spcAft>
                <a:spcPts val="600"/>
              </a:spcAft>
            </a:pPr>
            <a:r>
              <a:rPr sz="1050" b="1" i="0">
                <a:solidFill>
                  <a:srgbClr val="8FA6BE"/>
                </a:solidFill>
                <a:latin typeface="Calibri"/>
              </a:rPr>
              <a:t>COMPANY</a:t>
            </a:r>
          </a:p>
        </p:txBody>
      </p:sp>
      <p:sp>
        <p:nvSpPr>
          <p:cNvPr id="18" name="TextBox 17"/>
          <p:cNvSpPr txBox="1"/>
          <p:nvPr/>
        </p:nvSpPr>
        <p:spPr>
          <a:xfrm>
            <a:off x="7086600" y="2505456"/>
            <a:ext cx="4297680" cy="365760"/>
          </a:xfrm>
          <a:prstGeom prst="rect">
            <a:avLst/>
          </a:prstGeom>
          <a:noFill/>
        </p:spPr>
        <p:txBody>
          <a:bodyPr wrap="square" lIns="0" tIns="0" rIns="0" bIns="0" anchor="t">
            <a:spAutoFit/>
          </a:bodyPr>
          <a:lstStyle/>
          <a:p>
            <a:pPr algn="l">
              <a:lnSpc>
                <a:spcPct val="100000"/>
              </a:lnSpc>
              <a:spcBef>
                <a:spcPts val="0"/>
              </a:spcBef>
              <a:spcAft>
                <a:spcPts val="600"/>
              </a:spcAft>
            </a:pPr>
            <a:r>
              <a:rPr sz="1450" b="1" i="0">
                <a:solidFill>
                  <a:srgbClr val="FFFFFF"/>
                </a:solidFill>
                <a:latin typeface="Calibri"/>
              </a:rPr>
              <a:t>KYROL Security Labs Sdn. Bhd.</a:t>
            </a:r>
          </a:p>
        </p:txBody>
      </p:sp>
      <p:sp>
        <p:nvSpPr>
          <p:cNvPr id="19" name="TextBox 18"/>
          <p:cNvSpPr txBox="1"/>
          <p:nvPr/>
        </p:nvSpPr>
        <p:spPr>
          <a:xfrm>
            <a:off x="7086600" y="2999232"/>
            <a:ext cx="4297680" cy="274320"/>
          </a:xfrm>
          <a:prstGeom prst="rect">
            <a:avLst/>
          </a:prstGeom>
          <a:noFill/>
        </p:spPr>
        <p:txBody>
          <a:bodyPr wrap="square" lIns="0" tIns="0" rIns="0" bIns="0" anchor="t">
            <a:spAutoFit/>
          </a:bodyPr>
          <a:lstStyle/>
          <a:p>
            <a:pPr algn="l">
              <a:lnSpc>
                <a:spcPct val="100000"/>
              </a:lnSpc>
              <a:spcBef>
                <a:spcPts val="0"/>
              </a:spcBef>
              <a:spcAft>
                <a:spcPts val="600"/>
              </a:spcAft>
            </a:pPr>
            <a:r>
              <a:rPr sz="1050" b="1" i="0">
                <a:solidFill>
                  <a:srgbClr val="8FA6BE"/>
                </a:solidFill>
                <a:latin typeface="Calibri"/>
              </a:rPr>
              <a:t>FIELD</a:t>
            </a:r>
          </a:p>
        </p:txBody>
      </p:sp>
      <p:sp>
        <p:nvSpPr>
          <p:cNvPr id="20" name="TextBox 19"/>
          <p:cNvSpPr txBox="1"/>
          <p:nvPr/>
        </p:nvSpPr>
        <p:spPr>
          <a:xfrm>
            <a:off x="7086600" y="3218688"/>
            <a:ext cx="4297680" cy="223138"/>
          </a:xfrm>
          <a:prstGeom prst="rect">
            <a:avLst/>
          </a:prstGeom>
          <a:noFill/>
        </p:spPr>
        <p:txBody>
          <a:bodyPr wrap="square" lIns="0" tIns="0" rIns="0" bIns="0" anchor="t">
            <a:spAutoFit/>
          </a:bodyPr>
          <a:lstStyle/>
          <a:p>
            <a:pPr algn="l">
              <a:lnSpc>
                <a:spcPct val="100000"/>
              </a:lnSpc>
              <a:spcBef>
                <a:spcPts val="0"/>
              </a:spcBef>
              <a:spcAft>
                <a:spcPts val="600"/>
              </a:spcAft>
            </a:pPr>
            <a:r>
              <a:rPr sz="1450" b="1" i="0" dirty="0">
                <a:solidFill>
                  <a:srgbClr val="FFFFFF"/>
                </a:solidFill>
                <a:latin typeface="Calibri"/>
              </a:rPr>
              <a:t>IT </a:t>
            </a:r>
            <a:r>
              <a:rPr lang="en-US" sz="1450" b="1" i="0" dirty="0">
                <a:solidFill>
                  <a:srgbClr val="FFFFFF"/>
                </a:solidFill>
                <a:latin typeface="Calibri"/>
              </a:rPr>
              <a:t>Technical, System and Web </a:t>
            </a:r>
            <a:r>
              <a:rPr lang="en-US" sz="1450" b="1" i="0" dirty="0" err="1">
                <a:solidFill>
                  <a:srgbClr val="FFFFFF"/>
                </a:solidFill>
                <a:latin typeface="Calibri"/>
              </a:rPr>
              <a:t>Developement</a:t>
            </a:r>
            <a:endParaRPr sz="1450" b="1" i="0" dirty="0">
              <a:solidFill>
                <a:srgbClr val="FFFFFF"/>
              </a:solidFill>
              <a:latin typeface="Calibri"/>
            </a:endParaRPr>
          </a:p>
        </p:txBody>
      </p:sp>
      <p:sp>
        <p:nvSpPr>
          <p:cNvPr id="21" name="TextBox 20"/>
          <p:cNvSpPr txBox="1"/>
          <p:nvPr/>
        </p:nvSpPr>
        <p:spPr>
          <a:xfrm>
            <a:off x="7086600" y="3712464"/>
            <a:ext cx="4297680" cy="274320"/>
          </a:xfrm>
          <a:prstGeom prst="rect">
            <a:avLst/>
          </a:prstGeom>
          <a:noFill/>
        </p:spPr>
        <p:txBody>
          <a:bodyPr wrap="square" lIns="0" tIns="0" rIns="0" bIns="0" anchor="t">
            <a:spAutoFit/>
          </a:bodyPr>
          <a:lstStyle/>
          <a:p>
            <a:pPr algn="l">
              <a:lnSpc>
                <a:spcPct val="100000"/>
              </a:lnSpc>
              <a:spcBef>
                <a:spcPts val="0"/>
              </a:spcBef>
              <a:spcAft>
                <a:spcPts val="600"/>
              </a:spcAft>
            </a:pPr>
            <a:r>
              <a:rPr sz="1050" b="1" i="0">
                <a:solidFill>
                  <a:srgbClr val="8FA6BE"/>
                </a:solidFill>
                <a:latin typeface="Calibri"/>
              </a:rPr>
              <a:t>LOCATION</a:t>
            </a:r>
          </a:p>
        </p:txBody>
      </p:sp>
      <p:sp>
        <p:nvSpPr>
          <p:cNvPr id="22" name="TextBox 21"/>
          <p:cNvSpPr txBox="1"/>
          <p:nvPr/>
        </p:nvSpPr>
        <p:spPr>
          <a:xfrm>
            <a:off x="7086600" y="3931920"/>
            <a:ext cx="4297680" cy="365760"/>
          </a:xfrm>
          <a:prstGeom prst="rect">
            <a:avLst/>
          </a:prstGeom>
          <a:noFill/>
        </p:spPr>
        <p:txBody>
          <a:bodyPr wrap="square" lIns="0" tIns="0" rIns="0" bIns="0" anchor="t">
            <a:spAutoFit/>
          </a:bodyPr>
          <a:lstStyle/>
          <a:p>
            <a:pPr algn="l">
              <a:lnSpc>
                <a:spcPct val="100000"/>
              </a:lnSpc>
              <a:spcBef>
                <a:spcPts val="0"/>
              </a:spcBef>
              <a:spcAft>
                <a:spcPts val="600"/>
              </a:spcAft>
            </a:pPr>
            <a:r>
              <a:rPr sz="1450" b="1" i="0">
                <a:solidFill>
                  <a:srgbClr val="FFFFFF"/>
                </a:solidFill>
                <a:latin typeface="Calibri"/>
              </a:rPr>
              <a:t>Cyberjaya, Selangor</a:t>
            </a:r>
          </a:p>
        </p:txBody>
      </p:sp>
      <p:sp>
        <p:nvSpPr>
          <p:cNvPr id="23" name="TextBox 22"/>
          <p:cNvSpPr txBox="1"/>
          <p:nvPr/>
        </p:nvSpPr>
        <p:spPr>
          <a:xfrm>
            <a:off x="7086600" y="4425696"/>
            <a:ext cx="4297680" cy="274320"/>
          </a:xfrm>
          <a:prstGeom prst="rect">
            <a:avLst/>
          </a:prstGeom>
          <a:noFill/>
        </p:spPr>
        <p:txBody>
          <a:bodyPr wrap="square" lIns="0" tIns="0" rIns="0" bIns="0" anchor="t">
            <a:spAutoFit/>
          </a:bodyPr>
          <a:lstStyle/>
          <a:p>
            <a:pPr algn="l">
              <a:lnSpc>
                <a:spcPct val="100000"/>
              </a:lnSpc>
              <a:spcBef>
                <a:spcPts val="0"/>
              </a:spcBef>
              <a:spcAft>
                <a:spcPts val="600"/>
              </a:spcAft>
            </a:pPr>
            <a:r>
              <a:rPr sz="1050" b="1" i="0">
                <a:solidFill>
                  <a:srgbClr val="8FA6BE"/>
                </a:solidFill>
                <a:latin typeface="Calibri"/>
              </a:rPr>
              <a:t>DURATION</a:t>
            </a:r>
          </a:p>
        </p:txBody>
      </p:sp>
      <p:sp>
        <p:nvSpPr>
          <p:cNvPr id="24" name="TextBox 23"/>
          <p:cNvSpPr txBox="1"/>
          <p:nvPr/>
        </p:nvSpPr>
        <p:spPr>
          <a:xfrm>
            <a:off x="7086600" y="4645152"/>
            <a:ext cx="4297680" cy="365760"/>
          </a:xfrm>
          <a:prstGeom prst="rect">
            <a:avLst/>
          </a:prstGeom>
          <a:noFill/>
        </p:spPr>
        <p:txBody>
          <a:bodyPr wrap="square" lIns="0" tIns="0" rIns="0" bIns="0" anchor="t">
            <a:spAutoFit/>
          </a:bodyPr>
          <a:lstStyle/>
          <a:p>
            <a:pPr algn="l">
              <a:lnSpc>
                <a:spcPct val="100000"/>
              </a:lnSpc>
              <a:spcBef>
                <a:spcPts val="0"/>
              </a:spcBef>
              <a:spcAft>
                <a:spcPts val="600"/>
              </a:spcAft>
            </a:pPr>
            <a:r>
              <a:rPr sz="1450" b="1" i="0">
                <a:solidFill>
                  <a:srgbClr val="FFFFFF"/>
                </a:solidFill>
                <a:latin typeface="Calibri"/>
              </a:rPr>
              <a:t>24 weeks</a:t>
            </a:r>
          </a:p>
        </p:txBody>
      </p:sp>
      <p:sp>
        <p:nvSpPr>
          <p:cNvPr id="25" name="TextBox 24"/>
          <p:cNvSpPr txBox="1"/>
          <p:nvPr/>
        </p:nvSpPr>
        <p:spPr>
          <a:xfrm>
            <a:off x="7086600" y="5138928"/>
            <a:ext cx="4297680" cy="274320"/>
          </a:xfrm>
          <a:prstGeom prst="rect">
            <a:avLst/>
          </a:prstGeom>
          <a:noFill/>
        </p:spPr>
        <p:txBody>
          <a:bodyPr wrap="square" lIns="0" tIns="0" rIns="0" bIns="0" anchor="t">
            <a:spAutoFit/>
          </a:bodyPr>
          <a:lstStyle/>
          <a:p>
            <a:pPr algn="l">
              <a:lnSpc>
                <a:spcPct val="100000"/>
              </a:lnSpc>
              <a:spcBef>
                <a:spcPts val="0"/>
              </a:spcBef>
              <a:spcAft>
                <a:spcPts val="600"/>
              </a:spcAft>
            </a:pPr>
            <a:r>
              <a:rPr sz="1050" b="1" i="0">
                <a:solidFill>
                  <a:srgbClr val="8FA6BE"/>
                </a:solidFill>
                <a:latin typeface="Calibri"/>
              </a:rPr>
              <a:t>SUPERVISOR</a:t>
            </a:r>
          </a:p>
        </p:txBody>
      </p:sp>
      <p:sp>
        <p:nvSpPr>
          <p:cNvPr id="26" name="TextBox 25"/>
          <p:cNvSpPr txBox="1"/>
          <p:nvPr/>
        </p:nvSpPr>
        <p:spPr>
          <a:xfrm>
            <a:off x="7086600" y="5358384"/>
            <a:ext cx="4297680" cy="365760"/>
          </a:xfrm>
          <a:prstGeom prst="rect">
            <a:avLst/>
          </a:prstGeom>
          <a:noFill/>
        </p:spPr>
        <p:txBody>
          <a:bodyPr wrap="square" lIns="0" tIns="0" rIns="0" bIns="0" anchor="t">
            <a:spAutoFit/>
          </a:bodyPr>
          <a:lstStyle/>
          <a:p>
            <a:pPr algn="l">
              <a:lnSpc>
                <a:spcPct val="100000"/>
              </a:lnSpc>
              <a:spcBef>
                <a:spcPts val="0"/>
              </a:spcBef>
              <a:spcAft>
                <a:spcPts val="600"/>
              </a:spcAft>
            </a:pPr>
            <a:r>
              <a:rPr sz="1450" b="1" i="0">
                <a:solidFill>
                  <a:srgbClr val="FFFFFF"/>
                </a:solidFill>
                <a:latin typeface="Calibri"/>
              </a:rPr>
              <a:t>Iskhandar Shah Mohammad Yunus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78992"/>
          </a:xfrm>
          <a:prstGeom prst="rect">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78992"/>
            <a:ext cx="12191695" cy="5029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02920" y="274320"/>
            <a:ext cx="100584" cy="53035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82880"/>
            <a:ext cx="10789920" cy="310896"/>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9FC1E6"/>
                </a:solidFill>
                <a:latin typeface="Segoe UI"/>
              </a:rPr>
              <a:t>CHAPTER 2</a:t>
            </a:r>
          </a:p>
        </p:txBody>
      </p:sp>
      <p:sp>
        <p:nvSpPr>
          <p:cNvPr id="7" name="TextBox 6"/>
          <p:cNvSpPr txBox="1"/>
          <p:nvPr/>
        </p:nvSpPr>
        <p:spPr>
          <a:xfrm>
            <a:off x="749808" y="457200"/>
            <a:ext cx="10789920" cy="566928"/>
          </a:xfrm>
          <a:prstGeom prst="rect">
            <a:avLst/>
          </a:prstGeom>
          <a:noFill/>
        </p:spPr>
        <p:txBody>
          <a:bodyPr wrap="square" lIns="0" tIns="0" rIns="0" bIns="0" anchor="ctr">
            <a:spAutoFit/>
          </a:bodyPr>
          <a:lstStyle/>
          <a:p>
            <a:pPr algn="l">
              <a:lnSpc>
                <a:spcPct val="100000"/>
              </a:lnSpc>
              <a:spcBef>
                <a:spcPts val="0"/>
              </a:spcBef>
              <a:spcAft>
                <a:spcPts val="600"/>
              </a:spcAft>
            </a:pPr>
            <a:r>
              <a:rPr sz="2500" b="1" i="0">
                <a:solidFill>
                  <a:srgbClr val="FFFFFF"/>
                </a:solidFill>
                <a:latin typeface="Segoe UI Semibold"/>
              </a:rPr>
              <a:t>About the Organization</a:t>
            </a:r>
          </a:p>
        </p:txBody>
      </p:sp>
      <p:sp>
        <p:nvSpPr>
          <p:cNvPr id="8" name="Rectangle 7"/>
          <p:cNvSpPr/>
          <p:nvPr/>
        </p:nvSpPr>
        <p:spPr>
          <a:xfrm>
            <a:off x="502920" y="6419088"/>
            <a:ext cx="11183112" cy="12700"/>
          </a:xfrm>
          <a:prstGeom prst="rect">
            <a:avLst/>
          </a:prstGeom>
          <a:solidFill>
            <a:srgbClr val="D5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6455664"/>
            <a:ext cx="7315200" cy="274320"/>
          </a:xfrm>
          <a:prstGeom prst="rect">
            <a:avLst/>
          </a:prstGeom>
          <a:noFill/>
        </p:spPr>
        <p:txBody>
          <a:bodyPr wrap="square" lIns="0" tIns="0" rIns="0" bIns="0" anchor="t">
            <a:spAutoFit/>
          </a:bodyPr>
          <a:lstStyle/>
          <a:p>
            <a:pPr algn="l">
              <a:lnSpc>
                <a:spcPct val="100000"/>
              </a:lnSpc>
              <a:spcBef>
                <a:spcPts val="0"/>
              </a:spcBef>
              <a:spcAft>
                <a:spcPts val="600"/>
              </a:spcAft>
            </a:pPr>
            <a:r>
              <a:rPr sz="900" b="0" i="0">
                <a:solidFill>
                  <a:srgbClr val="5C6B7D"/>
                </a:solidFill>
                <a:latin typeface="Calibri"/>
              </a:rPr>
              <a:t>Muhammad Arif Danial Bin Mohd Anuar  ·  2024933617</a:t>
            </a:r>
          </a:p>
        </p:txBody>
      </p:sp>
      <p:sp>
        <p:nvSpPr>
          <p:cNvPr id="10" name="TextBox 9"/>
          <p:cNvSpPr txBox="1"/>
          <p:nvPr/>
        </p:nvSpPr>
        <p:spPr>
          <a:xfrm>
            <a:off x="10515600" y="6455664"/>
            <a:ext cx="1170432" cy="274320"/>
          </a:xfrm>
          <a:prstGeom prst="rect">
            <a:avLst/>
          </a:prstGeom>
          <a:noFill/>
        </p:spPr>
        <p:txBody>
          <a:bodyPr wrap="square" lIns="0" tIns="0" rIns="0" bIns="0" anchor="t">
            <a:spAutoFit/>
          </a:bodyPr>
          <a:lstStyle/>
          <a:p>
            <a:pPr algn="r">
              <a:lnSpc>
                <a:spcPct val="100000"/>
              </a:lnSpc>
              <a:spcBef>
                <a:spcPts val="0"/>
              </a:spcBef>
              <a:spcAft>
                <a:spcPts val="600"/>
              </a:spcAft>
            </a:pPr>
            <a:r>
              <a:rPr sz="900" b="0" i="0">
                <a:solidFill>
                  <a:srgbClr val="5C6B7D"/>
                </a:solidFill>
                <a:latin typeface="Calibri"/>
              </a:rPr>
              <a:t>KYROL Security Labs</a:t>
            </a:r>
          </a:p>
        </p:txBody>
      </p:sp>
      <p:sp>
        <p:nvSpPr>
          <p:cNvPr id="11" name="TextBox 10"/>
          <p:cNvSpPr txBox="1"/>
          <p:nvPr/>
        </p:nvSpPr>
        <p:spPr>
          <a:xfrm>
            <a:off x="548640" y="1417320"/>
            <a:ext cx="6583680" cy="411480"/>
          </a:xfrm>
          <a:prstGeom prst="rect">
            <a:avLst/>
          </a:prstGeom>
          <a:noFill/>
        </p:spPr>
        <p:txBody>
          <a:bodyPr wrap="square" lIns="0" tIns="0" rIns="0" bIns="0" anchor="t">
            <a:spAutoFit/>
          </a:bodyPr>
          <a:lstStyle/>
          <a:p>
            <a:pPr algn="l">
              <a:lnSpc>
                <a:spcPct val="100000"/>
              </a:lnSpc>
              <a:spcBef>
                <a:spcPts val="0"/>
              </a:spcBef>
              <a:spcAft>
                <a:spcPts val="600"/>
              </a:spcAft>
            </a:pPr>
            <a:r>
              <a:rPr sz="2000" b="1" i="0">
                <a:solidFill>
                  <a:srgbClr val="0F2A47"/>
                </a:solidFill>
                <a:latin typeface="Segoe UI Semibold"/>
              </a:rPr>
              <a:t>KYROL Security Labs Sdn. Bhd.</a:t>
            </a:r>
          </a:p>
        </p:txBody>
      </p:sp>
      <p:sp>
        <p:nvSpPr>
          <p:cNvPr id="12" name="TextBox 11"/>
          <p:cNvSpPr txBox="1"/>
          <p:nvPr/>
        </p:nvSpPr>
        <p:spPr>
          <a:xfrm>
            <a:off x="548640" y="1874519"/>
            <a:ext cx="6583680" cy="697114"/>
          </a:xfrm>
          <a:prstGeom prst="rect">
            <a:avLst/>
          </a:prstGeom>
          <a:noFill/>
        </p:spPr>
        <p:txBody>
          <a:bodyPr wrap="square" lIns="0" tIns="0" rIns="0" bIns="0" anchor="t">
            <a:spAutoFit/>
          </a:bodyPr>
          <a:lstStyle/>
          <a:p>
            <a:pPr algn="l">
              <a:lnSpc>
                <a:spcPct val="114000"/>
              </a:lnSpc>
              <a:spcBef>
                <a:spcPts val="0"/>
              </a:spcBef>
              <a:spcAft>
                <a:spcPts val="600"/>
              </a:spcAft>
            </a:pPr>
            <a:r>
              <a:rPr sz="1350" b="0" i="0" dirty="0">
                <a:solidFill>
                  <a:srgbClr val="1E2A36"/>
                </a:solidFill>
                <a:latin typeface="Calibri"/>
              </a:rPr>
              <a:t>An established IT solutions provider and cybersecurity advisory firm in Cyberjaya, with over a decade of industry presence</a:t>
            </a:r>
            <a:r>
              <a:rPr lang="en-US" sz="1350" b="0" i="0" dirty="0">
                <a:solidFill>
                  <a:srgbClr val="1E2A36"/>
                </a:solidFill>
                <a:latin typeface="Calibri"/>
              </a:rPr>
              <a:t>, </a:t>
            </a:r>
            <a:r>
              <a:rPr sz="1350" b="0" i="0" dirty="0">
                <a:solidFill>
                  <a:srgbClr val="1E2A36"/>
                </a:solidFill>
                <a:latin typeface="Calibri"/>
              </a:rPr>
              <a:t>delivering IT infrastructure deployment, systems integration, and proactive network </a:t>
            </a:r>
            <a:r>
              <a:rPr sz="1350" b="0" i="0" dirty="0" err="1">
                <a:solidFill>
                  <a:srgbClr val="1E2A36"/>
                </a:solidFill>
                <a:latin typeface="Calibri"/>
              </a:rPr>
              <a:t>defence</a:t>
            </a:r>
            <a:r>
              <a:rPr sz="1350" b="0" i="0" dirty="0">
                <a:solidFill>
                  <a:srgbClr val="1E2A36"/>
                </a:solidFill>
                <a:latin typeface="Calibri"/>
              </a:rPr>
              <a:t> across single-site, multi-site, and multinational scales.</a:t>
            </a:r>
          </a:p>
        </p:txBody>
      </p:sp>
      <p:sp>
        <p:nvSpPr>
          <p:cNvPr id="13" name="Rectangle 12"/>
          <p:cNvSpPr/>
          <p:nvPr/>
        </p:nvSpPr>
        <p:spPr>
          <a:xfrm>
            <a:off x="548640" y="3383280"/>
            <a:ext cx="6583680" cy="1078992"/>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548640" y="3383280"/>
            <a:ext cx="82296" cy="1078992"/>
          </a:xfrm>
          <a:prstGeom prst="rect">
            <a:avLst/>
          </a:prstGeom>
          <a:solidFill>
            <a:srgbClr val="2E6B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3502152"/>
            <a:ext cx="6126480" cy="274320"/>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2E6BB0"/>
                </a:solidFill>
                <a:latin typeface="Segoe UI"/>
              </a:rPr>
              <a:t>VISION</a:t>
            </a:r>
          </a:p>
        </p:txBody>
      </p:sp>
      <p:sp>
        <p:nvSpPr>
          <p:cNvPr id="16" name="TextBox 15"/>
          <p:cNvSpPr txBox="1"/>
          <p:nvPr/>
        </p:nvSpPr>
        <p:spPr>
          <a:xfrm>
            <a:off x="777240" y="3785616"/>
            <a:ext cx="6126480" cy="640080"/>
          </a:xfrm>
          <a:prstGeom prst="rect">
            <a:avLst/>
          </a:prstGeom>
          <a:noFill/>
        </p:spPr>
        <p:txBody>
          <a:bodyPr wrap="square" lIns="0" tIns="0" rIns="0" bIns="0" anchor="t">
            <a:spAutoFit/>
          </a:bodyPr>
          <a:lstStyle/>
          <a:p>
            <a:pPr algn="l">
              <a:lnSpc>
                <a:spcPct val="108000"/>
              </a:lnSpc>
              <a:spcBef>
                <a:spcPts val="0"/>
              </a:spcBef>
              <a:spcAft>
                <a:spcPts val="600"/>
              </a:spcAft>
            </a:pPr>
            <a:r>
              <a:rPr sz="1250" b="0" i="0">
                <a:solidFill>
                  <a:srgbClr val="1E2A36"/>
                </a:solidFill>
                <a:latin typeface="Calibri"/>
              </a:rPr>
              <a:t>To be the trusted partner of choice in exceptional IT and cybersecurity solutions.</a:t>
            </a:r>
          </a:p>
        </p:txBody>
      </p:sp>
      <p:sp>
        <p:nvSpPr>
          <p:cNvPr id="17" name="Rectangle 16"/>
          <p:cNvSpPr/>
          <p:nvPr/>
        </p:nvSpPr>
        <p:spPr>
          <a:xfrm>
            <a:off x="548640" y="4590288"/>
            <a:ext cx="6583680" cy="1078992"/>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48640" y="4590288"/>
            <a:ext cx="82296" cy="1078992"/>
          </a:xfrm>
          <a:prstGeom prst="rect">
            <a:avLst/>
          </a:prstGeom>
          <a:solidFill>
            <a:srgbClr val="2E6B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4709160"/>
            <a:ext cx="6126480" cy="274320"/>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2E6BB0"/>
                </a:solidFill>
                <a:latin typeface="Segoe UI"/>
              </a:rPr>
              <a:t>MISSION</a:t>
            </a:r>
          </a:p>
        </p:txBody>
      </p:sp>
      <p:sp>
        <p:nvSpPr>
          <p:cNvPr id="20" name="TextBox 19"/>
          <p:cNvSpPr txBox="1"/>
          <p:nvPr/>
        </p:nvSpPr>
        <p:spPr>
          <a:xfrm>
            <a:off x="777240" y="4992624"/>
            <a:ext cx="6126480" cy="640080"/>
          </a:xfrm>
          <a:prstGeom prst="rect">
            <a:avLst/>
          </a:prstGeom>
          <a:noFill/>
        </p:spPr>
        <p:txBody>
          <a:bodyPr wrap="square" lIns="0" tIns="0" rIns="0" bIns="0" anchor="t">
            <a:spAutoFit/>
          </a:bodyPr>
          <a:lstStyle/>
          <a:p>
            <a:pPr algn="l">
              <a:lnSpc>
                <a:spcPct val="108000"/>
              </a:lnSpc>
              <a:spcBef>
                <a:spcPts val="0"/>
              </a:spcBef>
              <a:spcAft>
                <a:spcPts val="600"/>
              </a:spcAft>
            </a:pPr>
            <a:r>
              <a:rPr sz="1250" b="0" i="0">
                <a:solidFill>
                  <a:srgbClr val="1E2A36"/>
                </a:solidFill>
                <a:latin typeface="Calibri"/>
              </a:rPr>
              <a:t>To enhance customers' competitive positioning with state-of-the-art security solutions, built on integrity, teamwork, and continuous innovation.</a:t>
            </a:r>
          </a:p>
        </p:txBody>
      </p:sp>
      <p:sp>
        <p:nvSpPr>
          <p:cNvPr id="21" name="Rectangle 20"/>
          <p:cNvSpPr/>
          <p:nvPr/>
        </p:nvSpPr>
        <p:spPr>
          <a:xfrm>
            <a:off x="8061816" y="1380744"/>
            <a:ext cx="2987328" cy="4462272"/>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descr="fig21_orgchart.png"/>
          <p:cNvPicPr>
            <a:picLocks noChangeAspect="1"/>
          </p:cNvPicPr>
          <p:nvPr/>
        </p:nvPicPr>
        <p:blipFill>
          <a:blip r:embed="rId3"/>
          <a:stretch>
            <a:fillRect/>
          </a:stretch>
        </p:blipFill>
        <p:spPr>
          <a:xfrm>
            <a:off x="8144112" y="1463040"/>
            <a:ext cx="2822736" cy="4297680"/>
          </a:xfrm>
          <a:prstGeom prst="rect">
            <a:avLst/>
          </a:prstGeom>
          <a:ln w="9525">
            <a:solidFill>
              <a:srgbClr val="D5DEE8"/>
            </a:solidFill>
          </a:ln>
        </p:spPr>
      </p:pic>
      <p:sp>
        <p:nvSpPr>
          <p:cNvPr id="23" name="TextBox 22"/>
          <p:cNvSpPr txBox="1"/>
          <p:nvPr/>
        </p:nvSpPr>
        <p:spPr>
          <a:xfrm>
            <a:off x="7452360" y="5884164"/>
            <a:ext cx="4206240" cy="320040"/>
          </a:xfrm>
          <a:prstGeom prst="rect">
            <a:avLst/>
          </a:prstGeom>
          <a:noFill/>
        </p:spPr>
        <p:txBody>
          <a:bodyPr wrap="square" lIns="0" tIns="0" rIns="0" bIns="0" anchor="t">
            <a:spAutoFit/>
          </a:bodyPr>
          <a:lstStyle/>
          <a:p>
            <a:pPr algn="ctr">
              <a:lnSpc>
                <a:spcPct val="100000"/>
              </a:lnSpc>
              <a:spcBef>
                <a:spcPts val="0"/>
              </a:spcBef>
              <a:spcAft>
                <a:spcPts val="600"/>
              </a:spcAft>
            </a:pPr>
            <a:r>
              <a:rPr sz="1050" b="0" i="1" dirty="0">
                <a:solidFill>
                  <a:srgbClr val="5C6B7D"/>
                </a:solidFill>
                <a:latin typeface="Calibri"/>
              </a:rPr>
              <a:t>Figure 2.1: Organizational Chart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78992"/>
          </a:xfrm>
          <a:prstGeom prst="rect">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78992"/>
            <a:ext cx="12191695" cy="5029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02920" y="274320"/>
            <a:ext cx="100584" cy="53035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82880"/>
            <a:ext cx="10789920" cy="310896"/>
          </a:xfrm>
          <a:prstGeom prst="rect">
            <a:avLst/>
          </a:prstGeom>
          <a:noFill/>
        </p:spPr>
        <p:txBody>
          <a:bodyPr wrap="square" lIns="0" tIns="0" rIns="0" bIns="0" anchor="t">
            <a:spAutoFit/>
          </a:bodyPr>
          <a:lstStyle/>
          <a:p>
            <a:pPr algn="l">
              <a:lnSpc>
                <a:spcPct val="100000"/>
              </a:lnSpc>
            </a:pPr>
            <a:r>
              <a:rPr sz="1250" b="1" i="0">
                <a:solidFill>
                  <a:srgbClr val="9FC1E6"/>
                </a:solidFill>
                <a:latin typeface="Segoe UI"/>
              </a:rPr>
              <a:t>CHAPTER 3 · MAIN PROJECT</a:t>
            </a:r>
          </a:p>
        </p:txBody>
      </p:sp>
      <p:sp>
        <p:nvSpPr>
          <p:cNvPr id="7" name="TextBox 6"/>
          <p:cNvSpPr txBox="1"/>
          <p:nvPr/>
        </p:nvSpPr>
        <p:spPr>
          <a:xfrm>
            <a:off x="749808" y="457200"/>
            <a:ext cx="10789920" cy="566928"/>
          </a:xfrm>
          <a:prstGeom prst="rect">
            <a:avLst/>
          </a:prstGeom>
          <a:noFill/>
        </p:spPr>
        <p:txBody>
          <a:bodyPr wrap="square" lIns="0" tIns="0" rIns="0" bIns="0" anchor="ctr">
            <a:spAutoFit/>
          </a:bodyPr>
          <a:lstStyle/>
          <a:p>
            <a:pPr algn="l">
              <a:lnSpc>
                <a:spcPct val="100000"/>
              </a:lnSpc>
            </a:pPr>
            <a:r>
              <a:rPr sz="2500" b="1" i="0">
                <a:solidFill>
                  <a:srgbClr val="FFFFFF"/>
                </a:solidFill>
                <a:latin typeface="Segoe UI Semibold"/>
              </a:rPr>
              <a:t>Introduction</a:t>
            </a:r>
          </a:p>
        </p:txBody>
      </p:sp>
      <p:sp>
        <p:nvSpPr>
          <p:cNvPr id="8" name="Rectangle 7"/>
          <p:cNvSpPr/>
          <p:nvPr/>
        </p:nvSpPr>
        <p:spPr>
          <a:xfrm>
            <a:off x="502920" y="6419088"/>
            <a:ext cx="11183112" cy="12700"/>
          </a:xfrm>
          <a:prstGeom prst="rect">
            <a:avLst/>
          </a:prstGeom>
          <a:solidFill>
            <a:srgbClr val="D5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6455664"/>
            <a:ext cx="7315200" cy="274320"/>
          </a:xfrm>
          <a:prstGeom prst="rect">
            <a:avLst/>
          </a:prstGeom>
          <a:noFill/>
        </p:spPr>
        <p:txBody>
          <a:bodyPr wrap="square" lIns="0" tIns="0" rIns="0" bIns="0" anchor="t">
            <a:spAutoFit/>
          </a:bodyPr>
          <a:lstStyle/>
          <a:p>
            <a:pPr algn="l">
              <a:lnSpc>
                <a:spcPct val="100000"/>
              </a:lnSpc>
            </a:pPr>
            <a:r>
              <a:rPr sz="900" b="0" i="0">
                <a:solidFill>
                  <a:srgbClr val="5C6B7D"/>
                </a:solidFill>
                <a:latin typeface="Calibri"/>
              </a:rPr>
              <a:t>Muhammad Arif Danial Bin Mohd Anuar  ·  2024933617</a:t>
            </a:r>
          </a:p>
        </p:txBody>
      </p:sp>
      <p:sp>
        <p:nvSpPr>
          <p:cNvPr id="10" name="TextBox 9"/>
          <p:cNvSpPr txBox="1"/>
          <p:nvPr/>
        </p:nvSpPr>
        <p:spPr>
          <a:xfrm>
            <a:off x="10515600" y="6455664"/>
            <a:ext cx="1170432" cy="274320"/>
          </a:xfrm>
          <a:prstGeom prst="rect">
            <a:avLst/>
          </a:prstGeom>
          <a:noFill/>
        </p:spPr>
        <p:txBody>
          <a:bodyPr wrap="square" lIns="0" tIns="0" rIns="0" bIns="0" anchor="t">
            <a:spAutoFit/>
          </a:bodyPr>
          <a:lstStyle/>
          <a:p>
            <a:pPr algn="r">
              <a:lnSpc>
                <a:spcPct val="100000"/>
              </a:lnSpc>
            </a:pPr>
            <a:r>
              <a:rPr sz="900" b="0" i="0">
                <a:solidFill>
                  <a:srgbClr val="5C6B7D"/>
                </a:solidFill>
                <a:latin typeface="Calibri"/>
              </a:rPr>
              <a:t>KYROL Security Labs</a:t>
            </a:r>
          </a:p>
        </p:txBody>
      </p:sp>
      <p:sp>
        <p:nvSpPr>
          <p:cNvPr id="11" name="TextBox 10"/>
          <p:cNvSpPr txBox="1"/>
          <p:nvPr/>
        </p:nvSpPr>
        <p:spPr>
          <a:xfrm>
            <a:off x="502920" y="1463040"/>
            <a:ext cx="6014085" cy="2613664"/>
          </a:xfrm>
          <a:prstGeom prst="rect">
            <a:avLst/>
          </a:prstGeom>
          <a:noFill/>
        </p:spPr>
        <p:txBody>
          <a:bodyPr wrap="square" lIns="0" tIns="0" rIns="0" bIns="0" anchor="t">
            <a:spAutoFit/>
          </a:bodyPr>
          <a:lstStyle/>
          <a:p>
            <a:pPr algn="just">
              <a:lnSpc>
                <a:spcPct val="118000"/>
              </a:lnSpc>
              <a:spcAft>
                <a:spcPts val="1400"/>
              </a:spcAft>
            </a:pPr>
            <a:r>
              <a:rPr sz="1500" b="0" i="0" dirty="0">
                <a:solidFill>
                  <a:srgbClr val="1E2A36"/>
                </a:solidFill>
                <a:latin typeface="Calibri"/>
              </a:rPr>
              <a:t>The rapid growth of customer-focused operations requires efficient and timely communication to maintain service quality and operational standards. Manual tracking of client information particularly expiry dates and contractual deadlines is susceptible to human error, leading to missed notifications and operational inefficiencies.</a:t>
            </a:r>
            <a:endParaRPr lang="en-US" sz="1500" dirty="0">
              <a:solidFill>
                <a:srgbClr val="1E2A36"/>
              </a:solidFill>
              <a:latin typeface="Calibri"/>
            </a:endParaRPr>
          </a:p>
          <a:p>
            <a:pPr algn="just">
              <a:lnSpc>
                <a:spcPct val="118000"/>
              </a:lnSpc>
              <a:spcAft>
                <a:spcPts val="1400"/>
              </a:spcAft>
            </a:pPr>
            <a:r>
              <a:rPr sz="1500" b="0" i="0" dirty="0">
                <a:solidFill>
                  <a:srgbClr val="1E2A36"/>
                </a:solidFill>
                <a:latin typeface="Calibri"/>
              </a:rPr>
              <a:t>This project </a:t>
            </a:r>
            <a:r>
              <a:rPr sz="1500" b="0" i="0" dirty="0" err="1">
                <a:solidFill>
                  <a:srgbClr val="1E2A36"/>
                </a:solidFill>
                <a:latin typeface="Calibri"/>
              </a:rPr>
              <a:t>utilises</a:t>
            </a:r>
            <a:r>
              <a:rPr sz="1500" b="0" i="0" dirty="0">
                <a:solidFill>
                  <a:srgbClr val="1E2A36"/>
                </a:solidFill>
                <a:latin typeface="Calibri"/>
              </a:rPr>
              <a:t> a combination of robust scripting techniques and cloud-based automation tools to provide a scalable solution that reduces administrative workload, executing a strict multi-tier notification schedule that dispatches renewal alerts at three critical milestones: D-30, D-7, and D-1.</a:t>
            </a:r>
          </a:p>
        </p:txBody>
      </p:sp>
      <p:sp>
        <p:nvSpPr>
          <p:cNvPr id="12" name="Rectangle 11"/>
          <p:cNvSpPr/>
          <p:nvPr/>
        </p:nvSpPr>
        <p:spPr>
          <a:xfrm>
            <a:off x="6720840" y="1463040"/>
            <a:ext cx="4937760" cy="4480560"/>
          </a:xfrm>
          <a:prstGeom prst="rect">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720840" y="1463040"/>
            <a:ext cx="4937760" cy="82296"/>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86600" y="1783080"/>
            <a:ext cx="4297680" cy="457200"/>
          </a:xfrm>
          <a:prstGeom prst="rect">
            <a:avLst/>
          </a:prstGeom>
          <a:noFill/>
        </p:spPr>
        <p:txBody>
          <a:bodyPr wrap="square" lIns="0" tIns="0" rIns="0" bIns="0" anchor="t">
            <a:spAutoFit/>
          </a:bodyPr>
          <a:lstStyle/>
          <a:p>
            <a:pPr algn="l">
              <a:lnSpc>
                <a:spcPct val="100000"/>
              </a:lnSpc>
            </a:pPr>
            <a:r>
              <a:rPr sz="1300" b="1" i="0">
                <a:solidFill>
                  <a:srgbClr val="9FC1E6"/>
                </a:solidFill>
                <a:latin typeface="Segoe UI"/>
              </a:rPr>
              <a:t>PROJECT AT A GLANCE</a:t>
            </a:r>
          </a:p>
        </p:txBody>
      </p:sp>
      <p:sp>
        <p:nvSpPr>
          <p:cNvPr id="15" name="TextBox 14"/>
          <p:cNvSpPr txBox="1"/>
          <p:nvPr/>
        </p:nvSpPr>
        <p:spPr>
          <a:xfrm>
            <a:off x="7086600" y="2286000"/>
            <a:ext cx="4297680" cy="274320"/>
          </a:xfrm>
          <a:prstGeom prst="rect">
            <a:avLst/>
          </a:prstGeom>
          <a:noFill/>
        </p:spPr>
        <p:txBody>
          <a:bodyPr wrap="square" lIns="0" tIns="0" rIns="0" bIns="0" anchor="t">
            <a:spAutoFit/>
          </a:bodyPr>
          <a:lstStyle/>
          <a:p>
            <a:pPr algn="l">
              <a:lnSpc>
                <a:spcPct val="100000"/>
              </a:lnSpc>
            </a:pPr>
            <a:r>
              <a:rPr sz="1050" b="1" i="0">
                <a:solidFill>
                  <a:srgbClr val="8FA6BE"/>
                </a:solidFill>
                <a:latin typeface="Calibri"/>
              </a:rPr>
              <a:t>TYPE</a:t>
            </a:r>
          </a:p>
        </p:txBody>
      </p:sp>
      <p:sp>
        <p:nvSpPr>
          <p:cNvPr id="16" name="TextBox 15"/>
          <p:cNvSpPr txBox="1"/>
          <p:nvPr/>
        </p:nvSpPr>
        <p:spPr>
          <a:xfrm>
            <a:off x="7086600" y="2505456"/>
            <a:ext cx="429768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Calibri"/>
              </a:rPr>
              <a:t>Automated Email Notification System</a:t>
            </a:r>
          </a:p>
        </p:txBody>
      </p:sp>
      <p:sp>
        <p:nvSpPr>
          <p:cNvPr id="17" name="TextBox 16"/>
          <p:cNvSpPr txBox="1"/>
          <p:nvPr/>
        </p:nvSpPr>
        <p:spPr>
          <a:xfrm>
            <a:off x="7086600" y="2999232"/>
            <a:ext cx="4297680" cy="274320"/>
          </a:xfrm>
          <a:prstGeom prst="rect">
            <a:avLst/>
          </a:prstGeom>
          <a:noFill/>
        </p:spPr>
        <p:txBody>
          <a:bodyPr wrap="square" lIns="0" tIns="0" rIns="0" bIns="0" anchor="t">
            <a:spAutoFit/>
          </a:bodyPr>
          <a:lstStyle/>
          <a:p>
            <a:pPr algn="l">
              <a:lnSpc>
                <a:spcPct val="100000"/>
              </a:lnSpc>
            </a:pPr>
            <a:r>
              <a:rPr sz="1050" b="1" i="0">
                <a:solidFill>
                  <a:srgbClr val="8FA6BE"/>
                </a:solidFill>
                <a:latin typeface="Calibri"/>
              </a:rPr>
              <a:t>TRIGGER</a:t>
            </a:r>
          </a:p>
        </p:txBody>
      </p:sp>
      <p:sp>
        <p:nvSpPr>
          <p:cNvPr id="18" name="TextBox 17"/>
          <p:cNvSpPr txBox="1"/>
          <p:nvPr/>
        </p:nvSpPr>
        <p:spPr>
          <a:xfrm>
            <a:off x="7086600" y="3218688"/>
            <a:ext cx="429768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Calibri"/>
              </a:rPr>
              <a:t>Daily, via Windows Task Scheduler</a:t>
            </a:r>
          </a:p>
        </p:txBody>
      </p:sp>
      <p:sp>
        <p:nvSpPr>
          <p:cNvPr id="19" name="TextBox 18"/>
          <p:cNvSpPr txBox="1"/>
          <p:nvPr/>
        </p:nvSpPr>
        <p:spPr>
          <a:xfrm>
            <a:off x="7086600" y="3712464"/>
            <a:ext cx="4297680" cy="274320"/>
          </a:xfrm>
          <a:prstGeom prst="rect">
            <a:avLst/>
          </a:prstGeom>
          <a:noFill/>
        </p:spPr>
        <p:txBody>
          <a:bodyPr wrap="square" lIns="0" tIns="0" rIns="0" bIns="0" anchor="t">
            <a:spAutoFit/>
          </a:bodyPr>
          <a:lstStyle/>
          <a:p>
            <a:pPr algn="l">
              <a:lnSpc>
                <a:spcPct val="100000"/>
              </a:lnSpc>
            </a:pPr>
            <a:r>
              <a:rPr sz="1050" b="1" i="0">
                <a:solidFill>
                  <a:srgbClr val="8FA6BE"/>
                </a:solidFill>
                <a:latin typeface="Calibri"/>
              </a:rPr>
              <a:t>SCHEDULE</a:t>
            </a:r>
          </a:p>
        </p:txBody>
      </p:sp>
      <p:sp>
        <p:nvSpPr>
          <p:cNvPr id="20" name="TextBox 19"/>
          <p:cNvSpPr txBox="1"/>
          <p:nvPr/>
        </p:nvSpPr>
        <p:spPr>
          <a:xfrm>
            <a:off x="7086600" y="3931920"/>
            <a:ext cx="429768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Calibri"/>
              </a:rPr>
              <a:t>D-30 · D-7 · D-1 milestones</a:t>
            </a:r>
          </a:p>
        </p:txBody>
      </p:sp>
      <p:sp>
        <p:nvSpPr>
          <p:cNvPr id="21" name="TextBox 20"/>
          <p:cNvSpPr txBox="1"/>
          <p:nvPr/>
        </p:nvSpPr>
        <p:spPr>
          <a:xfrm>
            <a:off x="7086600" y="4425696"/>
            <a:ext cx="4297680" cy="274320"/>
          </a:xfrm>
          <a:prstGeom prst="rect">
            <a:avLst/>
          </a:prstGeom>
          <a:noFill/>
        </p:spPr>
        <p:txBody>
          <a:bodyPr wrap="square" lIns="0" tIns="0" rIns="0" bIns="0" anchor="t">
            <a:spAutoFit/>
          </a:bodyPr>
          <a:lstStyle/>
          <a:p>
            <a:pPr algn="l">
              <a:lnSpc>
                <a:spcPct val="100000"/>
              </a:lnSpc>
            </a:pPr>
            <a:r>
              <a:rPr sz="1050" b="1" i="0">
                <a:solidFill>
                  <a:srgbClr val="8FA6BE"/>
                </a:solidFill>
                <a:latin typeface="Calibri"/>
              </a:rPr>
              <a:t>DELIVERY</a:t>
            </a:r>
          </a:p>
        </p:txBody>
      </p:sp>
      <p:sp>
        <p:nvSpPr>
          <p:cNvPr id="22" name="TextBox 21"/>
          <p:cNvSpPr txBox="1"/>
          <p:nvPr/>
        </p:nvSpPr>
        <p:spPr>
          <a:xfrm>
            <a:off x="7086600" y="4645152"/>
            <a:ext cx="429768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Calibri"/>
              </a:rPr>
              <a:t>Secure SMTP relay (TLS)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8920" y="0"/>
            <a:ext cx="12191695" cy="6858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78992"/>
          </a:xfrm>
          <a:prstGeom prst="rect">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78992"/>
            <a:ext cx="12191695" cy="5029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02920" y="274320"/>
            <a:ext cx="100584" cy="53035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82880"/>
            <a:ext cx="10789920" cy="310896"/>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9FC1E6"/>
                </a:solidFill>
                <a:latin typeface="Segoe UI"/>
              </a:rPr>
              <a:t>CHAPTER 3 · MAIN PROJECT</a:t>
            </a:r>
          </a:p>
        </p:txBody>
      </p:sp>
      <p:sp>
        <p:nvSpPr>
          <p:cNvPr id="7" name="TextBox 6"/>
          <p:cNvSpPr txBox="1"/>
          <p:nvPr/>
        </p:nvSpPr>
        <p:spPr>
          <a:xfrm>
            <a:off x="749808" y="457200"/>
            <a:ext cx="10789920" cy="566928"/>
          </a:xfrm>
          <a:prstGeom prst="rect">
            <a:avLst/>
          </a:prstGeom>
          <a:noFill/>
        </p:spPr>
        <p:txBody>
          <a:bodyPr wrap="square" lIns="0" tIns="0" rIns="0" bIns="0" anchor="ctr">
            <a:spAutoFit/>
          </a:bodyPr>
          <a:lstStyle/>
          <a:p>
            <a:pPr algn="l">
              <a:lnSpc>
                <a:spcPct val="100000"/>
              </a:lnSpc>
              <a:spcBef>
                <a:spcPts val="0"/>
              </a:spcBef>
              <a:spcAft>
                <a:spcPts val="600"/>
              </a:spcAft>
            </a:pPr>
            <a:r>
              <a:rPr sz="2500" b="1" i="0" dirty="0">
                <a:solidFill>
                  <a:srgbClr val="FFFFFF"/>
                </a:solidFill>
                <a:latin typeface="Segoe UI Semibold"/>
              </a:rPr>
              <a:t>The Problem &amp; The Solution</a:t>
            </a:r>
          </a:p>
        </p:txBody>
      </p:sp>
      <p:sp>
        <p:nvSpPr>
          <p:cNvPr id="8" name="Rectangle 7"/>
          <p:cNvSpPr/>
          <p:nvPr/>
        </p:nvSpPr>
        <p:spPr>
          <a:xfrm>
            <a:off x="502920" y="6419088"/>
            <a:ext cx="11183112" cy="12700"/>
          </a:xfrm>
          <a:prstGeom prst="rect">
            <a:avLst/>
          </a:prstGeom>
          <a:solidFill>
            <a:srgbClr val="D5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6455664"/>
            <a:ext cx="7315200" cy="274320"/>
          </a:xfrm>
          <a:prstGeom prst="rect">
            <a:avLst/>
          </a:prstGeom>
          <a:noFill/>
        </p:spPr>
        <p:txBody>
          <a:bodyPr wrap="square" lIns="0" tIns="0" rIns="0" bIns="0" anchor="t">
            <a:spAutoFit/>
          </a:bodyPr>
          <a:lstStyle/>
          <a:p>
            <a:pPr algn="l">
              <a:lnSpc>
                <a:spcPct val="100000"/>
              </a:lnSpc>
              <a:spcBef>
                <a:spcPts val="0"/>
              </a:spcBef>
              <a:spcAft>
                <a:spcPts val="600"/>
              </a:spcAft>
            </a:pPr>
            <a:r>
              <a:rPr sz="900" b="0" i="0">
                <a:solidFill>
                  <a:srgbClr val="5C6B7D"/>
                </a:solidFill>
                <a:latin typeface="Calibri"/>
              </a:rPr>
              <a:t>Muhammad Arif Danial Bin Mohd Anuar  ·  2024933617</a:t>
            </a:r>
          </a:p>
        </p:txBody>
      </p:sp>
      <p:sp>
        <p:nvSpPr>
          <p:cNvPr id="10" name="TextBox 9"/>
          <p:cNvSpPr txBox="1"/>
          <p:nvPr/>
        </p:nvSpPr>
        <p:spPr>
          <a:xfrm>
            <a:off x="10515600" y="6455664"/>
            <a:ext cx="1170432" cy="274320"/>
          </a:xfrm>
          <a:prstGeom prst="rect">
            <a:avLst/>
          </a:prstGeom>
          <a:noFill/>
        </p:spPr>
        <p:txBody>
          <a:bodyPr wrap="square" lIns="0" tIns="0" rIns="0" bIns="0" anchor="t">
            <a:spAutoFit/>
          </a:bodyPr>
          <a:lstStyle/>
          <a:p>
            <a:pPr algn="r">
              <a:lnSpc>
                <a:spcPct val="100000"/>
              </a:lnSpc>
              <a:spcBef>
                <a:spcPts val="0"/>
              </a:spcBef>
              <a:spcAft>
                <a:spcPts val="600"/>
              </a:spcAft>
            </a:pPr>
            <a:r>
              <a:rPr sz="900" b="0" i="0">
                <a:solidFill>
                  <a:srgbClr val="5C6B7D"/>
                </a:solidFill>
                <a:latin typeface="Calibri"/>
              </a:rPr>
              <a:t>KYROL Security Labs</a:t>
            </a:r>
          </a:p>
        </p:txBody>
      </p:sp>
      <p:sp>
        <p:nvSpPr>
          <p:cNvPr id="11" name="Rectangle 10"/>
          <p:cNvSpPr/>
          <p:nvPr/>
        </p:nvSpPr>
        <p:spPr>
          <a:xfrm>
            <a:off x="548640" y="1463040"/>
            <a:ext cx="5394960" cy="4434840"/>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48640" y="1463040"/>
            <a:ext cx="5394960" cy="566928"/>
          </a:xfrm>
          <a:prstGeom prst="rect">
            <a:avLst/>
          </a:prstGeom>
          <a:solidFill>
            <a:srgbClr val="B02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7240" y="1554480"/>
            <a:ext cx="5029200" cy="384048"/>
          </a:xfrm>
          <a:prstGeom prst="rect">
            <a:avLst/>
          </a:prstGeom>
          <a:noFill/>
        </p:spPr>
        <p:txBody>
          <a:bodyPr wrap="square" lIns="0" tIns="0" rIns="0" bIns="0" anchor="ctr">
            <a:spAutoFit/>
          </a:bodyPr>
          <a:lstStyle/>
          <a:p>
            <a:pPr algn="l">
              <a:lnSpc>
                <a:spcPct val="100000"/>
              </a:lnSpc>
              <a:spcBef>
                <a:spcPts val="0"/>
              </a:spcBef>
              <a:spcAft>
                <a:spcPts val="600"/>
              </a:spcAft>
            </a:pPr>
            <a:r>
              <a:rPr sz="1400" b="1" i="0">
                <a:solidFill>
                  <a:srgbClr val="FFFFFF"/>
                </a:solidFill>
                <a:latin typeface="Segoe UI"/>
              </a:rPr>
              <a:t>THE PROBLEM</a:t>
            </a:r>
          </a:p>
        </p:txBody>
      </p:sp>
      <p:sp>
        <p:nvSpPr>
          <p:cNvPr id="14" name="TextBox 13"/>
          <p:cNvSpPr txBox="1"/>
          <p:nvPr/>
        </p:nvSpPr>
        <p:spPr>
          <a:xfrm>
            <a:off x="777240" y="2286000"/>
            <a:ext cx="4937760" cy="3383280"/>
          </a:xfrm>
          <a:prstGeom prst="rect">
            <a:avLst/>
          </a:prstGeom>
          <a:noFill/>
        </p:spPr>
        <p:txBody>
          <a:bodyPr wrap="square" lIns="0" tIns="0" rIns="0" bIns="0">
            <a:spAutoFit/>
          </a:bodyPr>
          <a:lstStyle/>
          <a:p>
            <a:pPr marL="274320" indent="-237744">
              <a:lnSpc>
                <a:spcPct val="105000"/>
              </a:lnSpc>
              <a:spcBef>
                <a:spcPts val="0"/>
              </a:spcBef>
              <a:spcAft>
                <a:spcPts val="1600"/>
              </a:spcAft>
            </a:pPr>
            <a:r>
              <a:rPr sz="1450" b="1" dirty="0">
                <a:solidFill>
                  <a:srgbClr val="B02A2A"/>
                </a:solidFill>
                <a:latin typeface="Calibri"/>
              </a:rPr>
              <a:t>▸  </a:t>
            </a:r>
            <a:r>
              <a:rPr sz="1450" b="0" dirty="0">
                <a:solidFill>
                  <a:srgbClr val="1E2A36"/>
                </a:solidFill>
                <a:latin typeface="Calibri"/>
              </a:rPr>
              <a:t>Client renewals &amp; expiry dates tracked manually</a:t>
            </a:r>
          </a:p>
          <a:p>
            <a:pPr marL="274320" indent="-237744">
              <a:lnSpc>
                <a:spcPct val="105000"/>
              </a:lnSpc>
              <a:spcBef>
                <a:spcPts val="0"/>
              </a:spcBef>
              <a:spcAft>
                <a:spcPts val="1600"/>
              </a:spcAft>
            </a:pPr>
            <a:r>
              <a:rPr sz="1450" b="1" dirty="0">
                <a:solidFill>
                  <a:srgbClr val="B02A2A"/>
                </a:solidFill>
                <a:latin typeface="Calibri"/>
              </a:rPr>
              <a:t>▸  </a:t>
            </a:r>
            <a:r>
              <a:rPr sz="1450" b="0" dirty="0">
                <a:solidFill>
                  <a:srgbClr val="1E2A36"/>
                </a:solidFill>
                <a:latin typeface="Calibri"/>
              </a:rPr>
              <a:t>Manual tracking is prone to human error</a:t>
            </a:r>
          </a:p>
          <a:p>
            <a:pPr marL="274320" indent="-237744">
              <a:lnSpc>
                <a:spcPct val="105000"/>
              </a:lnSpc>
              <a:spcBef>
                <a:spcPts val="0"/>
              </a:spcBef>
              <a:spcAft>
                <a:spcPts val="1600"/>
              </a:spcAft>
            </a:pPr>
            <a:r>
              <a:rPr sz="1450" b="1" dirty="0">
                <a:solidFill>
                  <a:srgbClr val="B02A2A"/>
                </a:solidFill>
                <a:latin typeface="Calibri"/>
              </a:rPr>
              <a:t>▸  </a:t>
            </a:r>
            <a:r>
              <a:rPr sz="1450" b="0" dirty="0">
                <a:solidFill>
                  <a:srgbClr val="1E2A36"/>
                </a:solidFill>
                <a:latin typeface="Calibri"/>
              </a:rPr>
              <a:t>Missed notifications lead to lapsed licenses</a:t>
            </a:r>
          </a:p>
          <a:p>
            <a:pPr marL="274320" indent="-237744">
              <a:lnSpc>
                <a:spcPct val="105000"/>
              </a:lnSpc>
              <a:spcBef>
                <a:spcPts val="0"/>
              </a:spcBef>
              <a:spcAft>
                <a:spcPts val="1600"/>
              </a:spcAft>
            </a:pPr>
            <a:r>
              <a:rPr sz="1450" b="1" dirty="0">
                <a:solidFill>
                  <a:srgbClr val="B02A2A"/>
                </a:solidFill>
                <a:latin typeface="Calibri"/>
              </a:rPr>
              <a:t>▸  </a:t>
            </a:r>
            <a:r>
              <a:rPr sz="1450" b="0" dirty="0">
                <a:solidFill>
                  <a:srgbClr val="1E2A36"/>
                </a:solidFill>
                <a:latin typeface="Calibri"/>
              </a:rPr>
              <a:t>Repetitive scheduling wastes staff time</a:t>
            </a:r>
          </a:p>
        </p:txBody>
      </p:sp>
      <p:sp>
        <p:nvSpPr>
          <p:cNvPr id="15" name="Rectangle 14"/>
          <p:cNvSpPr/>
          <p:nvPr/>
        </p:nvSpPr>
        <p:spPr>
          <a:xfrm>
            <a:off x="6263640" y="1463040"/>
            <a:ext cx="5394960" cy="4434840"/>
          </a:xfrm>
          <a:prstGeom prst="rect">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263640" y="1463040"/>
            <a:ext cx="5394960" cy="566928"/>
          </a:xfrm>
          <a:prstGeom prst="rect">
            <a:avLst/>
          </a:prstGeom>
          <a:solidFill>
            <a:srgbClr val="1E7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92240" y="1554480"/>
            <a:ext cx="5029200" cy="384048"/>
          </a:xfrm>
          <a:prstGeom prst="rect">
            <a:avLst/>
          </a:prstGeom>
          <a:noFill/>
        </p:spPr>
        <p:txBody>
          <a:bodyPr wrap="square" lIns="0" tIns="0" rIns="0" bIns="0" anchor="ctr">
            <a:spAutoFit/>
          </a:bodyPr>
          <a:lstStyle/>
          <a:p>
            <a:pPr algn="l">
              <a:lnSpc>
                <a:spcPct val="100000"/>
              </a:lnSpc>
              <a:spcBef>
                <a:spcPts val="0"/>
              </a:spcBef>
              <a:spcAft>
                <a:spcPts val="600"/>
              </a:spcAft>
            </a:pPr>
            <a:r>
              <a:rPr sz="1400" b="1" i="0">
                <a:solidFill>
                  <a:srgbClr val="FFFFFF"/>
                </a:solidFill>
                <a:latin typeface="Segoe UI"/>
              </a:rPr>
              <a:t>THE SOLUTION</a:t>
            </a:r>
          </a:p>
        </p:txBody>
      </p:sp>
      <p:sp>
        <p:nvSpPr>
          <p:cNvPr id="18" name="TextBox 17"/>
          <p:cNvSpPr txBox="1"/>
          <p:nvPr/>
        </p:nvSpPr>
        <p:spPr>
          <a:xfrm>
            <a:off x="6492240" y="2240280"/>
            <a:ext cx="4937760" cy="822960"/>
          </a:xfrm>
          <a:prstGeom prst="rect">
            <a:avLst/>
          </a:prstGeom>
          <a:noFill/>
        </p:spPr>
        <p:txBody>
          <a:bodyPr wrap="square" lIns="0" tIns="0" rIns="0" bIns="0" anchor="t">
            <a:spAutoFit/>
          </a:bodyPr>
          <a:lstStyle/>
          <a:p>
            <a:pPr algn="l">
              <a:lnSpc>
                <a:spcPct val="110000"/>
              </a:lnSpc>
              <a:spcBef>
                <a:spcPts val="0"/>
              </a:spcBef>
              <a:spcAft>
                <a:spcPts val="600"/>
              </a:spcAft>
            </a:pPr>
            <a:r>
              <a:rPr sz="1350" b="0" i="0">
                <a:solidFill>
                  <a:srgbClr val="E6EDF4"/>
                </a:solidFill>
                <a:latin typeface="Calibri"/>
              </a:rPr>
              <a:t>An automated system that tracks client timelines and dispatches renewal alerts at three critical milestones:</a:t>
            </a:r>
          </a:p>
        </p:txBody>
      </p:sp>
      <p:sp>
        <p:nvSpPr>
          <p:cNvPr id="19" name="Rectangle 18"/>
          <p:cNvSpPr/>
          <p:nvPr/>
        </p:nvSpPr>
        <p:spPr>
          <a:xfrm>
            <a:off x="6492240" y="3246120"/>
            <a:ext cx="1572768" cy="1234440"/>
          </a:xfrm>
          <a:prstGeom prst="rect">
            <a:avLst/>
          </a:prstGeom>
          <a:solidFill>
            <a:srgbClr val="143354"/>
          </a:solidFill>
          <a:ln w="12700">
            <a:solidFill>
              <a:srgbClr val="2E4A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92240" y="3429000"/>
            <a:ext cx="1572768" cy="548640"/>
          </a:xfrm>
          <a:prstGeom prst="rect">
            <a:avLst/>
          </a:prstGeom>
          <a:noFill/>
        </p:spPr>
        <p:txBody>
          <a:bodyPr wrap="square" lIns="0" tIns="0" rIns="0" bIns="0" anchor="t">
            <a:spAutoFit/>
          </a:bodyPr>
          <a:lstStyle/>
          <a:p>
            <a:pPr algn="ctr">
              <a:lnSpc>
                <a:spcPct val="100000"/>
              </a:lnSpc>
              <a:spcBef>
                <a:spcPts val="0"/>
              </a:spcBef>
              <a:spcAft>
                <a:spcPts val="600"/>
              </a:spcAft>
            </a:pPr>
            <a:r>
              <a:rPr sz="2700" b="1" i="0">
                <a:solidFill>
                  <a:srgbClr val="E8821E"/>
                </a:solidFill>
                <a:latin typeface="Segoe UI Semibold"/>
              </a:rPr>
              <a:t>D-30</a:t>
            </a:r>
          </a:p>
        </p:txBody>
      </p:sp>
      <p:sp>
        <p:nvSpPr>
          <p:cNvPr id="21" name="TextBox 20"/>
          <p:cNvSpPr txBox="1"/>
          <p:nvPr/>
        </p:nvSpPr>
        <p:spPr>
          <a:xfrm>
            <a:off x="6492240" y="4041648"/>
            <a:ext cx="1572768" cy="365760"/>
          </a:xfrm>
          <a:prstGeom prst="rect">
            <a:avLst/>
          </a:prstGeom>
          <a:noFill/>
        </p:spPr>
        <p:txBody>
          <a:bodyPr wrap="square" lIns="0" tIns="0" rIns="0" bIns="0" anchor="t">
            <a:spAutoFit/>
          </a:bodyPr>
          <a:lstStyle/>
          <a:p>
            <a:pPr algn="ctr">
              <a:lnSpc>
                <a:spcPct val="100000"/>
              </a:lnSpc>
              <a:spcBef>
                <a:spcPts val="0"/>
              </a:spcBef>
              <a:spcAft>
                <a:spcPts val="600"/>
              </a:spcAft>
            </a:pPr>
            <a:r>
              <a:rPr sz="1150" b="0" i="0">
                <a:solidFill>
                  <a:srgbClr val="C9D4DF"/>
                </a:solidFill>
                <a:latin typeface="Calibri"/>
              </a:rPr>
              <a:t>Early warning</a:t>
            </a:r>
          </a:p>
        </p:txBody>
      </p:sp>
      <p:sp>
        <p:nvSpPr>
          <p:cNvPr id="22" name="Rectangle 21"/>
          <p:cNvSpPr/>
          <p:nvPr/>
        </p:nvSpPr>
        <p:spPr>
          <a:xfrm>
            <a:off x="8193024" y="3246120"/>
            <a:ext cx="1572768" cy="1234440"/>
          </a:xfrm>
          <a:prstGeom prst="rect">
            <a:avLst/>
          </a:prstGeom>
          <a:solidFill>
            <a:srgbClr val="143354"/>
          </a:solidFill>
          <a:ln w="12700">
            <a:solidFill>
              <a:srgbClr val="2E4A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193024" y="3429000"/>
            <a:ext cx="1572768" cy="548640"/>
          </a:xfrm>
          <a:prstGeom prst="rect">
            <a:avLst/>
          </a:prstGeom>
          <a:noFill/>
        </p:spPr>
        <p:txBody>
          <a:bodyPr wrap="square" lIns="0" tIns="0" rIns="0" bIns="0" anchor="t">
            <a:spAutoFit/>
          </a:bodyPr>
          <a:lstStyle/>
          <a:p>
            <a:pPr algn="ctr">
              <a:lnSpc>
                <a:spcPct val="100000"/>
              </a:lnSpc>
              <a:spcBef>
                <a:spcPts val="0"/>
              </a:spcBef>
              <a:spcAft>
                <a:spcPts val="600"/>
              </a:spcAft>
            </a:pPr>
            <a:r>
              <a:rPr sz="2700" b="1" i="0">
                <a:solidFill>
                  <a:srgbClr val="E8821E"/>
                </a:solidFill>
                <a:latin typeface="Segoe UI Semibold"/>
              </a:rPr>
              <a:t>D-7</a:t>
            </a:r>
          </a:p>
        </p:txBody>
      </p:sp>
      <p:sp>
        <p:nvSpPr>
          <p:cNvPr id="24" name="TextBox 23"/>
          <p:cNvSpPr txBox="1"/>
          <p:nvPr/>
        </p:nvSpPr>
        <p:spPr>
          <a:xfrm>
            <a:off x="8193024" y="4041648"/>
            <a:ext cx="1572768" cy="365760"/>
          </a:xfrm>
          <a:prstGeom prst="rect">
            <a:avLst/>
          </a:prstGeom>
          <a:noFill/>
        </p:spPr>
        <p:txBody>
          <a:bodyPr wrap="square" lIns="0" tIns="0" rIns="0" bIns="0" anchor="t">
            <a:spAutoFit/>
          </a:bodyPr>
          <a:lstStyle/>
          <a:p>
            <a:pPr algn="ctr">
              <a:lnSpc>
                <a:spcPct val="100000"/>
              </a:lnSpc>
              <a:spcBef>
                <a:spcPts val="0"/>
              </a:spcBef>
              <a:spcAft>
                <a:spcPts val="600"/>
              </a:spcAft>
            </a:pPr>
            <a:r>
              <a:rPr sz="1150" b="0" i="0">
                <a:solidFill>
                  <a:srgbClr val="C9D4DF"/>
                </a:solidFill>
                <a:latin typeface="Calibri"/>
              </a:rPr>
              <a:t>Urgent reminder</a:t>
            </a:r>
          </a:p>
        </p:txBody>
      </p:sp>
      <p:sp>
        <p:nvSpPr>
          <p:cNvPr id="25" name="Rectangle 24"/>
          <p:cNvSpPr/>
          <p:nvPr/>
        </p:nvSpPr>
        <p:spPr>
          <a:xfrm>
            <a:off x="9893808" y="3246120"/>
            <a:ext cx="1572768" cy="1234440"/>
          </a:xfrm>
          <a:prstGeom prst="rect">
            <a:avLst/>
          </a:prstGeom>
          <a:solidFill>
            <a:srgbClr val="143354"/>
          </a:solidFill>
          <a:ln w="12700">
            <a:solidFill>
              <a:srgbClr val="2E4A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893808" y="3429000"/>
            <a:ext cx="1572768" cy="548640"/>
          </a:xfrm>
          <a:prstGeom prst="rect">
            <a:avLst/>
          </a:prstGeom>
          <a:noFill/>
        </p:spPr>
        <p:txBody>
          <a:bodyPr wrap="square" lIns="0" tIns="0" rIns="0" bIns="0" anchor="t">
            <a:spAutoFit/>
          </a:bodyPr>
          <a:lstStyle/>
          <a:p>
            <a:pPr algn="ctr">
              <a:lnSpc>
                <a:spcPct val="100000"/>
              </a:lnSpc>
              <a:spcBef>
                <a:spcPts val="0"/>
              </a:spcBef>
              <a:spcAft>
                <a:spcPts val="600"/>
              </a:spcAft>
            </a:pPr>
            <a:r>
              <a:rPr sz="2700" b="1" i="0">
                <a:solidFill>
                  <a:srgbClr val="E8821E"/>
                </a:solidFill>
                <a:latin typeface="Segoe UI Semibold"/>
              </a:rPr>
              <a:t>D-1</a:t>
            </a:r>
          </a:p>
        </p:txBody>
      </p:sp>
      <p:sp>
        <p:nvSpPr>
          <p:cNvPr id="27" name="TextBox 26"/>
          <p:cNvSpPr txBox="1"/>
          <p:nvPr/>
        </p:nvSpPr>
        <p:spPr>
          <a:xfrm>
            <a:off x="9893808" y="4041648"/>
            <a:ext cx="1572768" cy="365760"/>
          </a:xfrm>
          <a:prstGeom prst="rect">
            <a:avLst/>
          </a:prstGeom>
          <a:noFill/>
        </p:spPr>
        <p:txBody>
          <a:bodyPr wrap="square" lIns="0" tIns="0" rIns="0" bIns="0" anchor="t">
            <a:spAutoFit/>
          </a:bodyPr>
          <a:lstStyle/>
          <a:p>
            <a:pPr algn="ctr">
              <a:lnSpc>
                <a:spcPct val="100000"/>
              </a:lnSpc>
              <a:spcBef>
                <a:spcPts val="0"/>
              </a:spcBef>
              <a:spcAft>
                <a:spcPts val="600"/>
              </a:spcAft>
            </a:pPr>
            <a:r>
              <a:rPr sz="1150" b="0" i="0">
                <a:solidFill>
                  <a:srgbClr val="C9D4DF"/>
                </a:solidFill>
                <a:latin typeface="Calibri"/>
              </a:rPr>
              <a:t>Final notice</a:t>
            </a:r>
          </a:p>
        </p:txBody>
      </p:sp>
      <p:sp>
        <p:nvSpPr>
          <p:cNvPr id="28" name="TextBox 27"/>
          <p:cNvSpPr txBox="1"/>
          <p:nvPr/>
        </p:nvSpPr>
        <p:spPr>
          <a:xfrm>
            <a:off x="6492240" y="4709160"/>
            <a:ext cx="4937760" cy="419346"/>
          </a:xfrm>
          <a:prstGeom prst="rect">
            <a:avLst/>
          </a:prstGeom>
          <a:noFill/>
        </p:spPr>
        <p:txBody>
          <a:bodyPr wrap="square" lIns="0" tIns="0" rIns="0" bIns="0" anchor="t">
            <a:spAutoFit/>
          </a:bodyPr>
          <a:lstStyle/>
          <a:p>
            <a:pPr algn="l">
              <a:lnSpc>
                <a:spcPct val="112000"/>
              </a:lnSpc>
              <a:spcBef>
                <a:spcPts val="0"/>
              </a:spcBef>
              <a:spcAft>
                <a:spcPts val="600"/>
              </a:spcAft>
            </a:pPr>
            <a:r>
              <a:rPr sz="1250" b="0" i="1" dirty="0">
                <a:solidFill>
                  <a:srgbClr val="C9D4DF"/>
                </a:solidFill>
                <a:latin typeface="Calibri"/>
              </a:rPr>
              <a:t>Scripted in Python, packaged with Docker, and run automatically every day</a:t>
            </a:r>
            <a:r>
              <a:rPr lang="en-US" sz="1250" b="0" i="1" dirty="0">
                <a:solidFill>
                  <a:srgbClr val="C9D4DF"/>
                </a:solidFill>
                <a:latin typeface="Calibri"/>
              </a:rPr>
              <a:t>,</a:t>
            </a:r>
            <a:r>
              <a:rPr sz="1250" b="0" i="1" dirty="0">
                <a:solidFill>
                  <a:srgbClr val="C9D4DF"/>
                </a:solidFill>
                <a:latin typeface="Calibri"/>
              </a:rPr>
              <a:t> reducing workload while guaranteeing consistent, timely communication.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78992"/>
          </a:xfrm>
          <a:prstGeom prst="rect">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78992"/>
            <a:ext cx="12191695" cy="5029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02920" y="274320"/>
            <a:ext cx="100584" cy="53035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82880"/>
            <a:ext cx="10789920" cy="310896"/>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9FC1E6"/>
                </a:solidFill>
                <a:latin typeface="Segoe UI"/>
              </a:rPr>
              <a:t>CHAPTER 3 · MAIN PROJECT</a:t>
            </a:r>
          </a:p>
        </p:txBody>
      </p:sp>
      <p:sp>
        <p:nvSpPr>
          <p:cNvPr id="7" name="TextBox 6"/>
          <p:cNvSpPr txBox="1"/>
          <p:nvPr/>
        </p:nvSpPr>
        <p:spPr>
          <a:xfrm>
            <a:off x="749808" y="457200"/>
            <a:ext cx="10789920" cy="566928"/>
          </a:xfrm>
          <a:prstGeom prst="rect">
            <a:avLst/>
          </a:prstGeom>
          <a:noFill/>
        </p:spPr>
        <p:txBody>
          <a:bodyPr wrap="square" lIns="0" tIns="0" rIns="0" bIns="0" anchor="ctr">
            <a:spAutoFit/>
          </a:bodyPr>
          <a:lstStyle/>
          <a:p>
            <a:pPr algn="l">
              <a:lnSpc>
                <a:spcPct val="100000"/>
              </a:lnSpc>
              <a:spcBef>
                <a:spcPts val="0"/>
              </a:spcBef>
              <a:spcAft>
                <a:spcPts val="600"/>
              </a:spcAft>
            </a:pPr>
            <a:r>
              <a:rPr sz="2500" b="1" i="0">
                <a:solidFill>
                  <a:srgbClr val="FFFFFF"/>
                </a:solidFill>
                <a:latin typeface="Segoe UI Semibold"/>
              </a:rPr>
              <a:t>Project Objectives</a:t>
            </a:r>
          </a:p>
        </p:txBody>
      </p:sp>
      <p:sp>
        <p:nvSpPr>
          <p:cNvPr id="8" name="Rectangle 7"/>
          <p:cNvSpPr/>
          <p:nvPr/>
        </p:nvSpPr>
        <p:spPr>
          <a:xfrm>
            <a:off x="502920" y="6419088"/>
            <a:ext cx="11183112" cy="12700"/>
          </a:xfrm>
          <a:prstGeom prst="rect">
            <a:avLst/>
          </a:prstGeom>
          <a:solidFill>
            <a:srgbClr val="D5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6455664"/>
            <a:ext cx="7315200" cy="274320"/>
          </a:xfrm>
          <a:prstGeom prst="rect">
            <a:avLst/>
          </a:prstGeom>
          <a:noFill/>
        </p:spPr>
        <p:txBody>
          <a:bodyPr wrap="square" lIns="0" tIns="0" rIns="0" bIns="0" anchor="t">
            <a:spAutoFit/>
          </a:bodyPr>
          <a:lstStyle/>
          <a:p>
            <a:pPr algn="l">
              <a:lnSpc>
                <a:spcPct val="100000"/>
              </a:lnSpc>
              <a:spcBef>
                <a:spcPts val="0"/>
              </a:spcBef>
              <a:spcAft>
                <a:spcPts val="600"/>
              </a:spcAft>
            </a:pPr>
            <a:r>
              <a:rPr sz="900" b="0" i="0">
                <a:solidFill>
                  <a:srgbClr val="5C6B7D"/>
                </a:solidFill>
                <a:latin typeface="Calibri"/>
              </a:rPr>
              <a:t>Muhammad Arif Danial Bin Mohd Anuar  ·  2024933617</a:t>
            </a:r>
          </a:p>
        </p:txBody>
      </p:sp>
      <p:sp>
        <p:nvSpPr>
          <p:cNvPr id="10" name="TextBox 9"/>
          <p:cNvSpPr txBox="1"/>
          <p:nvPr/>
        </p:nvSpPr>
        <p:spPr>
          <a:xfrm>
            <a:off x="10515600" y="6455664"/>
            <a:ext cx="1170432" cy="274320"/>
          </a:xfrm>
          <a:prstGeom prst="rect">
            <a:avLst/>
          </a:prstGeom>
          <a:noFill/>
        </p:spPr>
        <p:txBody>
          <a:bodyPr wrap="square" lIns="0" tIns="0" rIns="0" bIns="0" anchor="t">
            <a:spAutoFit/>
          </a:bodyPr>
          <a:lstStyle/>
          <a:p>
            <a:pPr algn="r">
              <a:lnSpc>
                <a:spcPct val="100000"/>
              </a:lnSpc>
              <a:spcBef>
                <a:spcPts val="0"/>
              </a:spcBef>
              <a:spcAft>
                <a:spcPts val="600"/>
              </a:spcAft>
            </a:pPr>
            <a:r>
              <a:rPr sz="900" b="0" i="0">
                <a:solidFill>
                  <a:srgbClr val="5C6B7D"/>
                </a:solidFill>
                <a:latin typeface="Calibri"/>
              </a:rPr>
              <a:t>KYROL Security Labs</a:t>
            </a:r>
          </a:p>
        </p:txBody>
      </p:sp>
      <p:sp>
        <p:nvSpPr>
          <p:cNvPr id="11" name="Rectangle 10"/>
          <p:cNvSpPr/>
          <p:nvPr/>
        </p:nvSpPr>
        <p:spPr>
          <a:xfrm>
            <a:off x="548640" y="1508760"/>
            <a:ext cx="5504688" cy="2084831"/>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2960" y="1801368"/>
            <a:ext cx="658368" cy="658368"/>
          </a:xfrm>
          <a:prstGeom prst="ellipse">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60" y="1819656"/>
            <a:ext cx="658368" cy="621792"/>
          </a:xfrm>
          <a:prstGeom prst="rect">
            <a:avLst/>
          </a:prstGeom>
          <a:noFill/>
        </p:spPr>
        <p:txBody>
          <a:bodyPr wrap="square" lIns="0" tIns="0" rIns="0" bIns="0" anchor="ctr">
            <a:spAutoFit/>
          </a:bodyPr>
          <a:lstStyle/>
          <a:p>
            <a:pPr algn="ctr">
              <a:lnSpc>
                <a:spcPct val="100000"/>
              </a:lnSpc>
              <a:spcBef>
                <a:spcPts val="0"/>
              </a:spcBef>
              <a:spcAft>
                <a:spcPts val="600"/>
              </a:spcAft>
            </a:pPr>
            <a:r>
              <a:rPr sz="2400" b="1" i="0">
                <a:solidFill>
                  <a:srgbClr val="FFFFFF"/>
                </a:solidFill>
                <a:latin typeface="Segoe UI Semibold"/>
              </a:rPr>
              <a:t>1</a:t>
            </a:r>
          </a:p>
        </p:txBody>
      </p:sp>
      <p:sp>
        <p:nvSpPr>
          <p:cNvPr id="14" name="TextBox 13"/>
          <p:cNvSpPr txBox="1"/>
          <p:nvPr/>
        </p:nvSpPr>
        <p:spPr>
          <a:xfrm>
            <a:off x="1691640" y="1837944"/>
            <a:ext cx="4133088" cy="822960"/>
          </a:xfrm>
          <a:prstGeom prst="rect">
            <a:avLst/>
          </a:prstGeom>
          <a:noFill/>
        </p:spPr>
        <p:txBody>
          <a:bodyPr wrap="square" lIns="0" tIns="0" rIns="0" bIns="0" anchor="ctr">
            <a:spAutoFit/>
          </a:bodyPr>
          <a:lstStyle/>
          <a:p>
            <a:pPr algn="l">
              <a:lnSpc>
                <a:spcPct val="100000"/>
              </a:lnSpc>
              <a:spcBef>
                <a:spcPts val="0"/>
              </a:spcBef>
              <a:spcAft>
                <a:spcPts val="600"/>
              </a:spcAft>
            </a:pPr>
            <a:r>
              <a:rPr sz="1750" b="1" i="0">
                <a:solidFill>
                  <a:srgbClr val="0F2A47"/>
                </a:solidFill>
                <a:latin typeface="Segoe UI Semibold"/>
              </a:rPr>
              <a:t>Eliminate manual errors</a:t>
            </a:r>
          </a:p>
        </p:txBody>
      </p:sp>
      <p:sp>
        <p:nvSpPr>
          <p:cNvPr id="15" name="TextBox 14"/>
          <p:cNvSpPr txBox="1"/>
          <p:nvPr/>
        </p:nvSpPr>
        <p:spPr>
          <a:xfrm>
            <a:off x="1691640" y="2651760"/>
            <a:ext cx="4087368" cy="822960"/>
          </a:xfrm>
          <a:prstGeom prst="rect">
            <a:avLst/>
          </a:prstGeom>
          <a:noFill/>
        </p:spPr>
        <p:txBody>
          <a:bodyPr wrap="square" lIns="0" tIns="0" rIns="0" bIns="0" anchor="t">
            <a:spAutoFit/>
          </a:bodyPr>
          <a:lstStyle/>
          <a:p>
            <a:pPr algn="l">
              <a:lnSpc>
                <a:spcPct val="110000"/>
              </a:lnSpc>
              <a:spcBef>
                <a:spcPts val="0"/>
              </a:spcBef>
              <a:spcAft>
                <a:spcPts val="600"/>
              </a:spcAft>
            </a:pPr>
            <a:r>
              <a:rPr sz="1300" b="0" i="0">
                <a:solidFill>
                  <a:srgbClr val="5C6B7D"/>
                </a:solidFill>
                <a:latin typeface="Calibri"/>
              </a:rPr>
              <a:t>Ensure no reminder is ever missed or delayed due to human oversight.</a:t>
            </a:r>
          </a:p>
        </p:txBody>
      </p:sp>
      <p:sp>
        <p:nvSpPr>
          <p:cNvPr id="16" name="Rectangle 15"/>
          <p:cNvSpPr/>
          <p:nvPr/>
        </p:nvSpPr>
        <p:spPr>
          <a:xfrm>
            <a:off x="6217920" y="1508760"/>
            <a:ext cx="5504688" cy="2084831"/>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6492240" y="1801368"/>
            <a:ext cx="658368" cy="658368"/>
          </a:xfrm>
          <a:prstGeom prst="ellipse">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92240" y="1819656"/>
            <a:ext cx="658368" cy="621792"/>
          </a:xfrm>
          <a:prstGeom prst="rect">
            <a:avLst/>
          </a:prstGeom>
          <a:noFill/>
        </p:spPr>
        <p:txBody>
          <a:bodyPr wrap="square" lIns="0" tIns="0" rIns="0" bIns="0" anchor="ctr">
            <a:spAutoFit/>
          </a:bodyPr>
          <a:lstStyle/>
          <a:p>
            <a:pPr algn="ctr">
              <a:lnSpc>
                <a:spcPct val="100000"/>
              </a:lnSpc>
              <a:spcBef>
                <a:spcPts val="0"/>
              </a:spcBef>
              <a:spcAft>
                <a:spcPts val="600"/>
              </a:spcAft>
            </a:pPr>
            <a:r>
              <a:rPr sz="2400" b="1" i="0">
                <a:solidFill>
                  <a:srgbClr val="FFFFFF"/>
                </a:solidFill>
                <a:latin typeface="Segoe UI Semibold"/>
              </a:rPr>
              <a:t>2</a:t>
            </a:r>
          </a:p>
        </p:txBody>
      </p:sp>
      <p:sp>
        <p:nvSpPr>
          <p:cNvPr id="19" name="TextBox 18"/>
          <p:cNvSpPr txBox="1"/>
          <p:nvPr/>
        </p:nvSpPr>
        <p:spPr>
          <a:xfrm>
            <a:off x="7360920" y="1837944"/>
            <a:ext cx="4133088" cy="822960"/>
          </a:xfrm>
          <a:prstGeom prst="rect">
            <a:avLst/>
          </a:prstGeom>
          <a:noFill/>
        </p:spPr>
        <p:txBody>
          <a:bodyPr wrap="square" lIns="0" tIns="0" rIns="0" bIns="0" anchor="ctr">
            <a:spAutoFit/>
          </a:bodyPr>
          <a:lstStyle/>
          <a:p>
            <a:pPr algn="l">
              <a:lnSpc>
                <a:spcPct val="100000"/>
              </a:lnSpc>
              <a:spcBef>
                <a:spcPts val="0"/>
              </a:spcBef>
              <a:spcAft>
                <a:spcPts val="600"/>
              </a:spcAft>
            </a:pPr>
            <a:r>
              <a:rPr sz="1750" b="1" i="0" dirty="0">
                <a:solidFill>
                  <a:srgbClr val="0F2A47"/>
                </a:solidFill>
                <a:latin typeface="Segoe UI Semibold"/>
              </a:rPr>
              <a:t>Increase operational efficiency</a:t>
            </a:r>
          </a:p>
        </p:txBody>
      </p:sp>
      <p:sp>
        <p:nvSpPr>
          <p:cNvPr id="20" name="TextBox 19"/>
          <p:cNvSpPr txBox="1"/>
          <p:nvPr/>
        </p:nvSpPr>
        <p:spPr>
          <a:xfrm>
            <a:off x="7360920" y="2651760"/>
            <a:ext cx="4087368" cy="822960"/>
          </a:xfrm>
          <a:prstGeom prst="rect">
            <a:avLst/>
          </a:prstGeom>
          <a:noFill/>
        </p:spPr>
        <p:txBody>
          <a:bodyPr wrap="square" lIns="0" tIns="0" rIns="0" bIns="0" anchor="t">
            <a:spAutoFit/>
          </a:bodyPr>
          <a:lstStyle/>
          <a:p>
            <a:pPr algn="l">
              <a:lnSpc>
                <a:spcPct val="110000"/>
              </a:lnSpc>
              <a:spcBef>
                <a:spcPts val="0"/>
              </a:spcBef>
              <a:spcAft>
                <a:spcPts val="600"/>
              </a:spcAft>
            </a:pPr>
            <a:r>
              <a:rPr sz="1300" b="0" i="0">
                <a:solidFill>
                  <a:srgbClr val="5C6B7D"/>
                </a:solidFill>
                <a:latin typeface="Calibri"/>
              </a:rPr>
              <a:t>Automate email generation and delivery so staff focus on higher-priority work.</a:t>
            </a:r>
          </a:p>
        </p:txBody>
      </p:sp>
      <p:sp>
        <p:nvSpPr>
          <p:cNvPr id="21" name="Rectangle 20"/>
          <p:cNvSpPr/>
          <p:nvPr/>
        </p:nvSpPr>
        <p:spPr>
          <a:xfrm>
            <a:off x="548640" y="3776471"/>
            <a:ext cx="5504688" cy="2084831"/>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22960" y="4069079"/>
            <a:ext cx="658368" cy="658368"/>
          </a:xfrm>
          <a:prstGeom prst="ellipse">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2960" y="4087367"/>
            <a:ext cx="658368" cy="621792"/>
          </a:xfrm>
          <a:prstGeom prst="rect">
            <a:avLst/>
          </a:prstGeom>
          <a:noFill/>
        </p:spPr>
        <p:txBody>
          <a:bodyPr wrap="square" lIns="0" tIns="0" rIns="0" bIns="0" anchor="ctr">
            <a:spAutoFit/>
          </a:bodyPr>
          <a:lstStyle/>
          <a:p>
            <a:pPr algn="ctr">
              <a:lnSpc>
                <a:spcPct val="100000"/>
              </a:lnSpc>
              <a:spcBef>
                <a:spcPts val="0"/>
              </a:spcBef>
              <a:spcAft>
                <a:spcPts val="600"/>
              </a:spcAft>
            </a:pPr>
            <a:r>
              <a:rPr sz="2400" b="1" i="0">
                <a:solidFill>
                  <a:srgbClr val="FFFFFF"/>
                </a:solidFill>
                <a:latin typeface="Segoe UI Semibold"/>
              </a:rPr>
              <a:t>3</a:t>
            </a:r>
          </a:p>
        </p:txBody>
      </p:sp>
      <p:sp>
        <p:nvSpPr>
          <p:cNvPr id="24" name="TextBox 23"/>
          <p:cNvSpPr txBox="1"/>
          <p:nvPr/>
        </p:nvSpPr>
        <p:spPr>
          <a:xfrm>
            <a:off x="1691640" y="4105655"/>
            <a:ext cx="4133088" cy="822960"/>
          </a:xfrm>
          <a:prstGeom prst="rect">
            <a:avLst/>
          </a:prstGeom>
          <a:noFill/>
        </p:spPr>
        <p:txBody>
          <a:bodyPr wrap="square" lIns="0" tIns="0" rIns="0" bIns="0" anchor="ctr">
            <a:spAutoFit/>
          </a:bodyPr>
          <a:lstStyle/>
          <a:p>
            <a:pPr algn="l">
              <a:lnSpc>
                <a:spcPct val="100000"/>
              </a:lnSpc>
              <a:spcBef>
                <a:spcPts val="0"/>
              </a:spcBef>
              <a:spcAft>
                <a:spcPts val="600"/>
              </a:spcAft>
            </a:pPr>
            <a:r>
              <a:rPr sz="1750" b="1" i="0">
                <a:solidFill>
                  <a:srgbClr val="0F2A47"/>
                </a:solidFill>
                <a:latin typeface="Segoe UI Semibold"/>
              </a:rPr>
              <a:t>Improve communication consistency</a:t>
            </a:r>
          </a:p>
        </p:txBody>
      </p:sp>
      <p:sp>
        <p:nvSpPr>
          <p:cNvPr id="25" name="TextBox 24"/>
          <p:cNvSpPr txBox="1"/>
          <p:nvPr/>
        </p:nvSpPr>
        <p:spPr>
          <a:xfrm>
            <a:off x="1691640" y="4919471"/>
            <a:ext cx="4087368" cy="822960"/>
          </a:xfrm>
          <a:prstGeom prst="rect">
            <a:avLst/>
          </a:prstGeom>
          <a:noFill/>
        </p:spPr>
        <p:txBody>
          <a:bodyPr wrap="square" lIns="0" tIns="0" rIns="0" bIns="0" anchor="t">
            <a:spAutoFit/>
          </a:bodyPr>
          <a:lstStyle/>
          <a:p>
            <a:pPr algn="l">
              <a:lnSpc>
                <a:spcPct val="110000"/>
              </a:lnSpc>
              <a:spcBef>
                <a:spcPts val="0"/>
              </a:spcBef>
              <a:spcAft>
                <a:spcPts val="600"/>
              </a:spcAft>
            </a:pPr>
            <a:r>
              <a:rPr sz="1300" b="0" i="0">
                <a:solidFill>
                  <a:srgbClr val="5C6B7D"/>
                </a:solidFill>
                <a:latin typeface="Calibri"/>
              </a:rPr>
              <a:t>Every client receives professional, timely, and uniform renewal information.</a:t>
            </a:r>
          </a:p>
        </p:txBody>
      </p:sp>
      <p:sp>
        <p:nvSpPr>
          <p:cNvPr id="26" name="Rectangle 25"/>
          <p:cNvSpPr/>
          <p:nvPr/>
        </p:nvSpPr>
        <p:spPr>
          <a:xfrm>
            <a:off x="6217920" y="3776471"/>
            <a:ext cx="5504688" cy="2084831"/>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6492240" y="4069079"/>
            <a:ext cx="658368" cy="658368"/>
          </a:xfrm>
          <a:prstGeom prst="ellipse">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492240" y="4087367"/>
            <a:ext cx="658368" cy="621792"/>
          </a:xfrm>
          <a:prstGeom prst="rect">
            <a:avLst/>
          </a:prstGeom>
          <a:noFill/>
        </p:spPr>
        <p:txBody>
          <a:bodyPr wrap="square" lIns="0" tIns="0" rIns="0" bIns="0" anchor="ctr">
            <a:spAutoFit/>
          </a:bodyPr>
          <a:lstStyle/>
          <a:p>
            <a:pPr algn="ctr">
              <a:lnSpc>
                <a:spcPct val="100000"/>
              </a:lnSpc>
              <a:spcBef>
                <a:spcPts val="0"/>
              </a:spcBef>
              <a:spcAft>
                <a:spcPts val="600"/>
              </a:spcAft>
            </a:pPr>
            <a:r>
              <a:rPr sz="2400" b="1" i="0">
                <a:solidFill>
                  <a:srgbClr val="FFFFFF"/>
                </a:solidFill>
                <a:latin typeface="Segoe UI Semibold"/>
              </a:rPr>
              <a:t>4</a:t>
            </a:r>
          </a:p>
        </p:txBody>
      </p:sp>
      <p:sp>
        <p:nvSpPr>
          <p:cNvPr id="29" name="TextBox 28"/>
          <p:cNvSpPr txBox="1"/>
          <p:nvPr/>
        </p:nvSpPr>
        <p:spPr>
          <a:xfrm>
            <a:off x="7360920" y="4105655"/>
            <a:ext cx="4133088" cy="822960"/>
          </a:xfrm>
          <a:prstGeom prst="rect">
            <a:avLst/>
          </a:prstGeom>
          <a:noFill/>
        </p:spPr>
        <p:txBody>
          <a:bodyPr wrap="square" lIns="0" tIns="0" rIns="0" bIns="0" anchor="ctr">
            <a:spAutoFit/>
          </a:bodyPr>
          <a:lstStyle/>
          <a:p>
            <a:pPr algn="l">
              <a:lnSpc>
                <a:spcPct val="100000"/>
              </a:lnSpc>
              <a:spcBef>
                <a:spcPts val="0"/>
              </a:spcBef>
              <a:spcAft>
                <a:spcPts val="600"/>
              </a:spcAft>
            </a:pPr>
            <a:r>
              <a:rPr sz="1750" b="1" i="0">
                <a:solidFill>
                  <a:srgbClr val="0F2A47"/>
                </a:solidFill>
                <a:latin typeface="Segoe UI Semibold"/>
              </a:rPr>
              <a:t>Build a scalable framework</a:t>
            </a:r>
          </a:p>
        </p:txBody>
      </p:sp>
      <p:sp>
        <p:nvSpPr>
          <p:cNvPr id="30" name="TextBox 29"/>
          <p:cNvSpPr txBox="1"/>
          <p:nvPr/>
        </p:nvSpPr>
        <p:spPr>
          <a:xfrm>
            <a:off x="7360920" y="4919471"/>
            <a:ext cx="4087368" cy="822960"/>
          </a:xfrm>
          <a:prstGeom prst="rect">
            <a:avLst/>
          </a:prstGeom>
          <a:noFill/>
        </p:spPr>
        <p:txBody>
          <a:bodyPr wrap="square" lIns="0" tIns="0" rIns="0" bIns="0" anchor="t">
            <a:spAutoFit/>
          </a:bodyPr>
          <a:lstStyle/>
          <a:p>
            <a:pPr algn="l">
              <a:lnSpc>
                <a:spcPct val="110000"/>
              </a:lnSpc>
              <a:spcBef>
                <a:spcPts val="0"/>
              </a:spcBef>
              <a:spcAft>
                <a:spcPts val="600"/>
              </a:spcAft>
            </a:pPr>
            <a:r>
              <a:rPr sz="1300" b="0" i="0">
                <a:solidFill>
                  <a:srgbClr val="5C6B7D"/>
                </a:solidFill>
                <a:latin typeface="Calibri"/>
              </a:rPr>
              <a:t>Reliably handle current workload while remaining easy to update or expand.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8920" y="0"/>
            <a:ext cx="12191695" cy="6858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78992"/>
          </a:xfrm>
          <a:prstGeom prst="rect">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78992"/>
            <a:ext cx="12191695" cy="5029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02920" y="274320"/>
            <a:ext cx="100584" cy="53035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82880"/>
            <a:ext cx="10789920" cy="310896"/>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9FC1E6"/>
                </a:solidFill>
                <a:latin typeface="Segoe UI"/>
              </a:rPr>
              <a:t>CHAPTER 3 · MAIN PROJECT</a:t>
            </a:r>
          </a:p>
        </p:txBody>
      </p:sp>
      <p:sp>
        <p:nvSpPr>
          <p:cNvPr id="7" name="TextBox 6"/>
          <p:cNvSpPr txBox="1"/>
          <p:nvPr/>
        </p:nvSpPr>
        <p:spPr>
          <a:xfrm>
            <a:off x="749808" y="457200"/>
            <a:ext cx="10789920" cy="566928"/>
          </a:xfrm>
          <a:prstGeom prst="rect">
            <a:avLst/>
          </a:prstGeom>
          <a:noFill/>
        </p:spPr>
        <p:txBody>
          <a:bodyPr wrap="square" lIns="0" tIns="0" rIns="0" bIns="0" anchor="ctr">
            <a:spAutoFit/>
          </a:bodyPr>
          <a:lstStyle/>
          <a:p>
            <a:pPr algn="l">
              <a:lnSpc>
                <a:spcPct val="100000"/>
              </a:lnSpc>
              <a:spcBef>
                <a:spcPts val="0"/>
              </a:spcBef>
              <a:spcAft>
                <a:spcPts val="600"/>
              </a:spcAft>
            </a:pPr>
            <a:r>
              <a:rPr sz="2500" b="1" i="0">
                <a:solidFill>
                  <a:srgbClr val="FFFFFF"/>
                </a:solidFill>
                <a:latin typeface="Segoe UI Semibold"/>
              </a:rPr>
              <a:t>Hardware &amp; Software Requirements</a:t>
            </a:r>
          </a:p>
        </p:txBody>
      </p:sp>
      <p:sp>
        <p:nvSpPr>
          <p:cNvPr id="8" name="Rectangle 7"/>
          <p:cNvSpPr/>
          <p:nvPr/>
        </p:nvSpPr>
        <p:spPr>
          <a:xfrm>
            <a:off x="502920" y="6419088"/>
            <a:ext cx="11183112" cy="12700"/>
          </a:xfrm>
          <a:prstGeom prst="rect">
            <a:avLst/>
          </a:prstGeom>
          <a:solidFill>
            <a:srgbClr val="D5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6455664"/>
            <a:ext cx="7315200" cy="274320"/>
          </a:xfrm>
          <a:prstGeom prst="rect">
            <a:avLst/>
          </a:prstGeom>
          <a:noFill/>
        </p:spPr>
        <p:txBody>
          <a:bodyPr wrap="square" lIns="0" tIns="0" rIns="0" bIns="0" anchor="t">
            <a:spAutoFit/>
          </a:bodyPr>
          <a:lstStyle/>
          <a:p>
            <a:pPr algn="l">
              <a:lnSpc>
                <a:spcPct val="100000"/>
              </a:lnSpc>
              <a:spcBef>
                <a:spcPts val="0"/>
              </a:spcBef>
              <a:spcAft>
                <a:spcPts val="600"/>
              </a:spcAft>
            </a:pPr>
            <a:r>
              <a:rPr sz="900" b="0" i="0">
                <a:solidFill>
                  <a:srgbClr val="5C6B7D"/>
                </a:solidFill>
                <a:latin typeface="Calibri"/>
              </a:rPr>
              <a:t>Muhammad Arif Danial Bin Mohd Anuar  ·  2024933617</a:t>
            </a:r>
          </a:p>
        </p:txBody>
      </p:sp>
      <p:sp>
        <p:nvSpPr>
          <p:cNvPr id="10" name="TextBox 9"/>
          <p:cNvSpPr txBox="1"/>
          <p:nvPr/>
        </p:nvSpPr>
        <p:spPr>
          <a:xfrm>
            <a:off x="10515600" y="6455664"/>
            <a:ext cx="1170432" cy="274320"/>
          </a:xfrm>
          <a:prstGeom prst="rect">
            <a:avLst/>
          </a:prstGeom>
          <a:noFill/>
        </p:spPr>
        <p:txBody>
          <a:bodyPr wrap="square" lIns="0" tIns="0" rIns="0" bIns="0" anchor="t">
            <a:spAutoFit/>
          </a:bodyPr>
          <a:lstStyle/>
          <a:p>
            <a:pPr algn="r">
              <a:lnSpc>
                <a:spcPct val="100000"/>
              </a:lnSpc>
              <a:spcBef>
                <a:spcPts val="0"/>
              </a:spcBef>
              <a:spcAft>
                <a:spcPts val="600"/>
              </a:spcAft>
            </a:pPr>
            <a:r>
              <a:rPr sz="900" b="0" i="0">
                <a:solidFill>
                  <a:srgbClr val="5C6B7D"/>
                </a:solidFill>
                <a:latin typeface="Calibri"/>
              </a:rPr>
              <a:t>KYROL Security Labs</a:t>
            </a:r>
          </a:p>
        </p:txBody>
      </p:sp>
      <p:sp>
        <p:nvSpPr>
          <p:cNvPr id="11" name="Rectangle 10"/>
          <p:cNvSpPr/>
          <p:nvPr/>
        </p:nvSpPr>
        <p:spPr>
          <a:xfrm>
            <a:off x="548640" y="1554480"/>
            <a:ext cx="3639312" cy="4297680"/>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48640" y="1554480"/>
            <a:ext cx="3639312" cy="603504"/>
          </a:xfrm>
          <a:prstGeom prst="rect">
            <a:avLst/>
          </a:prstGeom>
          <a:solidFill>
            <a:srgbClr val="2E6B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1572768"/>
            <a:ext cx="3639312" cy="566928"/>
          </a:xfrm>
          <a:prstGeom prst="rect">
            <a:avLst/>
          </a:prstGeom>
          <a:noFill/>
        </p:spPr>
        <p:txBody>
          <a:bodyPr wrap="square" lIns="0" tIns="0" rIns="0" bIns="0" anchor="ctr">
            <a:spAutoFit/>
          </a:bodyPr>
          <a:lstStyle/>
          <a:p>
            <a:pPr algn="ctr">
              <a:lnSpc>
                <a:spcPct val="100000"/>
              </a:lnSpc>
              <a:spcBef>
                <a:spcPts val="0"/>
              </a:spcBef>
              <a:spcAft>
                <a:spcPts val="600"/>
              </a:spcAft>
            </a:pPr>
            <a:r>
              <a:rPr sz="1350" b="1" i="0">
                <a:solidFill>
                  <a:srgbClr val="FFFFFF"/>
                </a:solidFill>
                <a:latin typeface="Segoe UI"/>
              </a:rPr>
              <a:t>LANGUAGE &amp; TOOLS</a:t>
            </a:r>
          </a:p>
        </p:txBody>
      </p:sp>
      <p:sp>
        <p:nvSpPr>
          <p:cNvPr id="14" name="TextBox 13"/>
          <p:cNvSpPr txBox="1"/>
          <p:nvPr/>
        </p:nvSpPr>
        <p:spPr>
          <a:xfrm>
            <a:off x="822960" y="2423160"/>
            <a:ext cx="3136392" cy="3291840"/>
          </a:xfrm>
          <a:prstGeom prst="rect">
            <a:avLst/>
          </a:prstGeom>
          <a:noFill/>
        </p:spPr>
        <p:txBody>
          <a:bodyPr wrap="square" lIns="0" tIns="0" rIns="0" bIns="0">
            <a:spAutoFit/>
          </a:bodyPr>
          <a:lstStyle/>
          <a:p>
            <a:pPr marL="274320" indent="-237744">
              <a:lnSpc>
                <a:spcPct val="105000"/>
              </a:lnSpc>
              <a:spcBef>
                <a:spcPts val="0"/>
              </a:spcBef>
              <a:spcAft>
                <a:spcPts val="1500"/>
              </a:spcAft>
            </a:pPr>
            <a:r>
              <a:rPr sz="1300" b="1">
                <a:solidFill>
                  <a:srgbClr val="2E6BB0"/>
                </a:solidFill>
                <a:latin typeface="Calibri"/>
              </a:rPr>
              <a:t>▸  </a:t>
            </a:r>
            <a:r>
              <a:rPr sz="1300" b="0">
                <a:solidFill>
                  <a:srgbClr val="1E2A36"/>
                </a:solidFill>
                <a:latin typeface="Calibri"/>
              </a:rPr>
              <a:t>Python 3.12 — core automation logic</a:t>
            </a:r>
          </a:p>
          <a:p>
            <a:pPr marL="274320" indent="-237744">
              <a:lnSpc>
                <a:spcPct val="105000"/>
              </a:lnSpc>
              <a:spcBef>
                <a:spcPts val="0"/>
              </a:spcBef>
              <a:spcAft>
                <a:spcPts val="1500"/>
              </a:spcAft>
            </a:pPr>
            <a:r>
              <a:rPr sz="1300" b="1">
                <a:solidFill>
                  <a:srgbClr val="2E6BB0"/>
                </a:solidFill>
                <a:latin typeface="Calibri"/>
              </a:rPr>
              <a:t>▸  </a:t>
            </a:r>
            <a:r>
              <a:rPr sz="1300" b="0">
                <a:solidFill>
                  <a:srgbClr val="1E2A36"/>
                </a:solidFill>
                <a:latin typeface="Calibri"/>
              </a:rPr>
              <a:t>Visual Studio Code — IDE</a:t>
            </a:r>
          </a:p>
          <a:p>
            <a:pPr marL="274320" indent="-237744">
              <a:lnSpc>
                <a:spcPct val="105000"/>
              </a:lnSpc>
              <a:spcBef>
                <a:spcPts val="0"/>
              </a:spcBef>
              <a:spcAft>
                <a:spcPts val="1500"/>
              </a:spcAft>
            </a:pPr>
            <a:r>
              <a:rPr sz="1300" b="1">
                <a:solidFill>
                  <a:srgbClr val="2E6BB0"/>
                </a:solidFill>
                <a:latin typeface="Calibri"/>
              </a:rPr>
              <a:t>▸  </a:t>
            </a:r>
            <a:r>
              <a:rPr sz="1300" b="0">
                <a:solidFill>
                  <a:srgbClr val="1E2A36"/>
                </a:solidFill>
                <a:latin typeface="Calibri"/>
              </a:rPr>
              <a:t>pandas — parse clients.xlsx</a:t>
            </a:r>
          </a:p>
          <a:p>
            <a:pPr marL="274320" indent="-237744">
              <a:lnSpc>
                <a:spcPct val="105000"/>
              </a:lnSpc>
              <a:spcBef>
                <a:spcPts val="0"/>
              </a:spcBef>
              <a:spcAft>
                <a:spcPts val="1500"/>
              </a:spcAft>
            </a:pPr>
            <a:r>
              <a:rPr sz="1300" b="1">
                <a:solidFill>
                  <a:srgbClr val="2E6BB0"/>
                </a:solidFill>
                <a:latin typeface="Calibri"/>
              </a:rPr>
              <a:t>▸  </a:t>
            </a:r>
            <a:r>
              <a:rPr sz="1300" b="0">
                <a:solidFill>
                  <a:srgbClr val="1E2A36"/>
                </a:solidFill>
                <a:latin typeface="Calibri"/>
              </a:rPr>
              <a:t>smtplib — secure mail transport</a:t>
            </a:r>
          </a:p>
        </p:txBody>
      </p:sp>
      <p:sp>
        <p:nvSpPr>
          <p:cNvPr id="15" name="Rectangle 14"/>
          <p:cNvSpPr/>
          <p:nvPr/>
        </p:nvSpPr>
        <p:spPr>
          <a:xfrm>
            <a:off x="4361688" y="1554480"/>
            <a:ext cx="3639312" cy="4297680"/>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361688" y="1554480"/>
            <a:ext cx="3639312" cy="603504"/>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361688" y="1572768"/>
            <a:ext cx="3639312" cy="566928"/>
          </a:xfrm>
          <a:prstGeom prst="rect">
            <a:avLst/>
          </a:prstGeom>
          <a:noFill/>
        </p:spPr>
        <p:txBody>
          <a:bodyPr wrap="square" lIns="0" tIns="0" rIns="0" bIns="0" anchor="ctr">
            <a:spAutoFit/>
          </a:bodyPr>
          <a:lstStyle/>
          <a:p>
            <a:pPr algn="ctr">
              <a:lnSpc>
                <a:spcPct val="100000"/>
              </a:lnSpc>
              <a:spcBef>
                <a:spcPts val="0"/>
              </a:spcBef>
              <a:spcAft>
                <a:spcPts val="600"/>
              </a:spcAft>
            </a:pPr>
            <a:r>
              <a:rPr sz="1350" b="1" i="0">
                <a:solidFill>
                  <a:srgbClr val="FFFFFF"/>
                </a:solidFill>
                <a:latin typeface="Segoe UI"/>
              </a:rPr>
              <a:t>DEPLOYMENT</a:t>
            </a:r>
          </a:p>
        </p:txBody>
      </p:sp>
      <p:sp>
        <p:nvSpPr>
          <p:cNvPr id="18" name="TextBox 17"/>
          <p:cNvSpPr txBox="1"/>
          <p:nvPr/>
        </p:nvSpPr>
        <p:spPr>
          <a:xfrm>
            <a:off x="4636008" y="2423160"/>
            <a:ext cx="3136392" cy="3291840"/>
          </a:xfrm>
          <a:prstGeom prst="rect">
            <a:avLst/>
          </a:prstGeom>
          <a:noFill/>
        </p:spPr>
        <p:txBody>
          <a:bodyPr wrap="square" lIns="0" tIns="0" rIns="0" bIns="0">
            <a:spAutoFit/>
          </a:bodyPr>
          <a:lstStyle/>
          <a:p>
            <a:pPr marL="274320" indent="-237744">
              <a:lnSpc>
                <a:spcPct val="105000"/>
              </a:lnSpc>
              <a:spcBef>
                <a:spcPts val="0"/>
              </a:spcBef>
              <a:spcAft>
                <a:spcPts val="1500"/>
              </a:spcAft>
            </a:pPr>
            <a:r>
              <a:rPr sz="1300" b="1" dirty="0">
                <a:solidFill>
                  <a:srgbClr val="E8821E"/>
                </a:solidFill>
                <a:latin typeface="Calibri"/>
              </a:rPr>
              <a:t>▸  </a:t>
            </a:r>
            <a:r>
              <a:rPr sz="1300" b="0" dirty="0">
                <a:solidFill>
                  <a:srgbClr val="1E2A36"/>
                </a:solidFill>
                <a:latin typeface="Calibri"/>
              </a:rPr>
              <a:t>Docker — containerized packaging</a:t>
            </a:r>
          </a:p>
          <a:p>
            <a:pPr marL="274320" indent="-237744">
              <a:lnSpc>
                <a:spcPct val="105000"/>
              </a:lnSpc>
              <a:spcBef>
                <a:spcPts val="0"/>
              </a:spcBef>
              <a:spcAft>
                <a:spcPts val="1500"/>
              </a:spcAft>
            </a:pPr>
            <a:r>
              <a:rPr sz="1300" b="1" dirty="0">
                <a:solidFill>
                  <a:srgbClr val="E8821E"/>
                </a:solidFill>
                <a:latin typeface="Calibri"/>
              </a:rPr>
              <a:t>▸  </a:t>
            </a:r>
            <a:r>
              <a:rPr sz="1300" b="0" dirty="0">
                <a:solidFill>
                  <a:srgbClr val="1E2A36"/>
                </a:solidFill>
                <a:latin typeface="Calibri"/>
              </a:rPr>
              <a:t>GitHub Actions — CI/CD pipeline</a:t>
            </a:r>
          </a:p>
          <a:p>
            <a:pPr marL="274320" indent="-237744">
              <a:lnSpc>
                <a:spcPct val="105000"/>
              </a:lnSpc>
              <a:spcBef>
                <a:spcPts val="0"/>
              </a:spcBef>
              <a:spcAft>
                <a:spcPts val="1500"/>
              </a:spcAft>
            </a:pPr>
            <a:r>
              <a:rPr sz="1300" b="1" dirty="0">
                <a:solidFill>
                  <a:srgbClr val="E8821E"/>
                </a:solidFill>
                <a:latin typeface="Calibri"/>
              </a:rPr>
              <a:t>▸  </a:t>
            </a:r>
            <a:r>
              <a:rPr sz="1300" b="0" dirty="0">
                <a:solidFill>
                  <a:srgbClr val="1E2A36"/>
                </a:solidFill>
                <a:latin typeface="Calibri"/>
              </a:rPr>
              <a:t>Windows Server 2019 — production</a:t>
            </a:r>
          </a:p>
          <a:p>
            <a:pPr marL="274320" indent="-237744">
              <a:lnSpc>
                <a:spcPct val="105000"/>
              </a:lnSpc>
              <a:spcBef>
                <a:spcPts val="0"/>
              </a:spcBef>
              <a:spcAft>
                <a:spcPts val="1500"/>
              </a:spcAft>
            </a:pPr>
            <a:r>
              <a:rPr sz="1300" b="1" dirty="0">
                <a:solidFill>
                  <a:srgbClr val="E8821E"/>
                </a:solidFill>
                <a:latin typeface="Calibri"/>
              </a:rPr>
              <a:t>▸  </a:t>
            </a:r>
            <a:r>
              <a:rPr sz="1300" b="0" dirty="0">
                <a:solidFill>
                  <a:srgbClr val="1E2A36"/>
                </a:solidFill>
                <a:latin typeface="Calibri"/>
              </a:rPr>
              <a:t>Task Scheduler — daily trigger</a:t>
            </a:r>
          </a:p>
        </p:txBody>
      </p:sp>
      <p:sp>
        <p:nvSpPr>
          <p:cNvPr id="19" name="Rectangle 18"/>
          <p:cNvSpPr/>
          <p:nvPr/>
        </p:nvSpPr>
        <p:spPr>
          <a:xfrm>
            <a:off x="8174736" y="1554480"/>
            <a:ext cx="3639312" cy="4297680"/>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174736" y="1554480"/>
            <a:ext cx="3639312" cy="603504"/>
          </a:xfrm>
          <a:prstGeom prst="rect">
            <a:avLst/>
          </a:prstGeom>
          <a:solidFill>
            <a:srgbClr val="1E7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174736" y="1572768"/>
            <a:ext cx="3639312" cy="566928"/>
          </a:xfrm>
          <a:prstGeom prst="rect">
            <a:avLst/>
          </a:prstGeom>
          <a:noFill/>
        </p:spPr>
        <p:txBody>
          <a:bodyPr wrap="square" lIns="0" tIns="0" rIns="0" bIns="0" anchor="ctr">
            <a:spAutoFit/>
          </a:bodyPr>
          <a:lstStyle/>
          <a:p>
            <a:pPr algn="ctr">
              <a:lnSpc>
                <a:spcPct val="100000"/>
              </a:lnSpc>
              <a:spcBef>
                <a:spcPts val="0"/>
              </a:spcBef>
              <a:spcAft>
                <a:spcPts val="600"/>
              </a:spcAft>
            </a:pPr>
            <a:r>
              <a:rPr sz="1350" b="1" i="0">
                <a:solidFill>
                  <a:srgbClr val="FFFFFF"/>
                </a:solidFill>
                <a:latin typeface="Segoe UI"/>
              </a:rPr>
              <a:t>DATA &amp; PROTOCOLS</a:t>
            </a:r>
          </a:p>
        </p:txBody>
      </p:sp>
      <p:sp>
        <p:nvSpPr>
          <p:cNvPr id="22" name="TextBox 21"/>
          <p:cNvSpPr txBox="1"/>
          <p:nvPr/>
        </p:nvSpPr>
        <p:spPr>
          <a:xfrm>
            <a:off x="8449056" y="2423160"/>
            <a:ext cx="3136392" cy="1407501"/>
          </a:xfrm>
          <a:prstGeom prst="rect">
            <a:avLst/>
          </a:prstGeom>
          <a:noFill/>
        </p:spPr>
        <p:txBody>
          <a:bodyPr wrap="square" lIns="0" tIns="0" rIns="0" bIns="0">
            <a:spAutoFit/>
          </a:bodyPr>
          <a:lstStyle/>
          <a:p>
            <a:pPr marL="274320" indent="-237744">
              <a:lnSpc>
                <a:spcPct val="105000"/>
              </a:lnSpc>
              <a:spcBef>
                <a:spcPts val="0"/>
              </a:spcBef>
              <a:spcAft>
                <a:spcPts val="1500"/>
              </a:spcAft>
            </a:pPr>
            <a:r>
              <a:rPr sz="1300" b="1" dirty="0">
                <a:solidFill>
                  <a:srgbClr val="1E7A4C"/>
                </a:solidFill>
                <a:latin typeface="Calibri"/>
              </a:rPr>
              <a:t>▸  </a:t>
            </a:r>
            <a:r>
              <a:rPr sz="1300" b="0" dirty="0">
                <a:solidFill>
                  <a:srgbClr val="1E2A36"/>
                </a:solidFill>
                <a:latin typeface="Calibri"/>
              </a:rPr>
              <a:t>.xlsx / .csv — client records</a:t>
            </a:r>
            <a:r>
              <a:rPr lang="en-US" sz="1300" b="0" dirty="0">
                <a:solidFill>
                  <a:srgbClr val="1E2A36"/>
                </a:solidFill>
                <a:latin typeface="Calibri"/>
              </a:rPr>
              <a:t> (CRUD)</a:t>
            </a:r>
            <a:endParaRPr sz="1300" b="0" dirty="0">
              <a:solidFill>
                <a:srgbClr val="1E2A36"/>
              </a:solidFill>
              <a:latin typeface="Calibri"/>
            </a:endParaRPr>
          </a:p>
          <a:p>
            <a:pPr marL="274320" indent="-237744">
              <a:lnSpc>
                <a:spcPct val="105000"/>
              </a:lnSpc>
              <a:spcBef>
                <a:spcPts val="0"/>
              </a:spcBef>
              <a:spcAft>
                <a:spcPts val="1500"/>
              </a:spcAft>
            </a:pPr>
            <a:r>
              <a:rPr sz="1300" b="1" dirty="0">
                <a:solidFill>
                  <a:srgbClr val="1E7A4C"/>
                </a:solidFill>
                <a:latin typeface="Calibri"/>
              </a:rPr>
              <a:t>▸  </a:t>
            </a:r>
            <a:r>
              <a:rPr sz="1300" b="0" dirty="0">
                <a:solidFill>
                  <a:srgbClr val="1E2A36"/>
                </a:solidFill>
                <a:latin typeface="Calibri"/>
              </a:rPr>
              <a:t>.</a:t>
            </a:r>
            <a:r>
              <a:rPr sz="1300" b="0" dirty="0" err="1">
                <a:solidFill>
                  <a:srgbClr val="1E2A36"/>
                </a:solidFill>
                <a:latin typeface="Calibri"/>
              </a:rPr>
              <a:t>json</a:t>
            </a:r>
            <a:r>
              <a:rPr sz="1300" b="0" dirty="0">
                <a:solidFill>
                  <a:srgbClr val="1E2A36"/>
                </a:solidFill>
                <a:latin typeface="Calibri"/>
              </a:rPr>
              <a:t> — sent-log state (</a:t>
            </a:r>
            <a:r>
              <a:rPr sz="1300" b="0" dirty="0" err="1">
                <a:solidFill>
                  <a:srgbClr val="1E2A36"/>
                </a:solidFill>
                <a:latin typeface="Calibri"/>
              </a:rPr>
              <a:t>dedup</a:t>
            </a:r>
            <a:r>
              <a:rPr sz="1300" b="0" dirty="0">
                <a:solidFill>
                  <a:srgbClr val="1E2A36"/>
                </a:solidFill>
                <a:latin typeface="Calibri"/>
              </a:rPr>
              <a:t>)</a:t>
            </a:r>
          </a:p>
          <a:p>
            <a:pPr marL="274320" indent="-237744">
              <a:lnSpc>
                <a:spcPct val="105000"/>
              </a:lnSpc>
              <a:spcBef>
                <a:spcPts val="0"/>
              </a:spcBef>
              <a:spcAft>
                <a:spcPts val="1500"/>
              </a:spcAft>
            </a:pPr>
            <a:r>
              <a:rPr sz="1300" b="1" dirty="0">
                <a:solidFill>
                  <a:srgbClr val="1E7A4C"/>
                </a:solidFill>
                <a:latin typeface="Calibri"/>
              </a:rPr>
              <a:t>▸  </a:t>
            </a:r>
            <a:r>
              <a:rPr sz="1300" b="0" dirty="0">
                <a:solidFill>
                  <a:srgbClr val="1E2A36"/>
                </a:solidFill>
                <a:latin typeface="Calibri"/>
              </a:rPr>
              <a:t>SMTP over TLS (port 587)</a:t>
            </a:r>
          </a:p>
          <a:p>
            <a:pPr marL="274320" indent="-237744">
              <a:lnSpc>
                <a:spcPct val="105000"/>
              </a:lnSpc>
              <a:spcBef>
                <a:spcPts val="0"/>
              </a:spcBef>
              <a:spcAft>
                <a:spcPts val="1500"/>
              </a:spcAft>
            </a:pPr>
            <a:r>
              <a:rPr sz="1300" b="1" dirty="0">
                <a:solidFill>
                  <a:srgbClr val="1E7A4C"/>
                </a:solidFill>
                <a:latin typeface="Calibri"/>
              </a:rPr>
              <a:t>▸  </a:t>
            </a:r>
            <a:r>
              <a:rPr sz="1300" b="0" dirty="0">
                <a:solidFill>
                  <a:srgbClr val="1E2A36"/>
                </a:solidFill>
                <a:latin typeface="Calibri"/>
              </a:rPr>
              <a:t>noreply@kyrolsecuritylabs.com</a:t>
            </a:r>
          </a:p>
        </p:txBody>
      </p:sp>
      <p:pic>
        <p:nvPicPr>
          <p:cNvPr id="26" name="Picture 25">
            <a:extLst>
              <a:ext uri="{FF2B5EF4-FFF2-40B4-BE49-F238E27FC236}">
                <a16:creationId xmlns:a16="http://schemas.microsoft.com/office/drawing/2014/main" id="{A5F9198F-15FC-888F-F7C8-D6C1FB19450B}"/>
              </a:ext>
            </a:extLst>
          </p:cNvPr>
          <p:cNvPicPr>
            <a:picLocks noChangeAspect="1"/>
          </p:cNvPicPr>
          <p:nvPr/>
        </p:nvPicPr>
        <p:blipFill>
          <a:blip r:embed="rId3"/>
          <a:stretch>
            <a:fillRect/>
          </a:stretch>
        </p:blipFill>
        <p:spPr>
          <a:xfrm>
            <a:off x="1097934" y="4192404"/>
            <a:ext cx="742950" cy="742950"/>
          </a:xfrm>
          <a:prstGeom prst="rect">
            <a:avLst/>
          </a:prstGeom>
        </p:spPr>
      </p:pic>
      <p:pic>
        <p:nvPicPr>
          <p:cNvPr id="28" name="Picture 27">
            <a:extLst>
              <a:ext uri="{FF2B5EF4-FFF2-40B4-BE49-F238E27FC236}">
                <a16:creationId xmlns:a16="http://schemas.microsoft.com/office/drawing/2014/main" id="{A7ADDCB2-9928-9962-4907-C770026DDBAD}"/>
              </a:ext>
            </a:extLst>
          </p:cNvPr>
          <p:cNvPicPr>
            <a:picLocks noChangeAspect="1"/>
          </p:cNvPicPr>
          <p:nvPr/>
        </p:nvPicPr>
        <p:blipFill>
          <a:blip r:embed="rId4"/>
          <a:stretch>
            <a:fillRect/>
          </a:stretch>
        </p:blipFill>
        <p:spPr>
          <a:xfrm>
            <a:off x="4834749" y="4007300"/>
            <a:ext cx="910657" cy="910657"/>
          </a:xfrm>
          <a:prstGeom prst="rect">
            <a:avLst/>
          </a:prstGeom>
        </p:spPr>
      </p:pic>
      <p:pic>
        <p:nvPicPr>
          <p:cNvPr id="30" name="Picture 29">
            <a:extLst>
              <a:ext uri="{FF2B5EF4-FFF2-40B4-BE49-F238E27FC236}">
                <a16:creationId xmlns:a16="http://schemas.microsoft.com/office/drawing/2014/main" id="{5610AF74-0A88-AF1E-F10F-5DB3058BE3E1}"/>
              </a:ext>
            </a:extLst>
          </p:cNvPr>
          <p:cNvPicPr>
            <a:picLocks noChangeAspect="1"/>
          </p:cNvPicPr>
          <p:nvPr/>
        </p:nvPicPr>
        <p:blipFill>
          <a:blip r:embed="rId5"/>
          <a:stretch>
            <a:fillRect/>
          </a:stretch>
        </p:blipFill>
        <p:spPr>
          <a:xfrm>
            <a:off x="5905415" y="4166616"/>
            <a:ext cx="1694417" cy="627050"/>
          </a:xfrm>
          <a:prstGeom prst="rect">
            <a:avLst/>
          </a:prstGeom>
        </p:spPr>
      </p:pic>
      <p:pic>
        <p:nvPicPr>
          <p:cNvPr id="32" name="Picture 31">
            <a:extLst>
              <a:ext uri="{FF2B5EF4-FFF2-40B4-BE49-F238E27FC236}">
                <a16:creationId xmlns:a16="http://schemas.microsoft.com/office/drawing/2014/main" id="{A046BF1B-CC63-BD99-3A63-C2BC69C5123D}"/>
              </a:ext>
            </a:extLst>
          </p:cNvPr>
          <p:cNvPicPr>
            <a:picLocks noChangeAspect="1"/>
          </p:cNvPicPr>
          <p:nvPr/>
        </p:nvPicPr>
        <p:blipFill>
          <a:blip r:embed="rId6"/>
          <a:stretch>
            <a:fillRect/>
          </a:stretch>
        </p:blipFill>
        <p:spPr>
          <a:xfrm>
            <a:off x="5439648" y="4915191"/>
            <a:ext cx="1604656" cy="627050"/>
          </a:xfrm>
          <a:prstGeom prst="rect">
            <a:avLst/>
          </a:prstGeom>
        </p:spPr>
      </p:pic>
      <p:pic>
        <p:nvPicPr>
          <p:cNvPr id="34" name="Picture 33">
            <a:extLst>
              <a:ext uri="{FF2B5EF4-FFF2-40B4-BE49-F238E27FC236}">
                <a16:creationId xmlns:a16="http://schemas.microsoft.com/office/drawing/2014/main" id="{2E8F6B6E-76DE-1610-EF4A-25385D42F464}"/>
              </a:ext>
            </a:extLst>
          </p:cNvPr>
          <p:cNvPicPr>
            <a:picLocks noChangeAspect="1"/>
          </p:cNvPicPr>
          <p:nvPr/>
        </p:nvPicPr>
        <p:blipFill>
          <a:blip r:embed="rId7"/>
          <a:stretch>
            <a:fillRect/>
          </a:stretch>
        </p:blipFill>
        <p:spPr>
          <a:xfrm>
            <a:off x="9121506" y="4077786"/>
            <a:ext cx="819578" cy="608074"/>
          </a:xfrm>
          <a:prstGeom prst="rect">
            <a:avLst/>
          </a:prstGeom>
        </p:spPr>
      </p:pic>
      <p:pic>
        <p:nvPicPr>
          <p:cNvPr id="36" name="Picture 35">
            <a:extLst>
              <a:ext uri="{FF2B5EF4-FFF2-40B4-BE49-F238E27FC236}">
                <a16:creationId xmlns:a16="http://schemas.microsoft.com/office/drawing/2014/main" id="{B5F2135A-64AB-CFC7-5109-6C9B2A2BC3CE}"/>
              </a:ext>
            </a:extLst>
          </p:cNvPr>
          <p:cNvPicPr>
            <a:picLocks noChangeAspect="1"/>
          </p:cNvPicPr>
          <p:nvPr/>
        </p:nvPicPr>
        <p:blipFill>
          <a:blip r:embed="rId8"/>
          <a:stretch>
            <a:fillRect/>
          </a:stretch>
        </p:blipFill>
        <p:spPr>
          <a:xfrm>
            <a:off x="10206813" y="4083536"/>
            <a:ext cx="543872" cy="581381"/>
          </a:xfrm>
          <a:prstGeom prst="rect">
            <a:avLst/>
          </a:prstGeom>
        </p:spPr>
      </p:pic>
      <p:pic>
        <p:nvPicPr>
          <p:cNvPr id="38" name="Picture 37">
            <a:extLst>
              <a:ext uri="{FF2B5EF4-FFF2-40B4-BE49-F238E27FC236}">
                <a16:creationId xmlns:a16="http://schemas.microsoft.com/office/drawing/2014/main" id="{97C349E6-9A80-B6C4-027A-0A2D2A42B3DF}"/>
              </a:ext>
            </a:extLst>
          </p:cNvPr>
          <p:cNvPicPr>
            <a:picLocks noChangeAspect="1"/>
          </p:cNvPicPr>
          <p:nvPr/>
        </p:nvPicPr>
        <p:blipFill>
          <a:blip r:embed="rId9"/>
          <a:stretch>
            <a:fillRect/>
          </a:stretch>
        </p:blipFill>
        <p:spPr>
          <a:xfrm>
            <a:off x="9332368" y="4894901"/>
            <a:ext cx="1402227" cy="390424"/>
          </a:xfrm>
          <a:prstGeom prst="rect">
            <a:avLst/>
          </a:prstGeom>
        </p:spPr>
      </p:pic>
      <p:pic>
        <p:nvPicPr>
          <p:cNvPr id="40" name="Picture 39">
            <a:extLst>
              <a:ext uri="{FF2B5EF4-FFF2-40B4-BE49-F238E27FC236}">
                <a16:creationId xmlns:a16="http://schemas.microsoft.com/office/drawing/2014/main" id="{C5DADEDF-C14D-4569-BA53-36EA700577BB}"/>
              </a:ext>
            </a:extLst>
          </p:cNvPr>
          <p:cNvPicPr>
            <a:picLocks noChangeAspect="1"/>
          </p:cNvPicPr>
          <p:nvPr/>
        </p:nvPicPr>
        <p:blipFill>
          <a:blip r:embed="rId10"/>
          <a:stretch>
            <a:fillRect/>
          </a:stretch>
        </p:blipFill>
        <p:spPr>
          <a:xfrm>
            <a:off x="2504677" y="4189387"/>
            <a:ext cx="871850" cy="725804"/>
          </a:xfrm>
          <a:prstGeom prst="rect">
            <a:avLst/>
          </a:prstGeom>
        </p:spPr>
      </p:pic>
      <p:pic>
        <p:nvPicPr>
          <p:cNvPr id="42" name="Picture 41">
            <a:extLst>
              <a:ext uri="{FF2B5EF4-FFF2-40B4-BE49-F238E27FC236}">
                <a16:creationId xmlns:a16="http://schemas.microsoft.com/office/drawing/2014/main" id="{AC9E64D6-A38D-0725-D082-DF58857F231B}"/>
              </a:ext>
            </a:extLst>
          </p:cNvPr>
          <p:cNvPicPr>
            <a:picLocks noChangeAspect="1"/>
          </p:cNvPicPr>
          <p:nvPr/>
        </p:nvPicPr>
        <p:blipFill>
          <a:blip r:embed="rId11"/>
          <a:stretch>
            <a:fillRect/>
          </a:stretch>
        </p:blipFill>
        <p:spPr>
          <a:xfrm>
            <a:off x="1740520" y="4754880"/>
            <a:ext cx="993421" cy="72580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78992"/>
          </a:xfrm>
          <a:prstGeom prst="rect">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78992"/>
            <a:ext cx="12191695" cy="5029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02920" y="274320"/>
            <a:ext cx="100584" cy="53035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82880"/>
            <a:ext cx="10789920" cy="310896"/>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9FC1E6"/>
                </a:solidFill>
                <a:latin typeface="Segoe UI"/>
              </a:rPr>
              <a:t>CHAPTER 3 · MAIN PROJECT</a:t>
            </a:r>
          </a:p>
        </p:txBody>
      </p:sp>
      <p:sp>
        <p:nvSpPr>
          <p:cNvPr id="7" name="TextBox 6"/>
          <p:cNvSpPr txBox="1"/>
          <p:nvPr/>
        </p:nvSpPr>
        <p:spPr>
          <a:xfrm>
            <a:off x="749808" y="457200"/>
            <a:ext cx="10789920" cy="566928"/>
          </a:xfrm>
          <a:prstGeom prst="rect">
            <a:avLst/>
          </a:prstGeom>
          <a:noFill/>
        </p:spPr>
        <p:txBody>
          <a:bodyPr wrap="square" lIns="0" tIns="0" rIns="0" bIns="0" anchor="ctr">
            <a:spAutoFit/>
          </a:bodyPr>
          <a:lstStyle/>
          <a:p>
            <a:pPr algn="l">
              <a:lnSpc>
                <a:spcPct val="100000"/>
              </a:lnSpc>
              <a:spcBef>
                <a:spcPts val="0"/>
              </a:spcBef>
              <a:spcAft>
                <a:spcPts val="600"/>
              </a:spcAft>
            </a:pPr>
            <a:r>
              <a:rPr sz="2500" b="1" i="0">
                <a:solidFill>
                  <a:srgbClr val="FFFFFF"/>
                </a:solidFill>
                <a:latin typeface="Segoe UI Semibold"/>
              </a:rPr>
              <a:t>System Development (SDLC)</a:t>
            </a:r>
          </a:p>
        </p:txBody>
      </p:sp>
      <p:sp>
        <p:nvSpPr>
          <p:cNvPr id="8" name="Rectangle 7"/>
          <p:cNvSpPr/>
          <p:nvPr/>
        </p:nvSpPr>
        <p:spPr>
          <a:xfrm>
            <a:off x="502920" y="6419088"/>
            <a:ext cx="11183112" cy="12700"/>
          </a:xfrm>
          <a:prstGeom prst="rect">
            <a:avLst/>
          </a:prstGeom>
          <a:solidFill>
            <a:srgbClr val="D5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6455664"/>
            <a:ext cx="7315200" cy="274320"/>
          </a:xfrm>
          <a:prstGeom prst="rect">
            <a:avLst/>
          </a:prstGeom>
          <a:noFill/>
        </p:spPr>
        <p:txBody>
          <a:bodyPr wrap="square" lIns="0" tIns="0" rIns="0" bIns="0" anchor="t">
            <a:spAutoFit/>
          </a:bodyPr>
          <a:lstStyle/>
          <a:p>
            <a:pPr algn="l">
              <a:lnSpc>
                <a:spcPct val="100000"/>
              </a:lnSpc>
              <a:spcBef>
                <a:spcPts val="0"/>
              </a:spcBef>
              <a:spcAft>
                <a:spcPts val="600"/>
              </a:spcAft>
            </a:pPr>
            <a:r>
              <a:rPr sz="900" b="0" i="0">
                <a:solidFill>
                  <a:srgbClr val="5C6B7D"/>
                </a:solidFill>
                <a:latin typeface="Calibri"/>
              </a:rPr>
              <a:t>Muhammad Arif Danial Bin Mohd Anuar  ·  2024933617</a:t>
            </a:r>
          </a:p>
        </p:txBody>
      </p:sp>
      <p:sp>
        <p:nvSpPr>
          <p:cNvPr id="10" name="TextBox 9"/>
          <p:cNvSpPr txBox="1"/>
          <p:nvPr/>
        </p:nvSpPr>
        <p:spPr>
          <a:xfrm>
            <a:off x="10515600" y="6455664"/>
            <a:ext cx="1170432" cy="274320"/>
          </a:xfrm>
          <a:prstGeom prst="rect">
            <a:avLst/>
          </a:prstGeom>
          <a:noFill/>
        </p:spPr>
        <p:txBody>
          <a:bodyPr wrap="square" lIns="0" tIns="0" rIns="0" bIns="0" anchor="t">
            <a:spAutoFit/>
          </a:bodyPr>
          <a:lstStyle/>
          <a:p>
            <a:pPr algn="r">
              <a:lnSpc>
                <a:spcPct val="100000"/>
              </a:lnSpc>
              <a:spcBef>
                <a:spcPts val="0"/>
              </a:spcBef>
              <a:spcAft>
                <a:spcPts val="600"/>
              </a:spcAft>
            </a:pPr>
            <a:r>
              <a:rPr sz="900" b="0" i="0">
                <a:solidFill>
                  <a:srgbClr val="5C6B7D"/>
                </a:solidFill>
                <a:latin typeface="Calibri"/>
              </a:rPr>
              <a:t>KYROL Security Labs</a:t>
            </a:r>
          </a:p>
        </p:txBody>
      </p:sp>
      <p:sp>
        <p:nvSpPr>
          <p:cNvPr id="11" name="Rectangle 10"/>
          <p:cNvSpPr/>
          <p:nvPr/>
        </p:nvSpPr>
        <p:spPr>
          <a:xfrm>
            <a:off x="548640" y="1481328"/>
            <a:ext cx="3611880" cy="1463040"/>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86384" y="1627632"/>
            <a:ext cx="1097280" cy="457200"/>
          </a:xfrm>
          <a:prstGeom prst="rect">
            <a:avLst/>
          </a:prstGeom>
          <a:noFill/>
        </p:spPr>
        <p:txBody>
          <a:bodyPr wrap="square" lIns="0" tIns="0" rIns="0" bIns="0" anchor="t">
            <a:spAutoFit/>
          </a:bodyPr>
          <a:lstStyle/>
          <a:p>
            <a:pPr algn="l">
              <a:lnSpc>
                <a:spcPct val="100000"/>
              </a:lnSpc>
              <a:spcBef>
                <a:spcPts val="0"/>
              </a:spcBef>
              <a:spcAft>
                <a:spcPts val="600"/>
              </a:spcAft>
            </a:pPr>
            <a:r>
              <a:rPr sz="2200" b="1" i="0">
                <a:solidFill>
                  <a:srgbClr val="E8821E"/>
                </a:solidFill>
                <a:latin typeface="Segoe UI Semibold"/>
              </a:rPr>
              <a:t>01</a:t>
            </a:r>
          </a:p>
        </p:txBody>
      </p:sp>
      <p:sp>
        <p:nvSpPr>
          <p:cNvPr id="13" name="TextBox 12"/>
          <p:cNvSpPr txBox="1"/>
          <p:nvPr/>
        </p:nvSpPr>
        <p:spPr>
          <a:xfrm>
            <a:off x="1508760" y="1645920"/>
            <a:ext cx="2468880" cy="548640"/>
          </a:xfrm>
          <a:prstGeom prst="rect">
            <a:avLst/>
          </a:prstGeom>
          <a:noFill/>
        </p:spPr>
        <p:txBody>
          <a:bodyPr wrap="square" lIns="0" tIns="0" rIns="0" bIns="0" anchor="ctr">
            <a:spAutoFit/>
          </a:bodyPr>
          <a:lstStyle/>
          <a:p>
            <a:pPr algn="l">
              <a:lnSpc>
                <a:spcPct val="100000"/>
              </a:lnSpc>
              <a:spcBef>
                <a:spcPts val="0"/>
              </a:spcBef>
              <a:spcAft>
                <a:spcPts val="600"/>
              </a:spcAft>
            </a:pPr>
            <a:r>
              <a:rPr sz="1450" b="1" i="0">
                <a:solidFill>
                  <a:srgbClr val="0F2A47"/>
                </a:solidFill>
                <a:latin typeface="Segoe UI Semibold"/>
              </a:rPr>
              <a:t>Planning &amp; Analysis</a:t>
            </a:r>
          </a:p>
        </p:txBody>
      </p:sp>
      <p:sp>
        <p:nvSpPr>
          <p:cNvPr id="14" name="TextBox 13"/>
          <p:cNvSpPr txBox="1"/>
          <p:nvPr/>
        </p:nvSpPr>
        <p:spPr>
          <a:xfrm>
            <a:off x="786384" y="2194560"/>
            <a:ext cx="3154680" cy="685800"/>
          </a:xfrm>
          <a:prstGeom prst="rect">
            <a:avLst/>
          </a:prstGeom>
          <a:noFill/>
        </p:spPr>
        <p:txBody>
          <a:bodyPr wrap="square" lIns="0" tIns="0" rIns="0" bIns="0" anchor="t">
            <a:spAutoFit/>
          </a:bodyPr>
          <a:lstStyle/>
          <a:p>
            <a:pPr algn="l">
              <a:lnSpc>
                <a:spcPct val="108000"/>
              </a:lnSpc>
              <a:spcBef>
                <a:spcPts val="0"/>
              </a:spcBef>
              <a:spcAft>
                <a:spcPts val="600"/>
              </a:spcAft>
            </a:pPr>
            <a:r>
              <a:rPr sz="1150" b="0" i="0">
                <a:solidFill>
                  <a:srgbClr val="5C6B7D"/>
                </a:solidFill>
                <a:latin typeface="Calibri"/>
              </a:rPr>
              <a:t>Replace manual contract tracking with an autonomous tool that verifies expiry milestones.</a:t>
            </a:r>
          </a:p>
        </p:txBody>
      </p:sp>
      <p:sp>
        <p:nvSpPr>
          <p:cNvPr id="15" name="Rectangle 14"/>
          <p:cNvSpPr/>
          <p:nvPr/>
        </p:nvSpPr>
        <p:spPr>
          <a:xfrm>
            <a:off x="4334256" y="1481328"/>
            <a:ext cx="3611880" cy="1463040"/>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0" y="1627632"/>
            <a:ext cx="1097280" cy="457200"/>
          </a:xfrm>
          <a:prstGeom prst="rect">
            <a:avLst/>
          </a:prstGeom>
          <a:noFill/>
        </p:spPr>
        <p:txBody>
          <a:bodyPr wrap="square" lIns="0" tIns="0" rIns="0" bIns="0" anchor="t">
            <a:spAutoFit/>
          </a:bodyPr>
          <a:lstStyle/>
          <a:p>
            <a:pPr algn="l">
              <a:lnSpc>
                <a:spcPct val="100000"/>
              </a:lnSpc>
              <a:spcBef>
                <a:spcPts val="0"/>
              </a:spcBef>
              <a:spcAft>
                <a:spcPts val="600"/>
              </a:spcAft>
            </a:pPr>
            <a:r>
              <a:rPr sz="2200" b="1" i="0">
                <a:solidFill>
                  <a:srgbClr val="E8821E"/>
                </a:solidFill>
                <a:latin typeface="Segoe UI Semibold"/>
              </a:rPr>
              <a:t>02</a:t>
            </a:r>
          </a:p>
        </p:txBody>
      </p:sp>
      <p:sp>
        <p:nvSpPr>
          <p:cNvPr id="17" name="TextBox 16"/>
          <p:cNvSpPr txBox="1"/>
          <p:nvPr/>
        </p:nvSpPr>
        <p:spPr>
          <a:xfrm>
            <a:off x="5294376" y="1645920"/>
            <a:ext cx="2468880" cy="548640"/>
          </a:xfrm>
          <a:prstGeom prst="rect">
            <a:avLst/>
          </a:prstGeom>
          <a:noFill/>
        </p:spPr>
        <p:txBody>
          <a:bodyPr wrap="square" lIns="0" tIns="0" rIns="0" bIns="0" anchor="ctr">
            <a:spAutoFit/>
          </a:bodyPr>
          <a:lstStyle/>
          <a:p>
            <a:pPr algn="l">
              <a:lnSpc>
                <a:spcPct val="100000"/>
              </a:lnSpc>
              <a:spcBef>
                <a:spcPts val="0"/>
              </a:spcBef>
              <a:spcAft>
                <a:spcPts val="600"/>
              </a:spcAft>
            </a:pPr>
            <a:r>
              <a:rPr sz="1450" b="1" i="0">
                <a:solidFill>
                  <a:srgbClr val="0F2A47"/>
                </a:solidFill>
                <a:latin typeface="Segoe UI Semibold"/>
              </a:rPr>
              <a:t>System Design</a:t>
            </a:r>
          </a:p>
        </p:txBody>
      </p:sp>
      <p:sp>
        <p:nvSpPr>
          <p:cNvPr id="18" name="TextBox 17"/>
          <p:cNvSpPr txBox="1"/>
          <p:nvPr/>
        </p:nvSpPr>
        <p:spPr>
          <a:xfrm>
            <a:off x="4572000" y="2194560"/>
            <a:ext cx="3154680" cy="685800"/>
          </a:xfrm>
          <a:prstGeom prst="rect">
            <a:avLst/>
          </a:prstGeom>
          <a:noFill/>
        </p:spPr>
        <p:txBody>
          <a:bodyPr wrap="square" lIns="0" tIns="0" rIns="0" bIns="0" anchor="t">
            <a:spAutoFit/>
          </a:bodyPr>
          <a:lstStyle/>
          <a:p>
            <a:pPr algn="l">
              <a:lnSpc>
                <a:spcPct val="108000"/>
              </a:lnSpc>
              <a:spcBef>
                <a:spcPts val="0"/>
              </a:spcBef>
              <a:spcAft>
                <a:spcPts val="600"/>
              </a:spcAft>
            </a:pPr>
            <a:r>
              <a:rPr sz="1150" b="0" i="0">
                <a:solidFill>
                  <a:srgbClr val="5C6B7D"/>
                </a:solidFill>
                <a:latin typeface="Calibri"/>
              </a:rPr>
              <a:t>Containerized Docker architecture to prevent environment drift; map the data-flow.</a:t>
            </a:r>
          </a:p>
        </p:txBody>
      </p:sp>
      <p:sp>
        <p:nvSpPr>
          <p:cNvPr id="19" name="Rectangle 18"/>
          <p:cNvSpPr/>
          <p:nvPr/>
        </p:nvSpPr>
        <p:spPr>
          <a:xfrm>
            <a:off x="8119872" y="1481328"/>
            <a:ext cx="3611880" cy="1463040"/>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57616" y="1627632"/>
            <a:ext cx="1097280" cy="457200"/>
          </a:xfrm>
          <a:prstGeom prst="rect">
            <a:avLst/>
          </a:prstGeom>
          <a:noFill/>
        </p:spPr>
        <p:txBody>
          <a:bodyPr wrap="square" lIns="0" tIns="0" rIns="0" bIns="0" anchor="t">
            <a:spAutoFit/>
          </a:bodyPr>
          <a:lstStyle/>
          <a:p>
            <a:pPr algn="l">
              <a:lnSpc>
                <a:spcPct val="100000"/>
              </a:lnSpc>
              <a:spcBef>
                <a:spcPts val="0"/>
              </a:spcBef>
              <a:spcAft>
                <a:spcPts val="600"/>
              </a:spcAft>
            </a:pPr>
            <a:r>
              <a:rPr sz="2200" b="1" i="0">
                <a:solidFill>
                  <a:srgbClr val="E8821E"/>
                </a:solidFill>
                <a:latin typeface="Segoe UI Semibold"/>
              </a:rPr>
              <a:t>03</a:t>
            </a:r>
          </a:p>
        </p:txBody>
      </p:sp>
      <p:sp>
        <p:nvSpPr>
          <p:cNvPr id="21" name="TextBox 20"/>
          <p:cNvSpPr txBox="1"/>
          <p:nvPr/>
        </p:nvSpPr>
        <p:spPr>
          <a:xfrm>
            <a:off x="9079992" y="1645920"/>
            <a:ext cx="2468880" cy="548640"/>
          </a:xfrm>
          <a:prstGeom prst="rect">
            <a:avLst/>
          </a:prstGeom>
          <a:noFill/>
        </p:spPr>
        <p:txBody>
          <a:bodyPr wrap="square" lIns="0" tIns="0" rIns="0" bIns="0" anchor="ctr">
            <a:spAutoFit/>
          </a:bodyPr>
          <a:lstStyle/>
          <a:p>
            <a:pPr algn="l">
              <a:lnSpc>
                <a:spcPct val="100000"/>
              </a:lnSpc>
              <a:spcBef>
                <a:spcPts val="0"/>
              </a:spcBef>
              <a:spcAft>
                <a:spcPts val="600"/>
              </a:spcAft>
            </a:pPr>
            <a:r>
              <a:rPr sz="1450" b="1" i="0">
                <a:solidFill>
                  <a:srgbClr val="0F2A47"/>
                </a:solidFill>
                <a:latin typeface="Segoe UI Semibold"/>
              </a:rPr>
              <a:t>Implementation</a:t>
            </a:r>
          </a:p>
        </p:txBody>
      </p:sp>
      <p:sp>
        <p:nvSpPr>
          <p:cNvPr id="22" name="TextBox 21"/>
          <p:cNvSpPr txBox="1"/>
          <p:nvPr/>
        </p:nvSpPr>
        <p:spPr>
          <a:xfrm>
            <a:off x="8357616" y="2194560"/>
            <a:ext cx="3154680" cy="685800"/>
          </a:xfrm>
          <a:prstGeom prst="rect">
            <a:avLst/>
          </a:prstGeom>
          <a:noFill/>
        </p:spPr>
        <p:txBody>
          <a:bodyPr wrap="square" lIns="0" tIns="0" rIns="0" bIns="0" anchor="t">
            <a:spAutoFit/>
          </a:bodyPr>
          <a:lstStyle/>
          <a:p>
            <a:pPr algn="l">
              <a:lnSpc>
                <a:spcPct val="108000"/>
              </a:lnSpc>
              <a:spcBef>
                <a:spcPts val="0"/>
              </a:spcBef>
              <a:spcAft>
                <a:spcPts val="600"/>
              </a:spcAft>
            </a:pPr>
            <a:r>
              <a:rPr sz="1150" b="0" i="0">
                <a:solidFill>
                  <a:srgbClr val="5C6B7D"/>
                </a:solidFill>
                <a:latin typeface="Calibri"/>
              </a:rPr>
              <a:t>Core logic in Python 3.12 — pandas for spreadsheets, smtplib for secure mail.</a:t>
            </a:r>
          </a:p>
        </p:txBody>
      </p:sp>
      <p:sp>
        <p:nvSpPr>
          <p:cNvPr id="23" name="Rectangle 22"/>
          <p:cNvSpPr/>
          <p:nvPr/>
        </p:nvSpPr>
        <p:spPr>
          <a:xfrm>
            <a:off x="548640" y="3127248"/>
            <a:ext cx="3611880" cy="1463040"/>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86384" y="3273552"/>
            <a:ext cx="1097280" cy="457200"/>
          </a:xfrm>
          <a:prstGeom prst="rect">
            <a:avLst/>
          </a:prstGeom>
          <a:noFill/>
        </p:spPr>
        <p:txBody>
          <a:bodyPr wrap="square" lIns="0" tIns="0" rIns="0" bIns="0" anchor="t">
            <a:spAutoFit/>
          </a:bodyPr>
          <a:lstStyle/>
          <a:p>
            <a:pPr algn="l">
              <a:lnSpc>
                <a:spcPct val="100000"/>
              </a:lnSpc>
              <a:spcBef>
                <a:spcPts val="0"/>
              </a:spcBef>
              <a:spcAft>
                <a:spcPts val="600"/>
              </a:spcAft>
            </a:pPr>
            <a:r>
              <a:rPr sz="2200" b="1" i="0">
                <a:solidFill>
                  <a:srgbClr val="E8821E"/>
                </a:solidFill>
                <a:latin typeface="Segoe UI Semibold"/>
              </a:rPr>
              <a:t>04</a:t>
            </a:r>
          </a:p>
        </p:txBody>
      </p:sp>
      <p:sp>
        <p:nvSpPr>
          <p:cNvPr id="25" name="TextBox 24"/>
          <p:cNvSpPr txBox="1"/>
          <p:nvPr/>
        </p:nvSpPr>
        <p:spPr>
          <a:xfrm>
            <a:off x="1508760" y="3291840"/>
            <a:ext cx="2468880" cy="548640"/>
          </a:xfrm>
          <a:prstGeom prst="rect">
            <a:avLst/>
          </a:prstGeom>
          <a:noFill/>
        </p:spPr>
        <p:txBody>
          <a:bodyPr wrap="square" lIns="0" tIns="0" rIns="0" bIns="0" anchor="ctr">
            <a:spAutoFit/>
          </a:bodyPr>
          <a:lstStyle/>
          <a:p>
            <a:pPr algn="l">
              <a:lnSpc>
                <a:spcPct val="100000"/>
              </a:lnSpc>
              <a:spcBef>
                <a:spcPts val="0"/>
              </a:spcBef>
              <a:spcAft>
                <a:spcPts val="600"/>
              </a:spcAft>
            </a:pPr>
            <a:r>
              <a:rPr sz="1450" b="1" i="0">
                <a:solidFill>
                  <a:srgbClr val="0F2A47"/>
                </a:solidFill>
                <a:latin typeface="Segoe UI Semibold"/>
              </a:rPr>
              <a:t>Testing &amp; QA</a:t>
            </a:r>
          </a:p>
        </p:txBody>
      </p:sp>
      <p:sp>
        <p:nvSpPr>
          <p:cNvPr id="26" name="TextBox 25"/>
          <p:cNvSpPr txBox="1"/>
          <p:nvPr/>
        </p:nvSpPr>
        <p:spPr>
          <a:xfrm>
            <a:off x="786384" y="3840480"/>
            <a:ext cx="3154680" cy="373436"/>
          </a:xfrm>
          <a:prstGeom prst="rect">
            <a:avLst/>
          </a:prstGeom>
          <a:noFill/>
        </p:spPr>
        <p:txBody>
          <a:bodyPr wrap="square" lIns="0" tIns="0" rIns="0" bIns="0" anchor="t">
            <a:spAutoFit/>
          </a:bodyPr>
          <a:lstStyle/>
          <a:p>
            <a:pPr algn="l">
              <a:lnSpc>
                <a:spcPct val="108000"/>
              </a:lnSpc>
              <a:spcBef>
                <a:spcPts val="0"/>
              </a:spcBef>
              <a:spcAft>
                <a:spcPts val="600"/>
              </a:spcAft>
            </a:pPr>
            <a:r>
              <a:rPr sz="1150" b="0" i="0" dirty="0">
                <a:solidFill>
                  <a:srgbClr val="5C6B7D"/>
                </a:solidFill>
                <a:latin typeface="Calibri"/>
              </a:rPr>
              <a:t>Rigorous local testing on mock data</a:t>
            </a:r>
            <a:r>
              <a:rPr lang="en-US" sz="1150" b="0" i="0" dirty="0">
                <a:solidFill>
                  <a:srgbClr val="5C6B7D"/>
                </a:solidFill>
                <a:latin typeface="Calibri"/>
              </a:rPr>
              <a:t>, </a:t>
            </a:r>
            <a:r>
              <a:rPr sz="1150" b="0" i="0" dirty="0">
                <a:solidFill>
                  <a:srgbClr val="5C6B7D"/>
                </a:solidFill>
                <a:latin typeface="Calibri"/>
              </a:rPr>
              <a:t>no live emails sent to real clients.</a:t>
            </a:r>
          </a:p>
        </p:txBody>
      </p:sp>
      <p:sp>
        <p:nvSpPr>
          <p:cNvPr id="27" name="Rectangle 26"/>
          <p:cNvSpPr/>
          <p:nvPr/>
        </p:nvSpPr>
        <p:spPr>
          <a:xfrm>
            <a:off x="4334256" y="3127248"/>
            <a:ext cx="3611880" cy="1463040"/>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72000" y="3273552"/>
            <a:ext cx="1097280" cy="457200"/>
          </a:xfrm>
          <a:prstGeom prst="rect">
            <a:avLst/>
          </a:prstGeom>
          <a:noFill/>
        </p:spPr>
        <p:txBody>
          <a:bodyPr wrap="square" lIns="0" tIns="0" rIns="0" bIns="0" anchor="t">
            <a:spAutoFit/>
          </a:bodyPr>
          <a:lstStyle/>
          <a:p>
            <a:pPr algn="l">
              <a:lnSpc>
                <a:spcPct val="100000"/>
              </a:lnSpc>
              <a:spcBef>
                <a:spcPts val="0"/>
              </a:spcBef>
              <a:spcAft>
                <a:spcPts val="600"/>
              </a:spcAft>
            </a:pPr>
            <a:r>
              <a:rPr sz="2200" b="1" i="0">
                <a:solidFill>
                  <a:srgbClr val="E8821E"/>
                </a:solidFill>
                <a:latin typeface="Segoe UI Semibold"/>
              </a:rPr>
              <a:t>05</a:t>
            </a:r>
          </a:p>
        </p:txBody>
      </p:sp>
      <p:sp>
        <p:nvSpPr>
          <p:cNvPr id="29" name="TextBox 28"/>
          <p:cNvSpPr txBox="1"/>
          <p:nvPr/>
        </p:nvSpPr>
        <p:spPr>
          <a:xfrm>
            <a:off x="5294376" y="3291840"/>
            <a:ext cx="2468880" cy="548640"/>
          </a:xfrm>
          <a:prstGeom prst="rect">
            <a:avLst/>
          </a:prstGeom>
          <a:noFill/>
        </p:spPr>
        <p:txBody>
          <a:bodyPr wrap="square" lIns="0" tIns="0" rIns="0" bIns="0" anchor="ctr">
            <a:spAutoFit/>
          </a:bodyPr>
          <a:lstStyle/>
          <a:p>
            <a:pPr algn="l">
              <a:lnSpc>
                <a:spcPct val="100000"/>
              </a:lnSpc>
              <a:spcBef>
                <a:spcPts val="0"/>
              </a:spcBef>
              <a:spcAft>
                <a:spcPts val="600"/>
              </a:spcAft>
            </a:pPr>
            <a:r>
              <a:rPr sz="1450" b="1" i="0">
                <a:solidFill>
                  <a:srgbClr val="0F2A47"/>
                </a:solidFill>
                <a:latin typeface="Segoe UI Semibold"/>
              </a:rPr>
              <a:t>Deployment</a:t>
            </a:r>
          </a:p>
        </p:txBody>
      </p:sp>
      <p:sp>
        <p:nvSpPr>
          <p:cNvPr id="30" name="TextBox 29"/>
          <p:cNvSpPr txBox="1"/>
          <p:nvPr/>
        </p:nvSpPr>
        <p:spPr>
          <a:xfrm>
            <a:off x="4572000" y="3840480"/>
            <a:ext cx="3154680" cy="685800"/>
          </a:xfrm>
          <a:prstGeom prst="rect">
            <a:avLst/>
          </a:prstGeom>
          <a:noFill/>
        </p:spPr>
        <p:txBody>
          <a:bodyPr wrap="square" lIns="0" tIns="0" rIns="0" bIns="0" anchor="t">
            <a:spAutoFit/>
          </a:bodyPr>
          <a:lstStyle/>
          <a:p>
            <a:pPr algn="l">
              <a:lnSpc>
                <a:spcPct val="108000"/>
              </a:lnSpc>
              <a:spcBef>
                <a:spcPts val="0"/>
              </a:spcBef>
              <a:spcAft>
                <a:spcPts val="600"/>
              </a:spcAft>
            </a:pPr>
            <a:r>
              <a:rPr sz="1150" b="0" i="0">
                <a:solidFill>
                  <a:srgbClr val="5C6B7D"/>
                </a:solidFill>
                <a:latin typeface="Calibri"/>
              </a:rPr>
              <a:t>Packaged into a production Docker image on the Kyrol server as a daily task.</a:t>
            </a:r>
          </a:p>
        </p:txBody>
      </p:sp>
      <p:sp>
        <p:nvSpPr>
          <p:cNvPr id="31" name="Rectangle 30"/>
          <p:cNvSpPr/>
          <p:nvPr/>
        </p:nvSpPr>
        <p:spPr>
          <a:xfrm>
            <a:off x="8119872" y="3127248"/>
            <a:ext cx="3611880" cy="1463040"/>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357616" y="3273552"/>
            <a:ext cx="1097280" cy="457200"/>
          </a:xfrm>
          <a:prstGeom prst="rect">
            <a:avLst/>
          </a:prstGeom>
          <a:noFill/>
        </p:spPr>
        <p:txBody>
          <a:bodyPr wrap="square" lIns="0" tIns="0" rIns="0" bIns="0" anchor="t">
            <a:spAutoFit/>
          </a:bodyPr>
          <a:lstStyle/>
          <a:p>
            <a:pPr algn="l">
              <a:lnSpc>
                <a:spcPct val="100000"/>
              </a:lnSpc>
              <a:spcBef>
                <a:spcPts val="0"/>
              </a:spcBef>
              <a:spcAft>
                <a:spcPts val="600"/>
              </a:spcAft>
            </a:pPr>
            <a:r>
              <a:rPr sz="2200" b="1" i="0">
                <a:solidFill>
                  <a:srgbClr val="E8821E"/>
                </a:solidFill>
                <a:latin typeface="Segoe UI Semibold"/>
              </a:rPr>
              <a:t>06</a:t>
            </a:r>
          </a:p>
        </p:txBody>
      </p:sp>
      <p:sp>
        <p:nvSpPr>
          <p:cNvPr id="33" name="TextBox 32"/>
          <p:cNvSpPr txBox="1"/>
          <p:nvPr/>
        </p:nvSpPr>
        <p:spPr>
          <a:xfrm>
            <a:off x="9079992" y="3291840"/>
            <a:ext cx="2468880" cy="548640"/>
          </a:xfrm>
          <a:prstGeom prst="rect">
            <a:avLst/>
          </a:prstGeom>
          <a:noFill/>
        </p:spPr>
        <p:txBody>
          <a:bodyPr wrap="square" lIns="0" tIns="0" rIns="0" bIns="0" anchor="ctr">
            <a:spAutoFit/>
          </a:bodyPr>
          <a:lstStyle/>
          <a:p>
            <a:pPr algn="l">
              <a:lnSpc>
                <a:spcPct val="100000"/>
              </a:lnSpc>
              <a:spcBef>
                <a:spcPts val="0"/>
              </a:spcBef>
              <a:spcAft>
                <a:spcPts val="600"/>
              </a:spcAft>
            </a:pPr>
            <a:r>
              <a:rPr sz="1450" b="1" i="0">
                <a:solidFill>
                  <a:srgbClr val="0F2A47"/>
                </a:solidFill>
                <a:latin typeface="Segoe UI Semibold"/>
              </a:rPr>
              <a:t>Operations &amp; Maintenance</a:t>
            </a:r>
          </a:p>
        </p:txBody>
      </p:sp>
      <p:sp>
        <p:nvSpPr>
          <p:cNvPr id="34" name="TextBox 33"/>
          <p:cNvSpPr txBox="1"/>
          <p:nvPr/>
        </p:nvSpPr>
        <p:spPr>
          <a:xfrm>
            <a:off x="8357616" y="3840480"/>
            <a:ext cx="3154680" cy="685800"/>
          </a:xfrm>
          <a:prstGeom prst="rect">
            <a:avLst/>
          </a:prstGeom>
          <a:noFill/>
        </p:spPr>
        <p:txBody>
          <a:bodyPr wrap="square" lIns="0" tIns="0" rIns="0" bIns="0" anchor="t">
            <a:spAutoFit/>
          </a:bodyPr>
          <a:lstStyle/>
          <a:p>
            <a:pPr algn="l">
              <a:lnSpc>
                <a:spcPct val="108000"/>
              </a:lnSpc>
              <a:spcBef>
                <a:spcPts val="0"/>
              </a:spcBef>
              <a:spcAft>
                <a:spcPts val="600"/>
              </a:spcAft>
            </a:pPr>
            <a:r>
              <a:rPr sz="1150" b="0" i="0">
                <a:solidFill>
                  <a:srgbClr val="5C6B7D"/>
                </a:solidFill>
                <a:latin typeface="Calibri"/>
              </a:rPr>
              <a:t>Error-logging, uptime monitoring, and version-controlled updates.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78992"/>
          </a:xfrm>
          <a:prstGeom prst="rect">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78992"/>
            <a:ext cx="12191695" cy="5029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02920" y="274320"/>
            <a:ext cx="100584" cy="53035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82880"/>
            <a:ext cx="10789920" cy="310896"/>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9FC1E6"/>
                </a:solidFill>
                <a:latin typeface="Segoe UI"/>
              </a:rPr>
              <a:t>CHAPTER 3 · SECTION 3.4.2</a:t>
            </a:r>
          </a:p>
        </p:txBody>
      </p:sp>
      <p:sp>
        <p:nvSpPr>
          <p:cNvPr id="7" name="TextBox 6"/>
          <p:cNvSpPr txBox="1"/>
          <p:nvPr/>
        </p:nvSpPr>
        <p:spPr>
          <a:xfrm>
            <a:off x="749808" y="457200"/>
            <a:ext cx="10789920" cy="566928"/>
          </a:xfrm>
          <a:prstGeom prst="rect">
            <a:avLst/>
          </a:prstGeom>
          <a:noFill/>
        </p:spPr>
        <p:txBody>
          <a:bodyPr wrap="square" lIns="0" tIns="0" rIns="0" bIns="0" anchor="ctr">
            <a:spAutoFit/>
          </a:bodyPr>
          <a:lstStyle/>
          <a:p>
            <a:pPr algn="l">
              <a:lnSpc>
                <a:spcPct val="100000"/>
              </a:lnSpc>
              <a:spcBef>
                <a:spcPts val="0"/>
              </a:spcBef>
              <a:spcAft>
                <a:spcPts val="600"/>
              </a:spcAft>
            </a:pPr>
            <a:r>
              <a:rPr sz="2500" b="1" i="0">
                <a:solidFill>
                  <a:srgbClr val="FFFFFF"/>
                </a:solidFill>
                <a:latin typeface="Segoe UI Semibold"/>
              </a:rPr>
              <a:t>Flowchart Diagram</a:t>
            </a:r>
          </a:p>
        </p:txBody>
      </p:sp>
      <p:sp>
        <p:nvSpPr>
          <p:cNvPr id="8" name="Rectangle 7"/>
          <p:cNvSpPr/>
          <p:nvPr/>
        </p:nvSpPr>
        <p:spPr>
          <a:xfrm>
            <a:off x="502920" y="6419088"/>
            <a:ext cx="11183112" cy="12700"/>
          </a:xfrm>
          <a:prstGeom prst="rect">
            <a:avLst/>
          </a:prstGeom>
          <a:solidFill>
            <a:srgbClr val="D5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6455664"/>
            <a:ext cx="7315200" cy="274320"/>
          </a:xfrm>
          <a:prstGeom prst="rect">
            <a:avLst/>
          </a:prstGeom>
          <a:noFill/>
        </p:spPr>
        <p:txBody>
          <a:bodyPr wrap="square" lIns="0" tIns="0" rIns="0" bIns="0" anchor="t">
            <a:spAutoFit/>
          </a:bodyPr>
          <a:lstStyle/>
          <a:p>
            <a:pPr algn="l">
              <a:lnSpc>
                <a:spcPct val="100000"/>
              </a:lnSpc>
              <a:spcBef>
                <a:spcPts val="0"/>
              </a:spcBef>
              <a:spcAft>
                <a:spcPts val="600"/>
              </a:spcAft>
            </a:pPr>
            <a:r>
              <a:rPr sz="900" b="0" i="0">
                <a:solidFill>
                  <a:srgbClr val="5C6B7D"/>
                </a:solidFill>
                <a:latin typeface="Calibri"/>
              </a:rPr>
              <a:t>Muhammad Arif Danial Bin Mohd Anuar  ·  2024933617</a:t>
            </a:r>
          </a:p>
        </p:txBody>
      </p:sp>
      <p:sp>
        <p:nvSpPr>
          <p:cNvPr id="10" name="TextBox 9"/>
          <p:cNvSpPr txBox="1"/>
          <p:nvPr/>
        </p:nvSpPr>
        <p:spPr>
          <a:xfrm>
            <a:off x="10515600" y="6455664"/>
            <a:ext cx="1170432" cy="274320"/>
          </a:xfrm>
          <a:prstGeom prst="rect">
            <a:avLst/>
          </a:prstGeom>
          <a:noFill/>
        </p:spPr>
        <p:txBody>
          <a:bodyPr wrap="square" lIns="0" tIns="0" rIns="0" bIns="0" anchor="t">
            <a:spAutoFit/>
          </a:bodyPr>
          <a:lstStyle/>
          <a:p>
            <a:pPr algn="r">
              <a:lnSpc>
                <a:spcPct val="100000"/>
              </a:lnSpc>
              <a:spcBef>
                <a:spcPts val="0"/>
              </a:spcBef>
              <a:spcAft>
                <a:spcPts val="600"/>
              </a:spcAft>
            </a:pPr>
            <a:r>
              <a:rPr sz="900" b="0" i="0">
                <a:solidFill>
                  <a:srgbClr val="5C6B7D"/>
                </a:solidFill>
                <a:latin typeface="Calibri"/>
              </a:rPr>
              <a:t>KYROL Security Labs</a:t>
            </a:r>
          </a:p>
        </p:txBody>
      </p:sp>
      <p:sp>
        <p:nvSpPr>
          <p:cNvPr id="11" name="Rectangle 10"/>
          <p:cNvSpPr/>
          <p:nvPr/>
        </p:nvSpPr>
        <p:spPr>
          <a:xfrm>
            <a:off x="8442655" y="1481328"/>
            <a:ext cx="3246120" cy="4434840"/>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8442655" y="1481328"/>
            <a:ext cx="82296" cy="4434840"/>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98687" y="1664208"/>
            <a:ext cx="2788920" cy="365760"/>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2E6BB0"/>
                </a:solidFill>
                <a:latin typeface="Segoe UI"/>
              </a:rPr>
              <a:t>KEY POINTS</a:t>
            </a:r>
          </a:p>
        </p:txBody>
      </p:sp>
      <p:sp>
        <p:nvSpPr>
          <p:cNvPr id="14" name="TextBox 13"/>
          <p:cNvSpPr txBox="1"/>
          <p:nvPr/>
        </p:nvSpPr>
        <p:spPr>
          <a:xfrm>
            <a:off x="8698687" y="2121408"/>
            <a:ext cx="2770632" cy="3657600"/>
          </a:xfrm>
          <a:prstGeom prst="rect">
            <a:avLst/>
          </a:prstGeom>
          <a:noFill/>
        </p:spPr>
        <p:txBody>
          <a:bodyPr wrap="square" lIns="0" tIns="0" rIns="0" bIns="0">
            <a:spAutoFit/>
          </a:bodyPr>
          <a:lstStyle/>
          <a:p>
            <a:pPr marL="274320" indent="-237744">
              <a:lnSpc>
                <a:spcPct val="105000"/>
              </a:lnSpc>
              <a:spcBef>
                <a:spcPts val="0"/>
              </a:spcBef>
              <a:spcAft>
                <a:spcPts val="1300"/>
              </a:spcAft>
            </a:pPr>
            <a:r>
              <a:rPr sz="1250" b="1">
                <a:solidFill>
                  <a:srgbClr val="E8821E"/>
                </a:solidFill>
                <a:latin typeface="Calibri"/>
              </a:rPr>
              <a:t>▸  </a:t>
            </a:r>
            <a:r>
              <a:rPr sz="1250" b="0">
                <a:solidFill>
                  <a:srgbClr val="1E2A36"/>
                </a:solidFill>
                <a:latin typeface="Calibri"/>
              </a:rPr>
              <a:t>Loads config (.env) then the client workbook</a:t>
            </a:r>
          </a:p>
          <a:p>
            <a:pPr marL="274320" indent="-237744">
              <a:lnSpc>
                <a:spcPct val="105000"/>
              </a:lnSpc>
              <a:spcBef>
                <a:spcPts val="0"/>
              </a:spcBef>
              <a:spcAft>
                <a:spcPts val="1300"/>
              </a:spcAft>
            </a:pPr>
            <a:r>
              <a:rPr sz="1250" b="1">
                <a:solidFill>
                  <a:srgbClr val="E8821E"/>
                </a:solidFill>
                <a:latin typeface="Calibri"/>
              </a:rPr>
              <a:t>▸  </a:t>
            </a:r>
            <a:r>
              <a:rPr sz="1250" b="0">
                <a:solidFill>
                  <a:srgbClr val="1E2A36"/>
                </a:solidFill>
                <a:latin typeface="Calibri"/>
              </a:rPr>
              <a:t>Invalid sheets/columns → safe stop, no emails</a:t>
            </a:r>
          </a:p>
          <a:p>
            <a:pPr marL="274320" indent="-237744">
              <a:lnSpc>
                <a:spcPct val="105000"/>
              </a:lnSpc>
              <a:spcBef>
                <a:spcPts val="0"/>
              </a:spcBef>
              <a:spcAft>
                <a:spcPts val="1300"/>
              </a:spcAft>
            </a:pPr>
            <a:r>
              <a:rPr sz="1250" b="1">
                <a:solidFill>
                  <a:srgbClr val="E8821E"/>
                </a:solidFill>
                <a:latin typeface="Calibri"/>
              </a:rPr>
              <a:t>▸  </a:t>
            </a:r>
            <a:r>
              <a:rPr sz="1250" b="0">
                <a:solidFill>
                  <a:srgbClr val="1E2A36"/>
                </a:solidFill>
                <a:latin typeface="Calibri"/>
              </a:rPr>
              <a:t>Filters clients expiring within 30 days</a:t>
            </a:r>
          </a:p>
          <a:p>
            <a:pPr marL="274320" indent="-237744">
              <a:lnSpc>
                <a:spcPct val="105000"/>
              </a:lnSpc>
              <a:spcBef>
                <a:spcPts val="0"/>
              </a:spcBef>
              <a:spcAft>
                <a:spcPts val="1300"/>
              </a:spcAft>
            </a:pPr>
            <a:r>
              <a:rPr sz="1250" b="1">
                <a:solidFill>
                  <a:srgbClr val="E8821E"/>
                </a:solidFill>
                <a:latin typeface="Calibri"/>
              </a:rPr>
              <a:t>▸  </a:t>
            </a:r>
            <a:r>
              <a:rPr sz="1250" b="0">
                <a:solidFill>
                  <a:srgbClr val="1E2A36"/>
                </a:solidFill>
                <a:latin typeface="Calibri"/>
              </a:rPr>
              <a:t>Sends only on 30 / 7 / 1-day milestones</a:t>
            </a:r>
          </a:p>
          <a:p>
            <a:pPr marL="274320" indent="-237744">
              <a:lnSpc>
                <a:spcPct val="105000"/>
              </a:lnSpc>
              <a:spcBef>
                <a:spcPts val="0"/>
              </a:spcBef>
              <a:spcAft>
                <a:spcPts val="1300"/>
              </a:spcAft>
            </a:pPr>
            <a:r>
              <a:rPr sz="1250" b="1">
                <a:solidFill>
                  <a:srgbClr val="E8821E"/>
                </a:solidFill>
                <a:latin typeface="Calibri"/>
              </a:rPr>
              <a:t>▸  </a:t>
            </a:r>
            <a:r>
              <a:rPr sz="1250" b="0">
                <a:solidFill>
                  <a:srgbClr val="1E2A36"/>
                </a:solidFill>
                <a:latin typeface="Calibri"/>
              </a:rPr>
              <a:t>Skips duplicates via sent_log.json</a:t>
            </a:r>
          </a:p>
          <a:p>
            <a:pPr marL="274320" indent="-237744">
              <a:lnSpc>
                <a:spcPct val="105000"/>
              </a:lnSpc>
              <a:spcBef>
                <a:spcPts val="0"/>
              </a:spcBef>
              <a:spcAft>
                <a:spcPts val="1300"/>
              </a:spcAft>
            </a:pPr>
            <a:r>
              <a:rPr sz="1250" b="1">
                <a:solidFill>
                  <a:srgbClr val="E8821E"/>
                </a:solidFill>
                <a:latin typeface="Calibri"/>
              </a:rPr>
              <a:t>▸  </a:t>
            </a:r>
            <a:r>
              <a:rPr sz="1250" b="0">
                <a:solidFill>
                  <a:srgbClr val="1E2A36"/>
                </a:solidFill>
                <a:latin typeface="Calibri"/>
              </a:rPr>
              <a:t>MAX_EMAILS_PER_RUN safety cap</a:t>
            </a:r>
          </a:p>
        </p:txBody>
      </p:sp>
      <p:sp>
        <p:nvSpPr>
          <p:cNvPr id="15" name="Rectangle 14"/>
          <p:cNvSpPr/>
          <p:nvPr/>
        </p:nvSpPr>
        <p:spPr>
          <a:xfrm>
            <a:off x="2705250" y="1234440"/>
            <a:ext cx="3246120" cy="4959604"/>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fig31_flowchart.png"/>
          <p:cNvPicPr>
            <a:picLocks noChangeAspect="1"/>
          </p:cNvPicPr>
          <p:nvPr/>
        </p:nvPicPr>
        <p:blipFill>
          <a:blip r:embed="rId3"/>
          <a:stretch>
            <a:fillRect/>
          </a:stretch>
        </p:blipFill>
        <p:spPr>
          <a:xfrm>
            <a:off x="2761390" y="1271016"/>
            <a:ext cx="3189980" cy="4914958"/>
          </a:xfrm>
          <a:prstGeom prst="rect">
            <a:avLst/>
          </a:prstGeom>
          <a:ln w="9525">
            <a:solidFill>
              <a:srgbClr val="D5DEE8"/>
            </a:solidFill>
          </a:ln>
        </p:spPr>
      </p:pic>
      <p:sp>
        <p:nvSpPr>
          <p:cNvPr id="17" name="TextBox 16"/>
          <p:cNvSpPr txBox="1"/>
          <p:nvPr/>
        </p:nvSpPr>
        <p:spPr>
          <a:xfrm>
            <a:off x="502920" y="6217920"/>
            <a:ext cx="7665415" cy="365760"/>
          </a:xfrm>
          <a:prstGeom prst="rect">
            <a:avLst/>
          </a:prstGeom>
          <a:noFill/>
        </p:spPr>
        <p:txBody>
          <a:bodyPr wrap="square" lIns="0" tIns="0" rIns="0" bIns="0" anchor="t">
            <a:spAutoFit/>
          </a:bodyPr>
          <a:lstStyle/>
          <a:p>
            <a:pPr algn="ctr">
              <a:lnSpc>
                <a:spcPct val="100000"/>
              </a:lnSpc>
              <a:spcBef>
                <a:spcPts val="0"/>
              </a:spcBef>
              <a:spcAft>
                <a:spcPts val="600"/>
              </a:spcAft>
            </a:pPr>
            <a:r>
              <a:rPr sz="1100" b="0" i="1" dirty="0">
                <a:solidFill>
                  <a:srgbClr val="5C6B7D"/>
                </a:solidFill>
                <a:latin typeface="Calibri"/>
              </a:rPr>
              <a:t>Figure 3.1: Complete System Automation &amp; Runtime Execution Flowchart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78992"/>
          </a:xfrm>
          <a:prstGeom prst="rect">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78992"/>
            <a:ext cx="12191695" cy="5029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02920" y="274320"/>
            <a:ext cx="100584" cy="53035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82880"/>
            <a:ext cx="10789920" cy="310896"/>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9FC1E6"/>
                </a:solidFill>
                <a:latin typeface="Segoe UI"/>
              </a:rPr>
              <a:t>CHAPTER 3 · SECTION 3.4.3</a:t>
            </a:r>
          </a:p>
        </p:txBody>
      </p:sp>
      <p:sp>
        <p:nvSpPr>
          <p:cNvPr id="7" name="TextBox 6"/>
          <p:cNvSpPr txBox="1"/>
          <p:nvPr/>
        </p:nvSpPr>
        <p:spPr>
          <a:xfrm>
            <a:off x="749808" y="457200"/>
            <a:ext cx="10789920" cy="566928"/>
          </a:xfrm>
          <a:prstGeom prst="rect">
            <a:avLst/>
          </a:prstGeom>
          <a:noFill/>
        </p:spPr>
        <p:txBody>
          <a:bodyPr wrap="square" lIns="0" tIns="0" rIns="0" bIns="0" anchor="ctr">
            <a:spAutoFit/>
          </a:bodyPr>
          <a:lstStyle/>
          <a:p>
            <a:pPr algn="l">
              <a:lnSpc>
                <a:spcPct val="100000"/>
              </a:lnSpc>
              <a:spcBef>
                <a:spcPts val="0"/>
              </a:spcBef>
              <a:spcAft>
                <a:spcPts val="600"/>
              </a:spcAft>
            </a:pPr>
            <a:r>
              <a:rPr sz="2500" b="1" i="0">
                <a:solidFill>
                  <a:srgbClr val="FFFFFF"/>
                </a:solidFill>
                <a:latin typeface="Segoe UI Semibold"/>
              </a:rPr>
              <a:t>Use Case Diagram</a:t>
            </a:r>
          </a:p>
        </p:txBody>
      </p:sp>
      <p:sp>
        <p:nvSpPr>
          <p:cNvPr id="8" name="Rectangle 7"/>
          <p:cNvSpPr/>
          <p:nvPr/>
        </p:nvSpPr>
        <p:spPr>
          <a:xfrm>
            <a:off x="502920" y="6419088"/>
            <a:ext cx="11183112" cy="12700"/>
          </a:xfrm>
          <a:prstGeom prst="rect">
            <a:avLst/>
          </a:prstGeom>
          <a:solidFill>
            <a:srgbClr val="D5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6455664"/>
            <a:ext cx="7315200" cy="274320"/>
          </a:xfrm>
          <a:prstGeom prst="rect">
            <a:avLst/>
          </a:prstGeom>
          <a:noFill/>
        </p:spPr>
        <p:txBody>
          <a:bodyPr wrap="square" lIns="0" tIns="0" rIns="0" bIns="0" anchor="t">
            <a:spAutoFit/>
          </a:bodyPr>
          <a:lstStyle/>
          <a:p>
            <a:pPr algn="l">
              <a:lnSpc>
                <a:spcPct val="100000"/>
              </a:lnSpc>
              <a:spcBef>
                <a:spcPts val="0"/>
              </a:spcBef>
              <a:spcAft>
                <a:spcPts val="600"/>
              </a:spcAft>
            </a:pPr>
            <a:r>
              <a:rPr sz="900" b="0" i="0">
                <a:solidFill>
                  <a:srgbClr val="5C6B7D"/>
                </a:solidFill>
                <a:latin typeface="Calibri"/>
              </a:rPr>
              <a:t>Muhammad Arif Danial Bin Mohd Anuar  ·  2024933617</a:t>
            </a:r>
          </a:p>
        </p:txBody>
      </p:sp>
      <p:sp>
        <p:nvSpPr>
          <p:cNvPr id="10" name="TextBox 9"/>
          <p:cNvSpPr txBox="1"/>
          <p:nvPr/>
        </p:nvSpPr>
        <p:spPr>
          <a:xfrm>
            <a:off x="10515600" y="6455664"/>
            <a:ext cx="1170432" cy="274320"/>
          </a:xfrm>
          <a:prstGeom prst="rect">
            <a:avLst/>
          </a:prstGeom>
          <a:noFill/>
        </p:spPr>
        <p:txBody>
          <a:bodyPr wrap="square" lIns="0" tIns="0" rIns="0" bIns="0" anchor="t">
            <a:spAutoFit/>
          </a:bodyPr>
          <a:lstStyle/>
          <a:p>
            <a:pPr algn="r">
              <a:lnSpc>
                <a:spcPct val="100000"/>
              </a:lnSpc>
              <a:spcBef>
                <a:spcPts val="0"/>
              </a:spcBef>
              <a:spcAft>
                <a:spcPts val="600"/>
              </a:spcAft>
            </a:pPr>
            <a:r>
              <a:rPr sz="900" b="0" i="0">
                <a:solidFill>
                  <a:srgbClr val="5C6B7D"/>
                </a:solidFill>
                <a:latin typeface="Calibri"/>
              </a:rPr>
              <a:t>KYROL Security Labs</a:t>
            </a:r>
          </a:p>
        </p:txBody>
      </p:sp>
      <p:sp>
        <p:nvSpPr>
          <p:cNvPr id="11" name="Rectangle 10"/>
          <p:cNvSpPr/>
          <p:nvPr/>
        </p:nvSpPr>
        <p:spPr>
          <a:xfrm>
            <a:off x="8442655" y="1481328"/>
            <a:ext cx="3246120" cy="4434840"/>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8442655" y="1481328"/>
            <a:ext cx="82296" cy="4434840"/>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98687" y="1664208"/>
            <a:ext cx="2788920" cy="365760"/>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2E6BB0"/>
                </a:solidFill>
                <a:latin typeface="Segoe UI"/>
              </a:rPr>
              <a:t>KEY POINTS</a:t>
            </a:r>
          </a:p>
        </p:txBody>
      </p:sp>
      <p:sp>
        <p:nvSpPr>
          <p:cNvPr id="14" name="TextBox 13"/>
          <p:cNvSpPr txBox="1"/>
          <p:nvPr/>
        </p:nvSpPr>
        <p:spPr>
          <a:xfrm>
            <a:off x="8698687" y="2121408"/>
            <a:ext cx="2770632" cy="3657600"/>
          </a:xfrm>
          <a:prstGeom prst="rect">
            <a:avLst/>
          </a:prstGeom>
          <a:noFill/>
        </p:spPr>
        <p:txBody>
          <a:bodyPr wrap="square" lIns="0" tIns="0" rIns="0" bIns="0">
            <a:spAutoFit/>
          </a:bodyPr>
          <a:lstStyle/>
          <a:p>
            <a:pPr marL="274320" indent="-237744">
              <a:lnSpc>
                <a:spcPct val="105000"/>
              </a:lnSpc>
              <a:spcBef>
                <a:spcPts val="0"/>
              </a:spcBef>
              <a:spcAft>
                <a:spcPts val="1300"/>
              </a:spcAft>
            </a:pPr>
            <a:r>
              <a:rPr sz="1250" b="1">
                <a:solidFill>
                  <a:srgbClr val="E8821E"/>
                </a:solidFill>
                <a:latin typeface="Calibri"/>
              </a:rPr>
              <a:t>▸  </a:t>
            </a:r>
            <a:r>
              <a:rPr sz="1250" b="0">
                <a:solidFill>
                  <a:srgbClr val="1E2A36"/>
                </a:solidFill>
                <a:latin typeface="Calibri"/>
              </a:rPr>
              <a:t>System Admin maintains data &amp; configuration</a:t>
            </a:r>
          </a:p>
          <a:p>
            <a:pPr marL="274320" indent="-237744">
              <a:lnSpc>
                <a:spcPct val="105000"/>
              </a:lnSpc>
              <a:spcBef>
                <a:spcPts val="0"/>
              </a:spcBef>
              <a:spcAft>
                <a:spcPts val="1300"/>
              </a:spcAft>
            </a:pPr>
            <a:r>
              <a:rPr sz="1250" b="1">
                <a:solidFill>
                  <a:srgbClr val="E8821E"/>
                </a:solidFill>
                <a:latin typeface="Calibri"/>
              </a:rPr>
              <a:t>▸  </a:t>
            </a:r>
            <a:r>
              <a:rPr sz="1250" b="0">
                <a:solidFill>
                  <a:srgbClr val="1E2A36"/>
                </a:solidFill>
                <a:latin typeface="Calibri"/>
              </a:rPr>
              <a:t>Task Scheduler triggers the daily run</a:t>
            </a:r>
          </a:p>
          <a:p>
            <a:pPr marL="274320" indent="-237744">
              <a:lnSpc>
                <a:spcPct val="105000"/>
              </a:lnSpc>
              <a:spcBef>
                <a:spcPts val="0"/>
              </a:spcBef>
              <a:spcAft>
                <a:spcPts val="1300"/>
              </a:spcAft>
            </a:pPr>
            <a:r>
              <a:rPr sz="1250" b="1">
                <a:solidFill>
                  <a:srgbClr val="E8821E"/>
                </a:solidFill>
                <a:latin typeface="Calibri"/>
              </a:rPr>
              <a:t>▸  </a:t>
            </a:r>
            <a:r>
              <a:rPr sz="1250" b="0">
                <a:solidFill>
                  <a:srgbClr val="1E2A36"/>
                </a:solidFill>
                <a:latin typeface="Calibri"/>
              </a:rPr>
              <a:t>"Send Renewal Alert" extends "Trigger Script"</a:t>
            </a:r>
          </a:p>
          <a:p>
            <a:pPr marL="274320" indent="-237744">
              <a:lnSpc>
                <a:spcPct val="105000"/>
              </a:lnSpc>
              <a:spcBef>
                <a:spcPts val="0"/>
              </a:spcBef>
              <a:spcAft>
                <a:spcPts val="1300"/>
              </a:spcAft>
            </a:pPr>
            <a:r>
              <a:rPr sz="1250" b="1">
                <a:solidFill>
                  <a:srgbClr val="E8821E"/>
                </a:solidFill>
                <a:latin typeface="Calibri"/>
              </a:rPr>
              <a:t>▸  </a:t>
            </a:r>
            <a:r>
              <a:rPr sz="1250" b="0">
                <a:solidFill>
                  <a:srgbClr val="1E2A36"/>
                </a:solidFill>
                <a:latin typeface="Calibri"/>
              </a:rPr>
              <a:t>Only fires when a milestone matches</a:t>
            </a:r>
          </a:p>
          <a:p>
            <a:pPr marL="274320" indent="-237744">
              <a:lnSpc>
                <a:spcPct val="105000"/>
              </a:lnSpc>
              <a:spcBef>
                <a:spcPts val="0"/>
              </a:spcBef>
              <a:spcAft>
                <a:spcPts val="1300"/>
              </a:spcAft>
            </a:pPr>
            <a:r>
              <a:rPr sz="1250" b="1">
                <a:solidFill>
                  <a:srgbClr val="E8821E"/>
                </a:solidFill>
                <a:latin typeface="Calibri"/>
              </a:rPr>
              <a:t>▸  </a:t>
            </a:r>
            <a:r>
              <a:rPr sz="1250" b="0">
                <a:solidFill>
                  <a:srgbClr val="1E2A36"/>
                </a:solidFill>
                <a:latin typeface="Calibri"/>
              </a:rPr>
              <a:t>Mail Relay (SMTP) is an external actor</a:t>
            </a:r>
          </a:p>
        </p:txBody>
      </p:sp>
      <p:sp>
        <p:nvSpPr>
          <p:cNvPr id="15" name="Rectangle 14"/>
          <p:cNvSpPr/>
          <p:nvPr/>
        </p:nvSpPr>
        <p:spPr>
          <a:xfrm>
            <a:off x="2670931" y="1399032"/>
            <a:ext cx="3329392" cy="4325112"/>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fig32_usecase.png"/>
          <p:cNvPicPr>
            <a:picLocks noChangeAspect="1"/>
          </p:cNvPicPr>
          <p:nvPr/>
        </p:nvPicPr>
        <p:blipFill>
          <a:blip r:embed="rId3"/>
          <a:stretch>
            <a:fillRect/>
          </a:stretch>
        </p:blipFill>
        <p:spPr>
          <a:xfrm>
            <a:off x="2753227" y="1481328"/>
            <a:ext cx="3164800" cy="4160520"/>
          </a:xfrm>
          <a:prstGeom prst="rect">
            <a:avLst/>
          </a:prstGeom>
          <a:ln w="9525">
            <a:solidFill>
              <a:srgbClr val="D5DEE8"/>
            </a:solidFill>
          </a:ln>
        </p:spPr>
      </p:pic>
      <p:sp>
        <p:nvSpPr>
          <p:cNvPr id="17" name="TextBox 16"/>
          <p:cNvSpPr txBox="1"/>
          <p:nvPr/>
        </p:nvSpPr>
        <p:spPr>
          <a:xfrm>
            <a:off x="502920" y="5742432"/>
            <a:ext cx="7665415" cy="365760"/>
          </a:xfrm>
          <a:prstGeom prst="rect">
            <a:avLst/>
          </a:prstGeom>
          <a:noFill/>
        </p:spPr>
        <p:txBody>
          <a:bodyPr wrap="square" lIns="0" tIns="0" rIns="0" bIns="0" anchor="t">
            <a:spAutoFit/>
          </a:bodyPr>
          <a:lstStyle/>
          <a:p>
            <a:pPr algn="ctr">
              <a:lnSpc>
                <a:spcPct val="100000"/>
              </a:lnSpc>
              <a:spcBef>
                <a:spcPts val="0"/>
              </a:spcBef>
              <a:spcAft>
                <a:spcPts val="600"/>
              </a:spcAft>
            </a:pPr>
            <a:r>
              <a:rPr sz="1100" b="0" i="1">
                <a:solidFill>
                  <a:srgbClr val="5C6B7D"/>
                </a:solidFill>
                <a:latin typeface="Calibri"/>
              </a:rPr>
              <a:t>Figure 3.2: System Functional Requirements &amp; Actor Interactions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78992"/>
          </a:xfrm>
          <a:prstGeom prst="rect">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78992"/>
            <a:ext cx="12191695" cy="5029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02920" y="274320"/>
            <a:ext cx="100584" cy="53035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82880"/>
            <a:ext cx="10789920" cy="310896"/>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9FC1E6"/>
                </a:solidFill>
                <a:latin typeface="Segoe UI"/>
              </a:rPr>
              <a:t>CHAPTER 3 · SECTION 3.4.4</a:t>
            </a:r>
          </a:p>
        </p:txBody>
      </p:sp>
      <p:sp>
        <p:nvSpPr>
          <p:cNvPr id="7" name="TextBox 6"/>
          <p:cNvSpPr txBox="1"/>
          <p:nvPr/>
        </p:nvSpPr>
        <p:spPr>
          <a:xfrm>
            <a:off x="749808" y="457200"/>
            <a:ext cx="10789920" cy="566928"/>
          </a:xfrm>
          <a:prstGeom prst="rect">
            <a:avLst/>
          </a:prstGeom>
          <a:noFill/>
        </p:spPr>
        <p:txBody>
          <a:bodyPr wrap="square" lIns="0" tIns="0" rIns="0" bIns="0" anchor="ctr">
            <a:spAutoFit/>
          </a:bodyPr>
          <a:lstStyle/>
          <a:p>
            <a:pPr algn="l">
              <a:lnSpc>
                <a:spcPct val="100000"/>
              </a:lnSpc>
              <a:spcBef>
                <a:spcPts val="0"/>
              </a:spcBef>
              <a:spcAft>
                <a:spcPts val="600"/>
              </a:spcAft>
            </a:pPr>
            <a:r>
              <a:rPr sz="2500" b="1" i="0">
                <a:solidFill>
                  <a:srgbClr val="FFFFFF"/>
                </a:solidFill>
                <a:latin typeface="Segoe UI Semibold"/>
              </a:rPr>
              <a:t>Deployment Diagram</a:t>
            </a:r>
          </a:p>
        </p:txBody>
      </p:sp>
      <p:sp>
        <p:nvSpPr>
          <p:cNvPr id="8" name="Rectangle 7"/>
          <p:cNvSpPr/>
          <p:nvPr/>
        </p:nvSpPr>
        <p:spPr>
          <a:xfrm>
            <a:off x="502920" y="6419088"/>
            <a:ext cx="11183112" cy="12700"/>
          </a:xfrm>
          <a:prstGeom prst="rect">
            <a:avLst/>
          </a:prstGeom>
          <a:solidFill>
            <a:srgbClr val="D5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6455664"/>
            <a:ext cx="7315200" cy="274320"/>
          </a:xfrm>
          <a:prstGeom prst="rect">
            <a:avLst/>
          </a:prstGeom>
          <a:noFill/>
        </p:spPr>
        <p:txBody>
          <a:bodyPr wrap="square" lIns="0" tIns="0" rIns="0" bIns="0" anchor="t">
            <a:spAutoFit/>
          </a:bodyPr>
          <a:lstStyle/>
          <a:p>
            <a:pPr algn="l">
              <a:lnSpc>
                <a:spcPct val="100000"/>
              </a:lnSpc>
              <a:spcBef>
                <a:spcPts val="0"/>
              </a:spcBef>
              <a:spcAft>
                <a:spcPts val="600"/>
              </a:spcAft>
            </a:pPr>
            <a:r>
              <a:rPr sz="900" b="0" i="0">
                <a:solidFill>
                  <a:srgbClr val="5C6B7D"/>
                </a:solidFill>
                <a:latin typeface="Calibri"/>
              </a:rPr>
              <a:t>Muhammad Arif Danial Bin Mohd Anuar  ·  2024933617</a:t>
            </a:r>
          </a:p>
        </p:txBody>
      </p:sp>
      <p:sp>
        <p:nvSpPr>
          <p:cNvPr id="10" name="TextBox 9"/>
          <p:cNvSpPr txBox="1"/>
          <p:nvPr/>
        </p:nvSpPr>
        <p:spPr>
          <a:xfrm>
            <a:off x="10515600" y="6455664"/>
            <a:ext cx="1170432" cy="274320"/>
          </a:xfrm>
          <a:prstGeom prst="rect">
            <a:avLst/>
          </a:prstGeom>
          <a:noFill/>
        </p:spPr>
        <p:txBody>
          <a:bodyPr wrap="square" lIns="0" tIns="0" rIns="0" bIns="0" anchor="t">
            <a:spAutoFit/>
          </a:bodyPr>
          <a:lstStyle/>
          <a:p>
            <a:pPr algn="r">
              <a:lnSpc>
                <a:spcPct val="100000"/>
              </a:lnSpc>
              <a:spcBef>
                <a:spcPts val="0"/>
              </a:spcBef>
              <a:spcAft>
                <a:spcPts val="600"/>
              </a:spcAft>
            </a:pPr>
            <a:r>
              <a:rPr sz="900" b="0" i="0">
                <a:solidFill>
                  <a:srgbClr val="5C6B7D"/>
                </a:solidFill>
                <a:latin typeface="Calibri"/>
              </a:rPr>
              <a:t>KYROL Security Labs</a:t>
            </a:r>
          </a:p>
        </p:txBody>
      </p:sp>
      <p:sp>
        <p:nvSpPr>
          <p:cNvPr id="11" name="Rectangle 10"/>
          <p:cNvSpPr/>
          <p:nvPr/>
        </p:nvSpPr>
        <p:spPr>
          <a:xfrm>
            <a:off x="8442655" y="1481328"/>
            <a:ext cx="3246120" cy="4434840"/>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8442655" y="1481328"/>
            <a:ext cx="82296" cy="4434840"/>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98687" y="1664208"/>
            <a:ext cx="2788920" cy="365760"/>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2E6BB0"/>
                </a:solidFill>
                <a:latin typeface="Segoe UI"/>
              </a:rPr>
              <a:t>KEY POINTS</a:t>
            </a:r>
          </a:p>
        </p:txBody>
      </p:sp>
      <p:sp>
        <p:nvSpPr>
          <p:cNvPr id="14" name="TextBox 13"/>
          <p:cNvSpPr txBox="1"/>
          <p:nvPr/>
        </p:nvSpPr>
        <p:spPr>
          <a:xfrm>
            <a:off x="8698687" y="2121408"/>
            <a:ext cx="2770632" cy="3657600"/>
          </a:xfrm>
          <a:prstGeom prst="rect">
            <a:avLst/>
          </a:prstGeom>
          <a:noFill/>
        </p:spPr>
        <p:txBody>
          <a:bodyPr wrap="square" lIns="0" tIns="0" rIns="0" bIns="0">
            <a:spAutoFit/>
          </a:bodyPr>
          <a:lstStyle/>
          <a:p>
            <a:pPr marL="274320" indent="-237744">
              <a:lnSpc>
                <a:spcPct val="105000"/>
              </a:lnSpc>
              <a:spcBef>
                <a:spcPts val="0"/>
              </a:spcBef>
              <a:spcAft>
                <a:spcPts val="1300"/>
              </a:spcAft>
            </a:pPr>
            <a:r>
              <a:rPr sz="1250" b="1">
                <a:solidFill>
                  <a:srgbClr val="E8821E"/>
                </a:solidFill>
                <a:latin typeface="Calibri"/>
              </a:rPr>
              <a:t>▸  </a:t>
            </a:r>
            <a:r>
              <a:rPr sz="1250" b="0">
                <a:solidFill>
                  <a:srgbClr val="1E2A36"/>
                </a:solidFill>
                <a:latin typeface="Calibri"/>
              </a:rPr>
              <a:t>Dev workstation pushes code to GitHub</a:t>
            </a:r>
          </a:p>
          <a:p>
            <a:pPr marL="274320" indent="-237744">
              <a:lnSpc>
                <a:spcPct val="105000"/>
              </a:lnSpc>
              <a:spcBef>
                <a:spcPts val="0"/>
              </a:spcBef>
              <a:spcAft>
                <a:spcPts val="1300"/>
              </a:spcAft>
            </a:pPr>
            <a:r>
              <a:rPr sz="1250" b="1">
                <a:solidFill>
                  <a:srgbClr val="E8821E"/>
                </a:solidFill>
                <a:latin typeface="Calibri"/>
              </a:rPr>
              <a:t>▸  </a:t>
            </a:r>
            <a:r>
              <a:rPr sz="1250" b="0">
                <a:solidFill>
                  <a:srgbClr val="1E2A36"/>
                </a:solidFill>
                <a:latin typeface="Calibri"/>
              </a:rPr>
              <a:t>Production server: Windows Server 2019 + Docker</a:t>
            </a:r>
          </a:p>
          <a:p>
            <a:pPr marL="274320" indent="-237744">
              <a:lnSpc>
                <a:spcPct val="105000"/>
              </a:lnSpc>
              <a:spcBef>
                <a:spcPts val="0"/>
              </a:spcBef>
              <a:spcAft>
                <a:spcPts val="1300"/>
              </a:spcAft>
            </a:pPr>
            <a:r>
              <a:rPr sz="1250" b="1">
                <a:solidFill>
                  <a:srgbClr val="E8821E"/>
                </a:solidFill>
                <a:latin typeface="Calibri"/>
              </a:rPr>
              <a:t>▸  </a:t>
            </a:r>
            <a:r>
              <a:rPr sz="1250" b="0">
                <a:solidFill>
                  <a:srgbClr val="1E2A36"/>
                </a:solidFill>
                <a:latin typeface="Calibri"/>
              </a:rPr>
              <a:t>Windows container with Python 3.12.10</a:t>
            </a:r>
          </a:p>
          <a:p>
            <a:pPr marL="274320" indent="-237744">
              <a:lnSpc>
                <a:spcPct val="105000"/>
              </a:lnSpc>
              <a:spcBef>
                <a:spcPts val="0"/>
              </a:spcBef>
              <a:spcAft>
                <a:spcPts val="1300"/>
              </a:spcAft>
            </a:pPr>
            <a:r>
              <a:rPr sz="1250" b="1">
                <a:solidFill>
                  <a:srgbClr val="E8821E"/>
                </a:solidFill>
                <a:latin typeface="Calibri"/>
              </a:rPr>
              <a:t>▸  </a:t>
            </a:r>
            <a:r>
              <a:rPr sz="1250" b="0">
                <a:solidFill>
                  <a:srgbClr val="1E2A36"/>
                </a:solidFill>
                <a:latin typeface="Calibri"/>
              </a:rPr>
              <a:t>Data volume-mounted → editable in Excel</a:t>
            </a:r>
          </a:p>
          <a:p>
            <a:pPr marL="274320" indent="-237744">
              <a:lnSpc>
                <a:spcPct val="105000"/>
              </a:lnSpc>
              <a:spcBef>
                <a:spcPts val="0"/>
              </a:spcBef>
              <a:spcAft>
                <a:spcPts val="1300"/>
              </a:spcAft>
            </a:pPr>
            <a:r>
              <a:rPr sz="1250" b="1">
                <a:solidFill>
                  <a:srgbClr val="E8821E"/>
                </a:solidFill>
                <a:latin typeface="Calibri"/>
              </a:rPr>
              <a:t>▸  </a:t>
            </a:r>
            <a:r>
              <a:rPr sz="1250" b="0">
                <a:solidFill>
                  <a:srgbClr val="1E2A36"/>
                </a:solidFill>
                <a:latin typeface="Calibri"/>
              </a:rPr>
              <a:t>TLS · port 587 to smtp.office365.com</a:t>
            </a:r>
          </a:p>
          <a:p>
            <a:pPr marL="274320" indent="-237744">
              <a:lnSpc>
                <a:spcPct val="105000"/>
              </a:lnSpc>
              <a:spcBef>
                <a:spcPts val="0"/>
              </a:spcBef>
              <a:spcAft>
                <a:spcPts val="1300"/>
              </a:spcAft>
            </a:pPr>
            <a:r>
              <a:rPr sz="1250" b="1">
                <a:solidFill>
                  <a:srgbClr val="E8821E"/>
                </a:solidFill>
                <a:latin typeface="Calibri"/>
              </a:rPr>
              <a:t>▸  </a:t>
            </a:r>
            <a:r>
              <a:rPr sz="1250" b="0">
                <a:solidFill>
                  <a:srgbClr val="1E2A36"/>
                </a:solidFill>
                <a:latin typeface="Calibri"/>
              </a:rPr>
              <a:t>Dashed path = manual test runs only</a:t>
            </a:r>
          </a:p>
        </p:txBody>
      </p:sp>
      <p:sp>
        <p:nvSpPr>
          <p:cNvPr id="15" name="Rectangle 14"/>
          <p:cNvSpPr/>
          <p:nvPr/>
        </p:nvSpPr>
        <p:spPr>
          <a:xfrm>
            <a:off x="623131" y="1399032"/>
            <a:ext cx="7424992" cy="4325112"/>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fig33_deploy.png"/>
          <p:cNvPicPr>
            <a:picLocks noChangeAspect="1"/>
          </p:cNvPicPr>
          <p:nvPr/>
        </p:nvPicPr>
        <p:blipFill>
          <a:blip r:embed="rId3"/>
          <a:stretch>
            <a:fillRect/>
          </a:stretch>
        </p:blipFill>
        <p:spPr>
          <a:xfrm>
            <a:off x="705427" y="1481328"/>
            <a:ext cx="7260400" cy="4160520"/>
          </a:xfrm>
          <a:prstGeom prst="rect">
            <a:avLst/>
          </a:prstGeom>
          <a:ln w="9525">
            <a:solidFill>
              <a:srgbClr val="D5DEE8"/>
            </a:solidFill>
          </a:ln>
        </p:spPr>
      </p:pic>
      <p:sp>
        <p:nvSpPr>
          <p:cNvPr id="17" name="TextBox 16"/>
          <p:cNvSpPr txBox="1"/>
          <p:nvPr/>
        </p:nvSpPr>
        <p:spPr>
          <a:xfrm>
            <a:off x="502920" y="5742432"/>
            <a:ext cx="7665415" cy="365760"/>
          </a:xfrm>
          <a:prstGeom prst="rect">
            <a:avLst/>
          </a:prstGeom>
          <a:noFill/>
        </p:spPr>
        <p:txBody>
          <a:bodyPr wrap="square" lIns="0" tIns="0" rIns="0" bIns="0" anchor="t">
            <a:spAutoFit/>
          </a:bodyPr>
          <a:lstStyle/>
          <a:p>
            <a:pPr algn="ctr">
              <a:lnSpc>
                <a:spcPct val="100000"/>
              </a:lnSpc>
              <a:spcBef>
                <a:spcPts val="0"/>
              </a:spcBef>
              <a:spcAft>
                <a:spcPts val="600"/>
              </a:spcAft>
            </a:pPr>
            <a:r>
              <a:rPr sz="1100" b="0" i="1">
                <a:solidFill>
                  <a:srgbClr val="5C6B7D"/>
                </a:solidFill>
                <a:latin typeface="Calibri"/>
              </a:rPr>
              <a:t>Figure 3.3: Production Deployment Diagram</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78992"/>
          </a:xfrm>
          <a:prstGeom prst="rect">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78992"/>
            <a:ext cx="12191695" cy="5029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02920" y="274320"/>
            <a:ext cx="100584" cy="53035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82880"/>
            <a:ext cx="10789920" cy="310896"/>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9FC1E6"/>
                </a:solidFill>
                <a:latin typeface="Segoe UI"/>
              </a:rPr>
              <a:t>CHAPTER 3 · SECTION 3.4.5</a:t>
            </a:r>
          </a:p>
        </p:txBody>
      </p:sp>
      <p:sp>
        <p:nvSpPr>
          <p:cNvPr id="7" name="TextBox 6"/>
          <p:cNvSpPr txBox="1"/>
          <p:nvPr/>
        </p:nvSpPr>
        <p:spPr>
          <a:xfrm>
            <a:off x="749808" y="457200"/>
            <a:ext cx="10789920" cy="566928"/>
          </a:xfrm>
          <a:prstGeom prst="rect">
            <a:avLst/>
          </a:prstGeom>
          <a:noFill/>
        </p:spPr>
        <p:txBody>
          <a:bodyPr wrap="square" lIns="0" tIns="0" rIns="0" bIns="0" anchor="ctr">
            <a:spAutoFit/>
          </a:bodyPr>
          <a:lstStyle/>
          <a:p>
            <a:pPr algn="l">
              <a:lnSpc>
                <a:spcPct val="100000"/>
              </a:lnSpc>
              <a:spcBef>
                <a:spcPts val="0"/>
              </a:spcBef>
              <a:spcAft>
                <a:spcPts val="600"/>
              </a:spcAft>
            </a:pPr>
            <a:r>
              <a:rPr sz="2500" b="1" i="0">
                <a:solidFill>
                  <a:srgbClr val="FFFFFF"/>
                </a:solidFill>
                <a:latin typeface="Segoe UI Semibold"/>
              </a:rPr>
              <a:t>Component Diagram</a:t>
            </a:r>
          </a:p>
        </p:txBody>
      </p:sp>
      <p:sp>
        <p:nvSpPr>
          <p:cNvPr id="8" name="Rectangle 7"/>
          <p:cNvSpPr/>
          <p:nvPr/>
        </p:nvSpPr>
        <p:spPr>
          <a:xfrm>
            <a:off x="502920" y="6419088"/>
            <a:ext cx="11183112" cy="12700"/>
          </a:xfrm>
          <a:prstGeom prst="rect">
            <a:avLst/>
          </a:prstGeom>
          <a:solidFill>
            <a:srgbClr val="D5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6455664"/>
            <a:ext cx="7315200" cy="274320"/>
          </a:xfrm>
          <a:prstGeom prst="rect">
            <a:avLst/>
          </a:prstGeom>
          <a:noFill/>
        </p:spPr>
        <p:txBody>
          <a:bodyPr wrap="square" lIns="0" tIns="0" rIns="0" bIns="0" anchor="t">
            <a:spAutoFit/>
          </a:bodyPr>
          <a:lstStyle/>
          <a:p>
            <a:pPr algn="l">
              <a:lnSpc>
                <a:spcPct val="100000"/>
              </a:lnSpc>
              <a:spcBef>
                <a:spcPts val="0"/>
              </a:spcBef>
              <a:spcAft>
                <a:spcPts val="600"/>
              </a:spcAft>
            </a:pPr>
            <a:r>
              <a:rPr sz="900" b="0" i="0">
                <a:solidFill>
                  <a:srgbClr val="5C6B7D"/>
                </a:solidFill>
                <a:latin typeface="Calibri"/>
              </a:rPr>
              <a:t>Muhammad Arif Danial Bin Mohd Anuar  ·  2024933617</a:t>
            </a:r>
          </a:p>
        </p:txBody>
      </p:sp>
      <p:sp>
        <p:nvSpPr>
          <p:cNvPr id="10" name="TextBox 9"/>
          <p:cNvSpPr txBox="1"/>
          <p:nvPr/>
        </p:nvSpPr>
        <p:spPr>
          <a:xfrm>
            <a:off x="10515600" y="6455664"/>
            <a:ext cx="1170432" cy="274320"/>
          </a:xfrm>
          <a:prstGeom prst="rect">
            <a:avLst/>
          </a:prstGeom>
          <a:noFill/>
        </p:spPr>
        <p:txBody>
          <a:bodyPr wrap="square" lIns="0" tIns="0" rIns="0" bIns="0" anchor="t">
            <a:spAutoFit/>
          </a:bodyPr>
          <a:lstStyle/>
          <a:p>
            <a:pPr algn="r">
              <a:lnSpc>
                <a:spcPct val="100000"/>
              </a:lnSpc>
              <a:spcBef>
                <a:spcPts val="0"/>
              </a:spcBef>
              <a:spcAft>
                <a:spcPts val="600"/>
              </a:spcAft>
            </a:pPr>
            <a:r>
              <a:rPr sz="900" b="0" i="0">
                <a:solidFill>
                  <a:srgbClr val="5C6B7D"/>
                </a:solidFill>
                <a:latin typeface="Calibri"/>
              </a:rPr>
              <a:t>KYROL Security Labs</a:t>
            </a:r>
          </a:p>
        </p:txBody>
      </p:sp>
      <p:sp>
        <p:nvSpPr>
          <p:cNvPr id="11" name="Rectangle 10"/>
          <p:cNvSpPr/>
          <p:nvPr/>
        </p:nvSpPr>
        <p:spPr>
          <a:xfrm>
            <a:off x="8442655" y="1481328"/>
            <a:ext cx="3246120" cy="4434840"/>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8442655" y="1481328"/>
            <a:ext cx="82296" cy="4434840"/>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98687" y="1664208"/>
            <a:ext cx="2788920" cy="365760"/>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2E6BB0"/>
                </a:solidFill>
                <a:latin typeface="Segoe UI"/>
              </a:rPr>
              <a:t>KEY POINTS</a:t>
            </a:r>
          </a:p>
        </p:txBody>
      </p:sp>
      <p:sp>
        <p:nvSpPr>
          <p:cNvPr id="14" name="TextBox 13"/>
          <p:cNvSpPr txBox="1"/>
          <p:nvPr/>
        </p:nvSpPr>
        <p:spPr>
          <a:xfrm>
            <a:off x="8698687" y="2121408"/>
            <a:ext cx="2770632" cy="3657600"/>
          </a:xfrm>
          <a:prstGeom prst="rect">
            <a:avLst/>
          </a:prstGeom>
          <a:noFill/>
        </p:spPr>
        <p:txBody>
          <a:bodyPr wrap="square" lIns="0" tIns="0" rIns="0" bIns="0">
            <a:spAutoFit/>
          </a:bodyPr>
          <a:lstStyle/>
          <a:p>
            <a:pPr marL="274320" indent="-237744">
              <a:lnSpc>
                <a:spcPct val="105000"/>
              </a:lnSpc>
              <a:spcBef>
                <a:spcPts val="0"/>
              </a:spcBef>
              <a:spcAft>
                <a:spcPts val="1300"/>
              </a:spcAft>
            </a:pPr>
            <a:r>
              <a:rPr sz="1250" b="1" dirty="0">
                <a:solidFill>
                  <a:srgbClr val="E8821E"/>
                </a:solidFill>
                <a:latin typeface="Calibri"/>
              </a:rPr>
              <a:t>▸  </a:t>
            </a:r>
            <a:r>
              <a:rPr sz="1250" b="0" dirty="0">
                <a:solidFill>
                  <a:srgbClr val="1E2A36"/>
                </a:solidFill>
                <a:latin typeface="Calibri"/>
              </a:rPr>
              <a:t>main.py is the single orchestrator</a:t>
            </a:r>
          </a:p>
          <a:p>
            <a:pPr marL="274320" indent="-237744">
              <a:lnSpc>
                <a:spcPct val="105000"/>
              </a:lnSpc>
              <a:spcBef>
                <a:spcPts val="0"/>
              </a:spcBef>
              <a:spcAft>
                <a:spcPts val="1300"/>
              </a:spcAft>
            </a:pPr>
            <a:r>
              <a:rPr sz="1250" b="1" dirty="0">
                <a:solidFill>
                  <a:srgbClr val="E8821E"/>
                </a:solidFill>
                <a:latin typeface="Calibri"/>
              </a:rPr>
              <a:t>▸  </a:t>
            </a:r>
            <a:r>
              <a:rPr sz="1250" b="0" dirty="0">
                <a:solidFill>
                  <a:srgbClr val="1E2A36"/>
                </a:solidFill>
                <a:latin typeface="Calibri"/>
              </a:rPr>
              <a:t>Six modules, each one clear interface</a:t>
            </a:r>
          </a:p>
          <a:p>
            <a:pPr marL="274320" indent="-237744">
              <a:lnSpc>
                <a:spcPct val="105000"/>
              </a:lnSpc>
              <a:spcBef>
                <a:spcPts val="0"/>
              </a:spcBef>
              <a:spcAft>
                <a:spcPts val="1300"/>
              </a:spcAft>
            </a:pPr>
            <a:r>
              <a:rPr sz="1250" b="1" dirty="0">
                <a:solidFill>
                  <a:srgbClr val="E8821E"/>
                </a:solidFill>
                <a:latin typeface="Calibri"/>
              </a:rPr>
              <a:t>▸  </a:t>
            </a:r>
            <a:r>
              <a:rPr sz="1250" b="0" dirty="0">
                <a:solidFill>
                  <a:srgbClr val="1E2A36"/>
                </a:solidFill>
                <a:latin typeface="Calibri"/>
              </a:rPr>
              <a:t>loader.py uses SHEET_CONFIGS mapping</a:t>
            </a:r>
          </a:p>
          <a:p>
            <a:pPr marL="274320" indent="-237744">
              <a:lnSpc>
                <a:spcPct val="105000"/>
              </a:lnSpc>
              <a:spcBef>
                <a:spcPts val="0"/>
              </a:spcBef>
              <a:spcAft>
                <a:spcPts val="1300"/>
              </a:spcAft>
            </a:pPr>
            <a:r>
              <a:rPr sz="1250" b="1" dirty="0">
                <a:solidFill>
                  <a:srgbClr val="E8821E"/>
                </a:solidFill>
                <a:latin typeface="Calibri"/>
              </a:rPr>
              <a:t>▸  </a:t>
            </a:r>
            <a:r>
              <a:rPr sz="1250" b="0" dirty="0">
                <a:solidFill>
                  <a:srgbClr val="1E2A36"/>
                </a:solidFill>
                <a:latin typeface="Calibri"/>
              </a:rPr>
              <a:t>filterer.py selects due records</a:t>
            </a:r>
          </a:p>
          <a:p>
            <a:pPr marL="274320" indent="-237744">
              <a:lnSpc>
                <a:spcPct val="105000"/>
              </a:lnSpc>
              <a:spcBef>
                <a:spcPts val="0"/>
              </a:spcBef>
              <a:spcAft>
                <a:spcPts val="1300"/>
              </a:spcAft>
            </a:pPr>
            <a:r>
              <a:rPr sz="1250" b="1" dirty="0">
                <a:solidFill>
                  <a:srgbClr val="E8821E"/>
                </a:solidFill>
                <a:latin typeface="Calibri"/>
              </a:rPr>
              <a:t>▸  </a:t>
            </a:r>
            <a:r>
              <a:rPr sz="1250" b="0" dirty="0">
                <a:solidFill>
                  <a:srgbClr val="1E2A36"/>
                </a:solidFill>
                <a:latin typeface="Calibri"/>
              </a:rPr>
              <a:t>emailer.py sends with retry support</a:t>
            </a:r>
          </a:p>
          <a:p>
            <a:pPr marL="274320" indent="-237744">
              <a:lnSpc>
                <a:spcPct val="105000"/>
              </a:lnSpc>
              <a:spcBef>
                <a:spcPts val="0"/>
              </a:spcBef>
              <a:spcAft>
                <a:spcPts val="1300"/>
              </a:spcAft>
            </a:pPr>
            <a:r>
              <a:rPr sz="1250" b="1" dirty="0">
                <a:solidFill>
                  <a:srgbClr val="E8821E"/>
                </a:solidFill>
                <a:latin typeface="Calibri"/>
              </a:rPr>
              <a:t>▸  </a:t>
            </a:r>
            <a:r>
              <a:rPr sz="1250" b="0" dirty="0">
                <a:solidFill>
                  <a:srgbClr val="1E2A36"/>
                </a:solidFill>
                <a:latin typeface="Calibri"/>
              </a:rPr>
              <a:t>sentlog.py prevents duplicates</a:t>
            </a:r>
          </a:p>
        </p:txBody>
      </p:sp>
      <p:sp>
        <p:nvSpPr>
          <p:cNvPr id="15" name="Rectangle 14"/>
          <p:cNvSpPr/>
          <p:nvPr/>
        </p:nvSpPr>
        <p:spPr>
          <a:xfrm>
            <a:off x="1663225" y="1399032"/>
            <a:ext cx="5344805" cy="4325112"/>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fig34_component.png"/>
          <p:cNvPicPr>
            <a:picLocks noChangeAspect="1"/>
          </p:cNvPicPr>
          <p:nvPr/>
        </p:nvPicPr>
        <p:blipFill>
          <a:blip r:embed="rId3"/>
          <a:stretch>
            <a:fillRect/>
          </a:stretch>
        </p:blipFill>
        <p:spPr>
          <a:xfrm>
            <a:off x="1745521" y="1481328"/>
            <a:ext cx="5180213" cy="4160520"/>
          </a:xfrm>
          <a:prstGeom prst="rect">
            <a:avLst/>
          </a:prstGeom>
          <a:ln w="9525">
            <a:solidFill>
              <a:srgbClr val="D5DEE8"/>
            </a:solidFill>
          </a:ln>
        </p:spPr>
      </p:pic>
      <p:sp>
        <p:nvSpPr>
          <p:cNvPr id="17" name="TextBox 16"/>
          <p:cNvSpPr txBox="1"/>
          <p:nvPr/>
        </p:nvSpPr>
        <p:spPr>
          <a:xfrm>
            <a:off x="502920" y="5742432"/>
            <a:ext cx="7665415" cy="365760"/>
          </a:xfrm>
          <a:prstGeom prst="rect">
            <a:avLst/>
          </a:prstGeom>
          <a:noFill/>
        </p:spPr>
        <p:txBody>
          <a:bodyPr wrap="square" lIns="0" tIns="0" rIns="0" bIns="0" anchor="t">
            <a:spAutoFit/>
          </a:bodyPr>
          <a:lstStyle/>
          <a:p>
            <a:pPr algn="ctr">
              <a:lnSpc>
                <a:spcPct val="100000"/>
              </a:lnSpc>
              <a:spcBef>
                <a:spcPts val="0"/>
              </a:spcBef>
              <a:spcAft>
                <a:spcPts val="600"/>
              </a:spcAft>
            </a:pPr>
            <a:r>
              <a:rPr sz="1100" b="0" i="1">
                <a:solidFill>
                  <a:srgbClr val="5C6B7D"/>
                </a:solidFill>
                <a:latin typeface="Calibri"/>
              </a:rPr>
              <a:t>Figure 3.4: UML Component Diagram of the Source Modules (src/)</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78992"/>
          </a:xfrm>
          <a:prstGeom prst="rect">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78992"/>
            <a:ext cx="12191695" cy="5029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02920" y="274320"/>
            <a:ext cx="100584" cy="53035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82880"/>
            <a:ext cx="10789920" cy="310896"/>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9FC1E6"/>
                </a:solidFill>
                <a:latin typeface="Segoe UI"/>
              </a:rPr>
              <a:t>CHAPTER 3 · SECTION 3.4.6</a:t>
            </a:r>
          </a:p>
        </p:txBody>
      </p:sp>
      <p:sp>
        <p:nvSpPr>
          <p:cNvPr id="7" name="TextBox 6"/>
          <p:cNvSpPr txBox="1"/>
          <p:nvPr/>
        </p:nvSpPr>
        <p:spPr>
          <a:xfrm>
            <a:off x="749808" y="457200"/>
            <a:ext cx="10789920" cy="566928"/>
          </a:xfrm>
          <a:prstGeom prst="rect">
            <a:avLst/>
          </a:prstGeom>
          <a:noFill/>
        </p:spPr>
        <p:txBody>
          <a:bodyPr wrap="square" lIns="0" tIns="0" rIns="0" bIns="0" anchor="ctr">
            <a:spAutoFit/>
          </a:bodyPr>
          <a:lstStyle/>
          <a:p>
            <a:pPr algn="l">
              <a:lnSpc>
                <a:spcPct val="100000"/>
              </a:lnSpc>
              <a:spcBef>
                <a:spcPts val="0"/>
              </a:spcBef>
              <a:spcAft>
                <a:spcPts val="600"/>
              </a:spcAft>
            </a:pPr>
            <a:r>
              <a:rPr sz="2500" b="1" i="0">
                <a:solidFill>
                  <a:srgbClr val="FFFFFF"/>
                </a:solidFill>
                <a:latin typeface="Segoe UI Semibold"/>
              </a:rPr>
              <a:t>Sequence Diagram</a:t>
            </a:r>
          </a:p>
        </p:txBody>
      </p:sp>
      <p:sp>
        <p:nvSpPr>
          <p:cNvPr id="8" name="Rectangle 7"/>
          <p:cNvSpPr/>
          <p:nvPr/>
        </p:nvSpPr>
        <p:spPr>
          <a:xfrm>
            <a:off x="502920" y="6419088"/>
            <a:ext cx="11183112" cy="12700"/>
          </a:xfrm>
          <a:prstGeom prst="rect">
            <a:avLst/>
          </a:prstGeom>
          <a:solidFill>
            <a:srgbClr val="D5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6455664"/>
            <a:ext cx="7315200" cy="274320"/>
          </a:xfrm>
          <a:prstGeom prst="rect">
            <a:avLst/>
          </a:prstGeom>
          <a:noFill/>
        </p:spPr>
        <p:txBody>
          <a:bodyPr wrap="square" lIns="0" tIns="0" rIns="0" bIns="0" anchor="t">
            <a:spAutoFit/>
          </a:bodyPr>
          <a:lstStyle/>
          <a:p>
            <a:pPr algn="l">
              <a:lnSpc>
                <a:spcPct val="100000"/>
              </a:lnSpc>
              <a:spcBef>
                <a:spcPts val="0"/>
              </a:spcBef>
              <a:spcAft>
                <a:spcPts val="600"/>
              </a:spcAft>
            </a:pPr>
            <a:r>
              <a:rPr sz="900" b="0" i="0">
                <a:solidFill>
                  <a:srgbClr val="5C6B7D"/>
                </a:solidFill>
                <a:latin typeface="Calibri"/>
              </a:rPr>
              <a:t>Muhammad Arif Danial Bin Mohd Anuar  ·  2024933617</a:t>
            </a:r>
          </a:p>
        </p:txBody>
      </p:sp>
      <p:sp>
        <p:nvSpPr>
          <p:cNvPr id="10" name="TextBox 9"/>
          <p:cNvSpPr txBox="1"/>
          <p:nvPr/>
        </p:nvSpPr>
        <p:spPr>
          <a:xfrm>
            <a:off x="10515600" y="6455664"/>
            <a:ext cx="1170432" cy="274320"/>
          </a:xfrm>
          <a:prstGeom prst="rect">
            <a:avLst/>
          </a:prstGeom>
          <a:noFill/>
        </p:spPr>
        <p:txBody>
          <a:bodyPr wrap="square" lIns="0" tIns="0" rIns="0" bIns="0" anchor="t">
            <a:spAutoFit/>
          </a:bodyPr>
          <a:lstStyle/>
          <a:p>
            <a:pPr algn="r">
              <a:lnSpc>
                <a:spcPct val="100000"/>
              </a:lnSpc>
              <a:spcBef>
                <a:spcPts val="0"/>
              </a:spcBef>
              <a:spcAft>
                <a:spcPts val="600"/>
              </a:spcAft>
            </a:pPr>
            <a:r>
              <a:rPr sz="900" b="0" i="0">
                <a:solidFill>
                  <a:srgbClr val="5C6B7D"/>
                </a:solidFill>
                <a:latin typeface="Calibri"/>
              </a:rPr>
              <a:t>KYROL Security Labs</a:t>
            </a:r>
          </a:p>
        </p:txBody>
      </p:sp>
      <p:sp>
        <p:nvSpPr>
          <p:cNvPr id="11" name="Rectangle 10"/>
          <p:cNvSpPr/>
          <p:nvPr/>
        </p:nvSpPr>
        <p:spPr>
          <a:xfrm>
            <a:off x="8442655" y="1481328"/>
            <a:ext cx="3246120" cy="4434840"/>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2" name="Rectangle 11"/>
          <p:cNvSpPr/>
          <p:nvPr/>
        </p:nvSpPr>
        <p:spPr>
          <a:xfrm>
            <a:off x="8442655" y="1481328"/>
            <a:ext cx="82296" cy="4434840"/>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98687" y="1664208"/>
            <a:ext cx="2788920" cy="365760"/>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2E6BB0"/>
                </a:solidFill>
                <a:latin typeface="Segoe UI"/>
              </a:rPr>
              <a:t>KEY POINTS</a:t>
            </a:r>
          </a:p>
        </p:txBody>
      </p:sp>
      <p:sp>
        <p:nvSpPr>
          <p:cNvPr id="14" name="TextBox 13"/>
          <p:cNvSpPr txBox="1"/>
          <p:nvPr/>
        </p:nvSpPr>
        <p:spPr>
          <a:xfrm>
            <a:off x="8698687" y="2121408"/>
            <a:ext cx="2770632" cy="3657600"/>
          </a:xfrm>
          <a:prstGeom prst="rect">
            <a:avLst/>
          </a:prstGeom>
          <a:noFill/>
        </p:spPr>
        <p:txBody>
          <a:bodyPr wrap="square" lIns="0" tIns="0" rIns="0" bIns="0">
            <a:spAutoFit/>
          </a:bodyPr>
          <a:lstStyle/>
          <a:p>
            <a:pPr marL="274320" indent="-237744">
              <a:lnSpc>
                <a:spcPct val="105000"/>
              </a:lnSpc>
              <a:spcBef>
                <a:spcPts val="0"/>
              </a:spcBef>
              <a:spcAft>
                <a:spcPts val="1300"/>
              </a:spcAft>
            </a:pPr>
            <a:r>
              <a:rPr sz="1250" b="1">
                <a:solidFill>
                  <a:srgbClr val="E8821E"/>
                </a:solidFill>
                <a:latin typeface="Calibri"/>
              </a:rPr>
              <a:t>▸  </a:t>
            </a:r>
            <a:r>
              <a:rPr sz="1250" b="0">
                <a:solidFill>
                  <a:srgbClr val="1E2A36"/>
                </a:solidFill>
                <a:latin typeface="Calibri"/>
              </a:rPr>
              <a:t>Traces one full daily run end-to-end</a:t>
            </a:r>
          </a:p>
          <a:p>
            <a:pPr marL="274320" indent="-237744">
              <a:lnSpc>
                <a:spcPct val="105000"/>
              </a:lnSpc>
              <a:spcBef>
                <a:spcPts val="0"/>
              </a:spcBef>
              <a:spcAft>
                <a:spcPts val="1300"/>
              </a:spcAft>
            </a:pPr>
            <a:r>
              <a:rPr sz="1250" b="1">
                <a:solidFill>
                  <a:srgbClr val="E8821E"/>
                </a:solidFill>
                <a:latin typeface="Calibri"/>
              </a:rPr>
              <a:t>▸  </a:t>
            </a:r>
            <a:r>
              <a:rPr sz="1250" b="0">
                <a:solidFill>
                  <a:srgbClr val="1E2A36"/>
                </a:solidFill>
                <a:latin typeface="Calibri"/>
              </a:rPr>
              <a:t>loop: every candidate is checked first</a:t>
            </a:r>
          </a:p>
          <a:p>
            <a:pPr marL="274320" indent="-237744">
              <a:lnSpc>
                <a:spcPct val="105000"/>
              </a:lnSpc>
              <a:spcBef>
                <a:spcPts val="0"/>
              </a:spcBef>
              <a:spcAft>
                <a:spcPts val="1300"/>
              </a:spcAft>
            </a:pPr>
            <a:r>
              <a:rPr sz="1250" b="1">
                <a:solidFill>
                  <a:srgbClr val="E8821E"/>
                </a:solidFill>
                <a:latin typeface="Calibri"/>
              </a:rPr>
              <a:t>▸  </a:t>
            </a:r>
            <a:r>
              <a:rPr sz="1250" b="0">
                <a:solidFill>
                  <a:srgbClr val="1E2A36"/>
                </a:solidFill>
                <a:latin typeface="Calibri"/>
              </a:rPr>
              <a:t>alt: skip if not due / already sent / capped</a:t>
            </a:r>
          </a:p>
          <a:p>
            <a:pPr marL="274320" indent="-237744">
              <a:lnSpc>
                <a:spcPct val="105000"/>
              </a:lnSpc>
              <a:spcBef>
                <a:spcPts val="0"/>
              </a:spcBef>
              <a:spcAft>
                <a:spcPts val="1300"/>
              </a:spcAft>
            </a:pPr>
            <a:r>
              <a:rPr sz="1250" b="1">
                <a:solidFill>
                  <a:srgbClr val="E8821E"/>
                </a:solidFill>
                <a:latin typeface="Calibri"/>
              </a:rPr>
              <a:t>▸  </a:t>
            </a:r>
            <a:r>
              <a:rPr sz="1250" b="0">
                <a:solidFill>
                  <a:srgbClr val="1E2A36"/>
                </a:solidFill>
                <a:latin typeface="Calibri"/>
              </a:rPr>
              <a:t>emailer.py retries up to retry_max times</a:t>
            </a:r>
          </a:p>
          <a:p>
            <a:pPr marL="274320" indent="-237744">
              <a:lnSpc>
                <a:spcPct val="105000"/>
              </a:lnSpc>
              <a:spcBef>
                <a:spcPts val="0"/>
              </a:spcBef>
              <a:spcAft>
                <a:spcPts val="1300"/>
              </a:spcAft>
            </a:pPr>
            <a:r>
              <a:rPr sz="1250" b="1">
                <a:solidFill>
                  <a:srgbClr val="E8821E"/>
                </a:solidFill>
                <a:latin typeface="Calibri"/>
              </a:rPr>
              <a:t>▸  </a:t>
            </a:r>
            <a:r>
              <a:rPr sz="1250" b="0">
                <a:solidFill>
                  <a:srgbClr val="1E2A36"/>
                </a:solidFill>
                <a:latin typeface="Calibri"/>
              </a:rPr>
              <a:t>sent_log updated only on success</a:t>
            </a:r>
          </a:p>
          <a:p>
            <a:pPr marL="274320" indent="-237744">
              <a:lnSpc>
                <a:spcPct val="105000"/>
              </a:lnSpc>
              <a:spcBef>
                <a:spcPts val="0"/>
              </a:spcBef>
              <a:spcAft>
                <a:spcPts val="1300"/>
              </a:spcAft>
            </a:pPr>
            <a:r>
              <a:rPr sz="1250" b="1">
                <a:solidFill>
                  <a:srgbClr val="E8821E"/>
                </a:solidFill>
                <a:latin typeface="Calibri"/>
              </a:rPr>
              <a:t>▸  </a:t>
            </a:r>
            <a:r>
              <a:rPr sz="1250" b="0">
                <a:solidFill>
                  <a:srgbClr val="1E2A36"/>
                </a:solidFill>
                <a:latin typeface="Calibri"/>
              </a:rPr>
              <a:t>report.py writes the run summary</a:t>
            </a:r>
          </a:p>
        </p:txBody>
      </p:sp>
      <p:sp>
        <p:nvSpPr>
          <p:cNvPr id="15" name="Rectangle 14"/>
          <p:cNvSpPr/>
          <p:nvPr/>
        </p:nvSpPr>
        <p:spPr>
          <a:xfrm>
            <a:off x="420624" y="1536359"/>
            <a:ext cx="7830007" cy="4050457"/>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fig35_sequence.png"/>
          <p:cNvPicPr>
            <a:picLocks noChangeAspect="1"/>
          </p:cNvPicPr>
          <p:nvPr/>
        </p:nvPicPr>
        <p:blipFill>
          <a:blip r:embed="rId3"/>
          <a:stretch>
            <a:fillRect/>
          </a:stretch>
        </p:blipFill>
        <p:spPr>
          <a:xfrm>
            <a:off x="505172" y="1609344"/>
            <a:ext cx="7827755" cy="3968161"/>
          </a:xfrm>
          <a:prstGeom prst="rect">
            <a:avLst/>
          </a:prstGeom>
          <a:ln w="9525">
            <a:solidFill>
              <a:srgbClr val="D5DEE8"/>
            </a:solidFill>
          </a:ln>
        </p:spPr>
      </p:pic>
      <p:sp>
        <p:nvSpPr>
          <p:cNvPr id="17" name="TextBox 16"/>
          <p:cNvSpPr txBox="1"/>
          <p:nvPr/>
        </p:nvSpPr>
        <p:spPr>
          <a:xfrm>
            <a:off x="502920" y="5742432"/>
            <a:ext cx="7665415" cy="365760"/>
          </a:xfrm>
          <a:prstGeom prst="rect">
            <a:avLst/>
          </a:prstGeom>
          <a:noFill/>
        </p:spPr>
        <p:txBody>
          <a:bodyPr wrap="square" lIns="0" tIns="0" rIns="0" bIns="0" anchor="t">
            <a:spAutoFit/>
          </a:bodyPr>
          <a:lstStyle/>
          <a:p>
            <a:pPr algn="ctr">
              <a:lnSpc>
                <a:spcPct val="100000"/>
              </a:lnSpc>
              <a:spcBef>
                <a:spcPts val="0"/>
              </a:spcBef>
              <a:spcAft>
                <a:spcPts val="600"/>
              </a:spcAft>
            </a:pPr>
            <a:r>
              <a:rPr sz="1100" b="0" i="1">
                <a:solidFill>
                  <a:srgbClr val="5C6B7D"/>
                </a:solidFill>
                <a:latin typeface="Calibri"/>
              </a:rPr>
              <a:t>Figure 3.5: Sequence Diagram of a Single Daily Reminder Run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78992"/>
          </a:xfrm>
          <a:prstGeom prst="rect">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78992"/>
            <a:ext cx="12191695" cy="5029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02920" y="274320"/>
            <a:ext cx="100584" cy="53035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82880"/>
            <a:ext cx="10789920" cy="310896"/>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9FC1E6"/>
                </a:solidFill>
                <a:latin typeface="Segoe UI"/>
              </a:rPr>
              <a:t>CHAPTER 3 · SECTION 3.4.7</a:t>
            </a:r>
          </a:p>
        </p:txBody>
      </p:sp>
      <p:sp>
        <p:nvSpPr>
          <p:cNvPr id="7" name="TextBox 6"/>
          <p:cNvSpPr txBox="1"/>
          <p:nvPr/>
        </p:nvSpPr>
        <p:spPr>
          <a:xfrm>
            <a:off x="749808" y="457200"/>
            <a:ext cx="10789920" cy="566928"/>
          </a:xfrm>
          <a:prstGeom prst="rect">
            <a:avLst/>
          </a:prstGeom>
          <a:noFill/>
        </p:spPr>
        <p:txBody>
          <a:bodyPr wrap="square" lIns="0" tIns="0" rIns="0" bIns="0" anchor="ctr">
            <a:spAutoFit/>
          </a:bodyPr>
          <a:lstStyle/>
          <a:p>
            <a:pPr algn="l">
              <a:lnSpc>
                <a:spcPct val="100000"/>
              </a:lnSpc>
              <a:spcBef>
                <a:spcPts val="0"/>
              </a:spcBef>
              <a:spcAft>
                <a:spcPts val="600"/>
              </a:spcAft>
            </a:pPr>
            <a:r>
              <a:rPr sz="2500" b="1" i="0">
                <a:solidFill>
                  <a:srgbClr val="FFFFFF"/>
                </a:solidFill>
                <a:latin typeface="Segoe UI Semibold"/>
              </a:rPr>
              <a:t>Main Project Interface</a:t>
            </a:r>
          </a:p>
        </p:txBody>
      </p:sp>
      <p:sp>
        <p:nvSpPr>
          <p:cNvPr id="8" name="Rectangle 7"/>
          <p:cNvSpPr/>
          <p:nvPr/>
        </p:nvSpPr>
        <p:spPr>
          <a:xfrm>
            <a:off x="502920" y="6419088"/>
            <a:ext cx="11183112" cy="12700"/>
          </a:xfrm>
          <a:prstGeom prst="rect">
            <a:avLst/>
          </a:prstGeom>
          <a:solidFill>
            <a:srgbClr val="D5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6455664"/>
            <a:ext cx="7315200" cy="274320"/>
          </a:xfrm>
          <a:prstGeom prst="rect">
            <a:avLst/>
          </a:prstGeom>
          <a:noFill/>
        </p:spPr>
        <p:txBody>
          <a:bodyPr wrap="square" lIns="0" tIns="0" rIns="0" bIns="0" anchor="t">
            <a:spAutoFit/>
          </a:bodyPr>
          <a:lstStyle/>
          <a:p>
            <a:pPr algn="l">
              <a:lnSpc>
                <a:spcPct val="100000"/>
              </a:lnSpc>
              <a:spcBef>
                <a:spcPts val="0"/>
              </a:spcBef>
              <a:spcAft>
                <a:spcPts val="600"/>
              </a:spcAft>
            </a:pPr>
            <a:r>
              <a:rPr sz="900" b="0" i="0">
                <a:solidFill>
                  <a:srgbClr val="5C6B7D"/>
                </a:solidFill>
                <a:latin typeface="Calibri"/>
              </a:rPr>
              <a:t>Muhammad Arif Danial Bin Mohd Anuar  ·  2024933617</a:t>
            </a:r>
          </a:p>
        </p:txBody>
      </p:sp>
      <p:sp>
        <p:nvSpPr>
          <p:cNvPr id="10" name="TextBox 9"/>
          <p:cNvSpPr txBox="1"/>
          <p:nvPr/>
        </p:nvSpPr>
        <p:spPr>
          <a:xfrm>
            <a:off x="10515600" y="6455664"/>
            <a:ext cx="1170432" cy="274320"/>
          </a:xfrm>
          <a:prstGeom prst="rect">
            <a:avLst/>
          </a:prstGeom>
          <a:noFill/>
        </p:spPr>
        <p:txBody>
          <a:bodyPr wrap="square" lIns="0" tIns="0" rIns="0" bIns="0" anchor="t">
            <a:spAutoFit/>
          </a:bodyPr>
          <a:lstStyle/>
          <a:p>
            <a:pPr algn="r">
              <a:lnSpc>
                <a:spcPct val="100000"/>
              </a:lnSpc>
              <a:spcBef>
                <a:spcPts val="0"/>
              </a:spcBef>
              <a:spcAft>
                <a:spcPts val="600"/>
              </a:spcAft>
            </a:pPr>
            <a:r>
              <a:rPr sz="900" b="0" i="0">
                <a:solidFill>
                  <a:srgbClr val="5C6B7D"/>
                </a:solidFill>
                <a:latin typeface="Calibri"/>
              </a:rPr>
              <a:t>KYROL Security Labs</a:t>
            </a:r>
          </a:p>
        </p:txBody>
      </p:sp>
      <p:sp>
        <p:nvSpPr>
          <p:cNvPr id="11" name="Rectangle 10"/>
          <p:cNvSpPr/>
          <p:nvPr/>
        </p:nvSpPr>
        <p:spPr>
          <a:xfrm>
            <a:off x="754453" y="1380744"/>
            <a:ext cx="5349094" cy="4507992"/>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fig36_email.png"/>
          <p:cNvPicPr>
            <a:picLocks noChangeAspect="1"/>
          </p:cNvPicPr>
          <p:nvPr/>
        </p:nvPicPr>
        <p:blipFill>
          <a:blip r:embed="rId3"/>
          <a:stretch>
            <a:fillRect/>
          </a:stretch>
        </p:blipFill>
        <p:spPr>
          <a:xfrm>
            <a:off x="836749" y="1463040"/>
            <a:ext cx="5184502" cy="4343400"/>
          </a:xfrm>
          <a:prstGeom prst="rect">
            <a:avLst/>
          </a:prstGeom>
          <a:ln w="9525">
            <a:solidFill>
              <a:srgbClr val="D5DEE8"/>
            </a:solidFill>
          </a:ln>
        </p:spPr>
      </p:pic>
      <p:sp>
        <p:nvSpPr>
          <p:cNvPr id="13" name="TextBox 12"/>
          <p:cNvSpPr txBox="1"/>
          <p:nvPr/>
        </p:nvSpPr>
        <p:spPr>
          <a:xfrm>
            <a:off x="502920" y="5870448"/>
            <a:ext cx="5852160" cy="320040"/>
          </a:xfrm>
          <a:prstGeom prst="rect">
            <a:avLst/>
          </a:prstGeom>
          <a:noFill/>
        </p:spPr>
        <p:txBody>
          <a:bodyPr wrap="square" lIns="0" tIns="0" rIns="0" bIns="0" anchor="t">
            <a:spAutoFit/>
          </a:bodyPr>
          <a:lstStyle/>
          <a:p>
            <a:pPr algn="ctr">
              <a:lnSpc>
                <a:spcPct val="100000"/>
              </a:lnSpc>
              <a:spcBef>
                <a:spcPts val="0"/>
              </a:spcBef>
              <a:spcAft>
                <a:spcPts val="600"/>
              </a:spcAft>
            </a:pPr>
            <a:r>
              <a:rPr sz="1100" b="0" i="1">
                <a:solidFill>
                  <a:srgbClr val="5C6B7D"/>
                </a:solidFill>
                <a:latin typeface="Calibri"/>
              </a:rPr>
              <a:t>Figure 3.6: HTML Structure of the Reminder Email Template</a:t>
            </a:r>
          </a:p>
        </p:txBody>
      </p:sp>
      <p:sp>
        <p:nvSpPr>
          <p:cNvPr id="14" name="TextBox 13"/>
          <p:cNvSpPr txBox="1"/>
          <p:nvPr/>
        </p:nvSpPr>
        <p:spPr>
          <a:xfrm>
            <a:off x="6720840" y="1554480"/>
            <a:ext cx="4937760" cy="457200"/>
          </a:xfrm>
          <a:prstGeom prst="rect">
            <a:avLst/>
          </a:prstGeom>
          <a:noFill/>
        </p:spPr>
        <p:txBody>
          <a:bodyPr wrap="square" lIns="0" tIns="0" rIns="0" bIns="0" anchor="t">
            <a:spAutoFit/>
          </a:bodyPr>
          <a:lstStyle/>
          <a:p>
            <a:pPr algn="l">
              <a:lnSpc>
                <a:spcPct val="100000"/>
              </a:lnSpc>
              <a:spcBef>
                <a:spcPts val="0"/>
              </a:spcBef>
              <a:spcAft>
                <a:spcPts val="600"/>
              </a:spcAft>
            </a:pPr>
            <a:r>
              <a:rPr sz="1900" b="1" i="0" dirty="0">
                <a:solidFill>
                  <a:srgbClr val="0F2A47"/>
                </a:solidFill>
                <a:latin typeface="Segoe UI Semibold"/>
              </a:rPr>
              <a:t>Dynamic HTML Email</a:t>
            </a:r>
          </a:p>
        </p:txBody>
      </p:sp>
      <p:sp>
        <p:nvSpPr>
          <p:cNvPr id="15" name="TextBox 14"/>
          <p:cNvSpPr txBox="1"/>
          <p:nvPr/>
        </p:nvSpPr>
        <p:spPr>
          <a:xfrm>
            <a:off x="6720840" y="2057400"/>
            <a:ext cx="4937760" cy="914400"/>
          </a:xfrm>
          <a:prstGeom prst="rect">
            <a:avLst/>
          </a:prstGeom>
          <a:noFill/>
        </p:spPr>
        <p:txBody>
          <a:bodyPr wrap="square" lIns="0" tIns="0" rIns="0" bIns="0" anchor="t">
            <a:spAutoFit/>
          </a:bodyPr>
          <a:lstStyle/>
          <a:p>
            <a:pPr algn="l">
              <a:lnSpc>
                <a:spcPct val="112000"/>
              </a:lnSpc>
              <a:spcBef>
                <a:spcPts val="0"/>
              </a:spcBef>
              <a:spcAft>
                <a:spcPts val="600"/>
              </a:spcAft>
            </a:pPr>
            <a:r>
              <a:rPr sz="1350" b="0" i="0">
                <a:solidFill>
                  <a:srgbClr val="1E2A36"/>
                </a:solidFill>
                <a:latin typeface="Calibri"/>
              </a:rPr>
              <a:t>The user-facing output is a branded HTML email generated fresh for each client, using placeholder tags replaced at runtime:</a:t>
            </a:r>
          </a:p>
        </p:txBody>
      </p:sp>
      <p:sp>
        <p:nvSpPr>
          <p:cNvPr id="16" name="Rectangle 15"/>
          <p:cNvSpPr/>
          <p:nvPr/>
        </p:nvSpPr>
        <p:spPr>
          <a:xfrm>
            <a:off x="6720840" y="3200400"/>
            <a:ext cx="4937760" cy="566928"/>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903720" y="3282696"/>
            <a:ext cx="2468880" cy="402336"/>
          </a:xfrm>
          <a:prstGeom prst="rect">
            <a:avLst/>
          </a:prstGeom>
          <a:noFill/>
        </p:spPr>
        <p:txBody>
          <a:bodyPr wrap="square" lIns="0" tIns="0" rIns="0" bIns="0" anchor="ctr">
            <a:spAutoFit/>
          </a:bodyPr>
          <a:lstStyle/>
          <a:p>
            <a:pPr algn="l">
              <a:lnSpc>
                <a:spcPct val="100000"/>
              </a:lnSpc>
              <a:spcBef>
                <a:spcPts val="0"/>
              </a:spcBef>
              <a:spcAft>
                <a:spcPts val="600"/>
              </a:spcAft>
            </a:pPr>
            <a:r>
              <a:rPr sz="1250" b="1" i="0">
                <a:solidFill>
                  <a:srgbClr val="2E6BB0"/>
                </a:solidFill>
                <a:latin typeface="Consolas"/>
              </a:rPr>
              <a:t>{esc(product)}</a:t>
            </a:r>
          </a:p>
        </p:txBody>
      </p:sp>
      <p:sp>
        <p:nvSpPr>
          <p:cNvPr id="18" name="TextBox 17"/>
          <p:cNvSpPr txBox="1"/>
          <p:nvPr/>
        </p:nvSpPr>
        <p:spPr>
          <a:xfrm>
            <a:off x="9326880" y="3282696"/>
            <a:ext cx="2286000" cy="402336"/>
          </a:xfrm>
          <a:prstGeom prst="rect">
            <a:avLst/>
          </a:prstGeom>
          <a:noFill/>
        </p:spPr>
        <p:txBody>
          <a:bodyPr wrap="square" lIns="0" tIns="0" rIns="0" bIns="0" anchor="ctr">
            <a:spAutoFit/>
          </a:bodyPr>
          <a:lstStyle/>
          <a:p>
            <a:pPr algn="l">
              <a:lnSpc>
                <a:spcPct val="100000"/>
              </a:lnSpc>
              <a:spcBef>
                <a:spcPts val="0"/>
              </a:spcBef>
              <a:spcAft>
                <a:spcPts val="600"/>
              </a:spcAft>
            </a:pPr>
            <a:r>
              <a:rPr sz="1150" b="0" i="0">
                <a:solidFill>
                  <a:srgbClr val="5C6B7D"/>
                </a:solidFill>
                <a:latin typeface="Calibri"/>
              </a:rPr>
              <a:t>Product name</a:t>
            </a:r>
          </a:p>
        </p:txBody>
      </p:sp>
      <p:sp>
        <p:nvSpPr>
          <p:cNvPr id="19" name="Rectangle 18"/>
          <p:cNvSpPr/>
          <p:nvPr/>
        </p:nvSpPr>
        <p:spPr>
          <a:xfrm>
            <a:off x="6720840" y="3858768"/>
            <a:ext cx="4937760" cy="566928"/>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903720" y="3941064"/>
            <a:ext cx="2468880" cy="402336"/>
          </a:xfrm>
          <a:prstGeom prst="rect">
            <a:avLst/>
          </a:prstGeom>
          <a:noFill/>
        </p:spPr>
        <p:txBody>
          <a:bodyPr wrap="square" lIns="0" tIns="0" rIns="0" bIns="0" anchor="ctr">
            <a:spAutoFit/>
          </a:bodyPr>
          <a:lstStyle/>
          <a:p>
            <a:pPr algn="l">
              <a:lnSpc>
                <a:spcPct val="100000"/>
              </a:lnSpc>
              <a:spcBef>
                <a:spcPts val="0"/>
              </a:spcBef>
              <a:spcAft>
                <a:spcPts val="600"/>
              </a:spcAft>
            </a:pPr>
            <a:r>
              <a:rPr sz="1250" b="1" i="0">
                <a:solidFill>
                  <a:srgbClr val="2E6BB0"/>
                </a:solidFill>
                <a:latin typeface="Consolas"/>
              </a:rPr>
              <a:t>{stage_days}</a:t>
            </a:r>
          </a:p>
        </p:txBody>
      </p:sp>
      <p:sp>
        <p:nvSpPr>
          <p:cNvPr id="21" name="TextBox 20"/>
          <p:cNvSpPr txBox="1"/>
          <p:nvPr/>
        </p:nvSpPr>
        <p:spPr>
          <a:xfrm>
            <a:off x="9326880" y="3941064"/>
            <a:ext cx="2286000" cy="402336"/>
          </a:xfrm>
          <a:prstGeom prst="rect">
            <a:avLst/>
          </a:prstGeom>
          <a:noFill/>
        </p:spPr>
        <p:txBody>
          <a:bodyPr wrap="square" lIns="0" tIns="0" rIns="0" bIns="0" anchor="ctr">
            <a:spAutoFit/>
          </a:bodyPr>
          <a:lstStyle/>
          <a:p>
            <a:pPr algn="l">
              <a:lnSpc>
                <a:spcPct val="100000"/>
              </a:lnSpc>
              <a:spcBef>
                <a:spcPts val="0"/>
              </a:spcBef>
              <a:spcAft>
                <a:spcPts val="600"/>
              </a:spcAft>
            </a:pPr>
            <a:r>
              <a:rPr sz="1150" b="0" i="0">
                <a:solidFill>
                  <a:srgbClr val="5C6B7D"/>
                </a:solidFill>
                <a:latin typeface="Calibri"/>
              </a:rPr>
              <a:t>Milestone (30 / 7 / 1)</a:t>
            </a:r>
          </a:p>
        </p:txBody>
      </p:sp>
      <p:sp>
        <p:nvSpPr>
          <p:cNvPr id="22" name="Rectangle 21"/>
          <p:cNvSpPr/>
          <p:nvPr/>
        </p:nvSpPr>
        <p:spPr>
          <a:xfrm>
            <a:off x="6720840" y="4517136"/>
            <a:ext cx="4937760" cy="566928"/>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903720" y="4599432"/>
            <a:ext cx="2468880" cy="402336"/>
          </a:xfrm>
          <a:prstGeom prst="rect">
            <a:avLst/>
          </a:prstGeom>
          <a:noFill/>
        </p:spPr>
        <p:txBody>
          <a:bodyPr wrap="square" lIns="0" tIns="0" rIns="0" bIns="0" anchor="ctr">
            <a:spAutoFit/>
          </a:bodyPr>
          <a:lstStyle/>
          <a:p>
            <a:pPr algn="l">
              <a:lnSpc>
                <a:spcPct val="100000"/>
              </a:lnSpc>
              <a:spcBef>
                <a:spcPts val="0"/>
              </a:spcBef>
              <a:spcAft>
                <a:spcPts val="600"/>
              </a:spcAft>
            </a:pPr>
            <a:r>
              <a:rPr sz="1250" b="1" i="0">
                <a:solidFill>
                  <a:srgbClr val="2E6BB0"/>
                </a:solidFill>
                <a:latin typeface="Consolas"/>
              </a:rPr>
              <a:t>{formatted_date}</a:t>
            </a:r>
          </a:p>
        </p:txBody>
      </p:sp>
      <p:sp>
        <p:nvSpPr>
          <p:cNvPr id="24" name="TextBox 23"/>
          <p:cNvSpPr txBox="1"/>
          <p:nvPr/>
        </p:nvSpPr>
        <p:spPr>
          <a:xfrm>
            <a:off x="9326880" y="4599432"/>
            <a:ext cx="2286000" cy="402336"/>
          </a:xfrm>
          <a:prstGeom prst="rect">
            <a:avLst/>
          </a:prstGeom>
          <a:noFill/>
        </p:spPr>
        <p:txBody>
          <a:bodyPr wrap="square" lIns="0" tIns="0" rIns="0" bIns="0" anchor="ctr">
            <a:spAutoFit/>
          </a:bodyPr>
          <a:lstStyle/>
          <a:p>
            <a:pPr algn="l">
              <a:lnSpc>
                <a:spcPct val="100000"/>
              </a:lnSpc>
              <a:spcBef>
                <a:spcPts val="0"/>
              </a:spcBef>
              <a:spcAft>
                <a:spcPts val="600"/>
              </a:spcAft>
            </a:pPr>
            <a:r>
              <a:rPr sz="1150" b="0" i="0">
                <a:solidFill>
                  <a:srgbClr val="5C6B7D"/>
                </a:solidFill>
                <a:latin typeface="Calibri"/>
              </a:rPr>
              <a:t>Client's expiry date</a:t>
            </a:r>
          </a:p>
        </p:txBody>
      </p:sp>
      <p:sp>
        <p:nvSpPr>
          <p:cNvPr id="25" name="Rectangle 24"/>
          <p:cNvSpPr/>
          <p:nvPr/>
        </p:nvSpPr>
        <p:spPr>
          <a:xfrm>
            <a:off x="6720840" y="5175504"/>
            <a:ext cx="4937760" cy="566928"/>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903720" y="5257800"/>
            <a:ext cx="2468880" cy="402336"/>
          </a:xfrm>
          <a:prstGeom prst="rect">
            <a:avLst/>
          </a:prstGeom>
          <a:noFill/>
        </p:spPr>
        <p:txBody>
          <a:bodyPr wrap="square" lIns="0" tIns="0" rIns="0" bIns="0" anchor="ctr">
            <a:spAutoFit/>
          </a:bodyPr>
          <a:lstStyle/>
          <a:p>
            <a:pPr algn="l">
              <a:lnSpc>
                <a:spcPct val="100000"/>
              </a:lnSpc>
              <a:spcBef>
                <a:spcPts val="0"/>
              </a:spcBef>
              <a:spcAft>
                <a:spcPts val="600"/>
              </a:spcAft>
            </a:pPr>
            <a:r>
              <a:rPr sz="1250" b="1" i="0">
                <a:solidFill>
                  <a:srgbClr val="2E6BB0"/>
                </a:solidFill>
                <a:latin typeface="Consolas"/>
              </a:rPr>
              <a:t>{detail_rows_html}</a:t>
            </a:r>
          </a:p>
        </p:txBody>
      </p:sp>
      <p:sp>
        <p:nvSpPr>
          <p:cNvPr id="27" name="TextBox 26"/>
          <p:cNvSpPr txBox="1"/>
          <p:nvPr/>
        </p:nvSpPr>
        <p:spPr>
          <a:xfrm>
            <a:off x="9326880" y="5257800"/>
            <a:ext cx="2286000" cy="402336"/>
          </a:xfrm>
          <a:prstGeom prst="rect">
            <a:avLst/>
          </a:prstGeom>
          <a:noFill/>
        </p:spPr>
        <p:txBody>
          <a:bodyPr wrap="square" lIns="0" tIns="0" rIns="0" bIns="0" anchor="ctr">
            <a:spAutoFit/>
          </a:bodyPr>
          <a:lstStyle/>
          <a:p>
            <a:pPr algn="l">
              <a:lnSpc>
                <a:spcPct val="100000"/>
              </a:lnSpc>
              <a:spcBef>
                <a:spcPts val="0"/>
              </a:spcBef>
              <a:spcAft>
                <a:spcPts val="600"/>
              </a:spcAft>
            </a:pPr>
            <a:r>
              <a:rPr sz="1150" b="0" i="0">
                <a:solidFill>
                  <a:srgbClr val="5C6B7D"/>
                </a:solidFill>
                <a:latin typeface="Calibri"/>
              </a:rPr>
              <a:t>Company · Contact · Email · Phone</a:t>
            </a:r>
          </a:p>
        </p:txBody>
      </p:sp>
      <p:sp>
        <p:nvSpPr>
          <p:cNvPr id="28" name="TextBox 27"/>
          <p:cNvSpPr txBox="1"/>
          <p:nvPr/>
        </p:nvSpPr>
        <p:spPr>
          <a:xfrm>
            <a:off x="6720840" y="5870448"/>
            <a:ext cx="4937760" cy="457200"/>
          </a:xfrm>
          <a:prstGeom prst="rect">
            <a:avLst/>
          </a:prstGeom>
          <a:noFill/>
        </p:spPr>
        <p:txBody>
          <a:bodyPr wrap="square" lIns="0" tIns="0" rIns="0" bIns="0" anchor="t">
            <a:spAutoFit/>
          </a:bodyPr>
          <a:lstStyle/>
          <a:p>
            <a:pPr algn="l">
              <a:lnSpc>
                <a:spcPct val="105000"/>
              </a:lnSpc>
              <a:spcBef>
                <a:spcPts val="0"/>
              </a:spcBef>
              <a:spcAft>
                <a:spcPts val="600"/>
              </a:spcAft>
            </a:pPr>
            <a:r>
              <a:rPr sz="1150" b="0" i="1">
                <a:solidFill>
                  <a:srgbClr val="5C6B7D"/>
                </a:solidFill>
                <a:latin typeface="Calibri"/>
              </a:rPr>
              <a:t>The esc() wrapper sanitizes every value, protecting the email from malformed HTML.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78992"/>
          </a:xfrm>
          <a:prstGeom prst="rect">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78992"/>
            <a:ext cx="12191695" cy="5029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02920" y="274320"/>
            <a:ext cx="100584" cy="53035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82880"/>
            <a:ext cx="10789920" cy="310896"/>
          </a:xfrm>
          <a:prstGeom prst="rect">
            <a:avLst/>
          </a:prstGeom>
          <a:noFill/>
        </p:spPr>
        <p:txBody>
          <a:bodyPr wrap="square" lIns="0" tIns="0" rIns="0" bIns="0" anchor="t">
            <a:spAutoFit/>
          </a:bodyPr>
          <a:lstStyle/>
          <a:p>
            <a:pPr algn="l">
              <a:lnSpc>
                <a:spcPct val="100000"/>
              </a:lnSpc>
            </a:pPr>
            <a:r>
              <a:rPr sz="1250" b="1" i="0">
                <a:solidFill>
                  <a:srgbClr val="9FC1E6"/>
                </a:solidFill>
                <a:latin typeface="Segoe UI"/>
              </a:rPr>
              <a:t>CHAPTER 4 · TASK A</a:t>
            </a:r>
          </a:p>
        </p:txBody>
      </p:sp>
      <p:sp>
        <p:nvSpPr>
          <p:cNvPr id="7" name="TextBox 6"/>
          <p:cNvSpPr txBox="1"/>
          <p:nvPr/>
        </p:nvSpPr>
        <p:spPr>
          <a:xfrm>
            <a:off x="749808" y="457200"/>
            <a:ext cx="10789920" cy="566928"/>
          </a:xfrm>
          <a:prstGeom prst="rect">
            <a:avLst/>
          </a:prstGeom>
          <a:noFill/>
        </p:spPr>
        <p:txBody>
          <a:bodyPr wrap="square" lIns="0" tIns="0" rIns="0" bIns="0" anchor="ctr">
            <a:spAutoFit/>
          </a:bodyPr>
          <a:lstStyle/>
          <a:p>
            <a:pPr algn="l">
              <a:lnSpc>
                <a:spcPct val="100000"/>
              </a:lnSpc>
            </a:pPr>
            <a:r>
              <a:rPr sz="2500" b="1" i="0">
                <a:solidFill>
                  <a:srgbClr val="FFFFFF"/>
                </a:solidFill>
                <a:latin typeface="Segoe UI Semibold"/>
              </a:rPr>
              <a:t>Website Revamp — Muzium Petaling Jaya</a:t>
            </a:r>
          </a:p>
        </p:txBody>
      </p:sp>
      <p:sp>
        <p:nvSpPr>
          <p:cNvPr id="8" name="Rectangle 7"/>
          <p:cNvSpPr/>
          <p:nvPr/>
        </p:nvSpPr>
        <p:spPr>
          <a:xfrm>
            <a:off x="502920" y="6419088"/>
            <a:ext cx="11183112" cy="12700"/>
          </a:xfrm>
          <a:prstGeom prst="rect">
            <a:avLst/>
          </a:prstGeom>
          <a:solidFill>
            <a:srgbClr val="D5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6455664"/>
            <a:ext cx="7315200" cy="274320"/>
          </a:xfrm>
          <a:prstGeom prst="rect">
            <a:avLst/>
          </a:prstGeom>
          <a:noFill/>
        </p:spPr>
        <p:txBody>
          <a:bodyPr wrap="square" lIns="0" tIns="0" rIns="0" bIns="0" anchor="t">
            <a:spAutoFit/>
          </a:bodyPr>
          <a:lstStyle/>
          <a:p>
            <a:pPr algn="l">
              <a:lnSpc>
                <a:spcPct val="100000"/>
              </a:lnSpc>
            </a:pPr>
            <a:r>
              <a:rPr sz="900" b="0" i="0">
                <a:solidFill>
                  <a:srgbClr val="5C6B7D"/>
                </a:solidFill>
                <a:latin typeface="Calibri"/>
              </a:rPr>
              <a:t>Muhammad Arif Danial Bin Mohd Anuar  ·  2024933617</a:t>
            </a:r>
          </a:p>
        </p:txBody>
      </p:sp>
      <p:sp>
        <p:nvSpPr>
          <p:cNvPr id="10" name="TextBox 9"/>
          <p:cNvSpPr txBox="1"/>
          <p:nvPr/>
        </p:nvSpPr>
        <p:spPr>
          <a:xfrm>
            <a:off x="10515600" y="6455664"/>
            <a:ext cx="1170432" cy="274320"/>
          </a:xfrm>
          <a:prstGeom prst="rect">
            <a:avLst/>
          </a:prstGeom>
          <a:noFill/>
        </p:spPr>
        <p:txBody>
          <a:bodyPr wrap="square" lIns="0" tIns="0" rIns="0" bIns="0" anchor="t">
            <a:spAutoFit/>
          </a:bodyPr>
          <a:lstStyle/>
          <a:p>
            <a:pPr algn="r">
              <a:lnSpc>
                <a:spcPct val="100000"/>
              </a:lnSpc>
            </a:pPr>
            <a:r>
              <a:rPr sz="900" b="0" i="0">
                <a:solidFill>
                  <a:srgbClr val="5C6B7D"/>
                </a:solidFill>
                <a:latin typeface="Calibri"/>
              </a:rPr>
              <a:t>KYROL Security Labs</a:t>
            </a:r>
          </a:p>
        </p:txBody>
      </p:sp>
      <p:sp>
        <p:nvSpPr>
          <p:cNvPr id="11" name="TextBox 10"/>
          <p:cNvSpPr txBox="1"/>
          <p:nvPr/>
        </p:nvSpPr>
        <p:spPr>
          <a:xfrm>
            <a:off x="548640" y="1417320"/>
            <a:ext cx="6583680" cy="1300000"/>
          </a:xfrm>
          <a:prstGeom prst="rect">
            <a:avLst/>
          </a:prstGeom>
          <a:noFill/>
        </p:spPr>
        <p:txBody>
          <a:bodyPr wrap="square" lIns="0" tIns="0" rIns="0" bIns="0" anchor="t">
            <a:spAutoFit/>
          </a:bodyPr>
          <a:lstStyle/>
          <a:p>
            <a:pPr algn="l">
              <a:lnSpc>
                <a:spcPct val="118000"/>
              </a:lnSpc>
              <a:spcAft>
                <a:spcPts val="0"/>
              </a:spcAft>
            </a:pPr>
            <a:r>
              <a:rPr sz="1350" b="0" i="0">
                <a:solidFill>
                  <a:srgbClr val="1E2A36"/>
                </a:solidFill>
                <a:latin typeface="Calibri"/>
              </a:rPr>
              <a:t>The official website for Muzium Petaling Jaya needed a major update. The old website had an outdated look, was difficult to navigate, and did not work well on mobile phones. My industrial supervisor assigned me to revamp the entire website using the Joomla Content Management System (CMS) along with a page builder to give it a clean, modern look.</a:t>
            </a:r>
          </a:p>
        </p:txBody>
      </p:sp>
      <p:sp>
        <p:nvSpPr>
          <p:cNvPr id="12" name="TextBox 11"/>
          <p:cNvSpPr txBox="1"/>
          <p:nvPr/>
        </p:nvSpPr>
        <p:spPr>
          <a:xfrm>
            <a:off x="548640" y="2926080"/>
            <a:ext cx="6583680" cy="320040"/>
          </a:xfrm>
          <a:prstGeom prst="rect">
            <a:avLst/>
          </a:prstGeom>
          <a:noFill/>
        </p:spPr>
        <p:txBody>
          <a:bodyPr wrap="square" lIns="0" tIns="0" rIns="0" bIns="0" anchor="t">
            <a:spAutoFit/>
          </a:bodyPr>
          <a:lstStyle/>
          <a:p>
            <a:pPr algn="l">
              <a:lnSpc>
                <a:spcPct val="100000"/>
              </a:lnSpc>
            </a:pPr>
            <a:r>
              <a:rPr sz="1300" b="1" i="0">
                <a:solidFill>
                  <a:srgbClr val="2E6BB0"/>
                </a:solidFill>
                <a:latin typeface="Segoe UI"/>
              </a:rPr>
              <a:t>OBJECTIVES</a:t>
            </a:r>
          </a:p>
        </p:txBody>
      </p:sp>
      <p:sp>
        <p:nvSpPr>
          <p:cNvPr id="13" name="TextBox 12"/>
          <p:cNvSpPr txBox="1"/>
          <p:nvPr/>
        </p:nvSpPr>
        <p:spPr>
          <a:xfrm>
            <a:off x="548640" y="3337560"/>
            <a:ext cx="6583680" cy="3000000"/>
          </a:xfrm>
          <a:prstGeom prst="rect">
            <a:avLst/>
          </a:prstGeom>
          <a:noFill/>
        </p:spPr>
        <p:txBody>
          <a:bodyPr wrap="square" lIns="0" tIns="0" rIns="0" bIns="0" anchor="t">
            <a:spAutoFit/>
          </a:bodyPr>
          <a:lstStyle/>
          <a:p>
            <a:pPr>
              <a:lnSpc>
                <a:spcPct val="112000"/>
              </a:lnSpc>
              <a:spcAft>
                <a:spcPts val="1200"/>
              </a:spcAft>
            </a:pPr>
            <a:r>
              <a:rPr sz="1300" b="1" i="0">
                <a:solidFill>
                  <a:srgbClr val="E8821E"/>
                </a:solidFill>
                <a:latin typeface="Calibri"/>
              </a:rPr>
              <a:t>▸  </a:t>
            </a:r>
            <a:r>
              <a:rPr sz="1300" b="1" i="0">
                <a:solidFill>
                  <a:srgbClr val="1E2A36"/>
                </a:solidFill>
                <a:latin typeface="Calibri"/>
              </a:rPr>
              <a:t>Modernise the Website — </a:t>
            </a:r>
            <a:r>
              <a:rPr sz="1300" b="0" i="0">
                <a:solidFill>
                  <a:srgbClr val="5C6B7D"/>
                </a:solidFill>
                <a:latin typeface="Calibri"/>
              </a:rPr>
              <a:t>fresh, clean, grid-based design using a news-style template.</a:t>
            </a:r>
          </a:p>
          <a:p>
            <a:pPr>
              <a:lnSpc>
                <a:spcPct val="112000"/>
              </a:lnSpc>
              <a:spcAft>
                <a:spcPts val="1200"/>
              </a:spcAft>
            </a:pPr>
            <a:r>
              <a:rPr sz="1300" b="1" i="0">
                <a:solidFill>
                  <a:srgbClr val="E8821E"/>
                </a:solidFill>
                <a:latin typeface="Calibri"/>
              </a:rPr>
              <a:t>▸  </a:t>
            </a:r>
            <a:r>
              <a:rPr sz="1300" b="1" i="0">
                <a:solidFill>
                  <a:srgbClr val="1E2A36"/>
                </a:solidFill>
                <a:latin typeface="Calibri"/>
              </a:rPr>
              <a:t>Improve Navigation — </a:t>
            </a:r>
            <a:r>
              <a:rPr sz="1300" b="0" i="0">
                <a:solidFill>
                  <a:srgbClr val="5C6B7D"/>
                </a:solidFill>
                <a:latin typeface="Calibri"/>
              </a:rPr>
              <a:t>organise opening hours, history, and exhibitions for easy access.</a:t>
            </a:r>
          </a:p>
          <a:p>
            <a:pPr>
              <a:lnSpc>
                <a:spcPct val="112000"/>
              </a:lnSpc>
              <a:spcAft>
                <a:spcPts val="1200"/>
              </a:spcAft>
            </a:pPr>
            <a:r>
              <a:rPr sz="1300" b="1" i="0">
                <a:solidFill>
                  <a:srgbClr val="E8821E"/>
                </a:solidFill>
                <a:latin typeface="Calibri"/>
              </a:rPr>
              <a:t>▸  </a:t>
            </a:r>
            <a:r>
              <a:rPr sz="1300" b="1" i="0">
                <a:solidFill>
                  <a:srgbClr val="1E2A36"/>
                </a:solidFill>
                <a:latin typeface="Calibri"/>
              </a:rPr>
              <a:t>Make it Mobile-Friendly — </a:t>
            </a:r>
            <a:r>
              <a:rPr sz="1300" b="0" i="0">
                <a:solidFill>
                  <a:srgbClr val="5C6B7D"/>
                </a:solidFill>
                <a:latin typeface="Calibri"/>
              </a:rPr>
              <a:t>layout adapts across smartphones, tablets, and computers.</a:t>
            </a:r>
          </a:p>
          <a:p>
            <a:pPr>
              <a:lnSpc>
                <a:spcPct val="112000"/>
              </a:lnSpc>
              <a:spcAft>
                <a:spcPts val="1200"/>
              </a:spcAft>
            </a:pPr>
            <a:r>
              <a:rPr sz="1300" b="1" i="0">
                <a:solidFill>
                  <a:srgbClr val="E8821E"/>
                </a:solidFill>
                <a:latin typeface="Calibri"/>
              </a:rPr>
              <a:t>▸  </a:t>
            </a:r>
            <a:r>
              <a:rPr sz="1300" b="1" i="0">
                <a:solidFill>
                  <a:srgbClr val="1E2A36"/>
                </a:solidFill>
                <a:latin typeface="Calibri"/>
              </a:rPr>
              <a:t>Simplify Content Updates — </a:t>
            </a:r>
            <a:r>
              <a:rPr sz="1300" b="0" i="0">
                <a:solidFill>
                  <a:srgbClr val="5C6B7D"/>
                </a:solidFill>
                <a:latin typeface="Calibri"/>
              </a:rPr>
              <a:t>an easy page builder so staff can edit without writing code.</a:t>
            </a:r>
          </a:p>
        </p:txBody>
      </p:sp>
      <p:sp>
        <p:nvSpPr>
          <p:cNvPr id="14" name="Rectangle 13"/>
          <p:cNvSpPr/>
          <p:nvPr/>
        </p:nvSpPr>
        <p:spPr>
          <a:xfrm>
            <a:off x="7500000" y="1417320"/>
            <a:ext cx="4141695" cy="31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500000" y="1417320"/>
            <a:ext cx="4141695" cy="603504"/>
          </a:xfrm>
          <a:prstGeom prst="rect">
            <a:avLst/>
          </a:prstGeom>
          <a:solidFill>
            <a:srgbClr val="2E6B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500000" y="1417320"/>
            <a:ext cx="4141695" cy="603504"/>
          </a:xfrm>
          <a:prstGeom prst="rect">
            <a:avLst/>
          </a:prstGeom>
          <a:noFill/>
        </p:spPr>
        <p:txBody>
          <a:bodyPr wrap="square" lIns="0" tIns="0" rIns="0" bIns="0" anchor="ctr">
            <a:spAutoFit/>
          </a:bodyPr>
          <a:lstStyle/>
          <a:p>
            <a:pPr algn="ctr">
              <a:lnSpc>
                <a:spcPct val="100000"/>
              </a:lnSpc>
            </a:pPr>
            <a:r>
              <a:rPr sz="1350" b="1" i="0">
                <a:solidFill>
                  <a:srgbClr val="FFFFFF"/>
                </a:solidFill>
                <a:latin typeface="Segoe UI"/>
              </a:rPr>
              <a:t>TOOLS &amp; TECHNOLOGIES USED</a:t>
            </a:r>
          </a:p>
        </p:txBody>
      </p:sp>
      <p:sp>
        <p:nvSpPr>
          <p:cNvPr id="17" name="TextBox 16"/>
          <p:cNvSpPr txBox="1"/>
          <p:nvPr/>
        </p:nvSpPr>
        <p:spPr>
          <a:xfrm>
            <a:off x="7774320" y="2240280"/>
            <a:ext cx="3638775" cy="2196496"/>
          </a:xfrm>
          <a:prstGeom prst="rect">
            <a:avLst/>
          </a:prstGeom>
          <a:noFill/>
        </p:spPr>
        <p:txBody>
          <a:bodyPr wrap="square" lIns="0" tIns="0" rIns="0" bIns="0" anchor="t">
            <a:spAutoFit/>
          </a:bodyPr>
          <a:lstStyle/>
          <a:p>
            <a:pPr>
              <a:lnSpc>
                <a:spcPct val="108000"/>
              </a:lnSpc>
              <a:spcAft>
                <a:spcPts val="1100"/>
              </a:spcAft>
            </a:pPr>
            <a:r>
              <a:rPr sz="1300" b="1" i="0">
                <a:solidFill>
                  <a:srgbClr val="2E6BB0"/>
                </a:solidFill>
                <a:latin typeface="Calibri"/>
              </a:rPr>
              <a:t>▸  </a:t>
            </a:r>
            <a:r>
              <a:rPr sz="1300" b="0" i="0">
                <a:solidFill>
                  <a:srgbClr val="1E2A36"/>
                </a:solidFill>
                <a:latin typeface="Calibri"/>
              </a:rPr>
              <a:t>Content Management System: Joomla CMS</a:t>
            </a:r>
          </a:p>
          <a:p>
            <a:pPr>
              <a:lnSpc>
                <a:spcPct val="108000"/>
              </a:lnSpc>
              <a:spcAft>
                <a:spcPts val="1100"/>
              </a:spcAft>
            </a:pPr>
            <a:r>
              <a:rPr sz="1300" b="1" i="0">
                <a:solidFill>
                  <a:srgbClr val="2E6BB0"/>
                </a:solidFill>
                <a:latin typeface="Calibri"/>
              </a:rPr>
              <a:t>▸  </a:t>
            </a:r>
            <a:r>
              <a:rPr sz="1300" b="0" i="0">
                <a:solidFill>
                  <a:srgbClr val="1E2A36"/>
                </a:solidFill>
                <a:latin typeface="Calibri"/>
              </a:rPr>
              <a:t>Page Builder: SP Page Builder (Newsberg Template)</a:t>
            </a:r>
          </a:p>
          <a:p>
            <a:pPr>
              <a:lnSpc>
                <a:spcPct val="108000"/>
              </a:lnSpc>
              <a:spcAft>
                <a:spcPts val="1100"/>
              </a:spcAft>
            </a:pPr>
            <a:r>
              <a:rPr sz="1300" b="1" i="0">
                <a:solidFill>
                  <a:srgbClr val="2E6BB0"/>
                </a:solidFill>
                <a:latin typeface="Calibri"/>
              </a:rPr>
              <a:t>▸  </a:t>
            </a:r>
            <a:r>
              <a:rPr sz="1300" b="0" i="0">
                <a:solidFill>
                  <a:srgbClr val="1E2A36"/>
                </a:solidFill>
                <a:latin typeface="Calibri"/>
              </a:rPr>
              <a:t>Web Languages: HTML5 and Custom CSS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78992"/>
          </a:xfrm>
          <a:prstGeom prst="rect">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78992"/>
            <a:ext cx="12191695" cy="5029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02920" y="274320"/>
            <a:ext cx="100584" cy="53035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82880"/>
            <a:ext cx="10789920" cy="310896"/>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9FC1E6"/>
                </a:solidFill>
                <a:latin typeface="Segoe UI"/>
              </a:rPr>
              <a:t>CHAPTER 4 · SECTION 4.1.4</a:t>
            </a:r>
          </a:p>
        </p:txBody>
      </p:sp>
      <p:sp>
        <p:nvSpPr>
          <p:cNvPr id="7" name="TextBox 6"/>
          <p:cNvSpPr txBox="1"/>
          <p:nvPr/>
        </p:nvSpPr>
        <p:spPr>
          <a:xfrm>
            <a:off x="749808" y="457200"/>
            <a:ext cx="10789920" cy="566928"/>
          </a:xfrm>
          <a:prstGeom prst="rect">
            <a:avLst/>
          </a:prstGeom>
          <a:noFill/>
        </p:spPr>
        <p:txBody>
          <a:bodyPr wrap="square" lIns="0" tIns="0" rIns="0" bIns="0" anchor="ctr">
            <a:spAutoFit/>
          </a:bodyPr>
          <a:lstStyle/>
          <a:p>
            <a:pPr algn="l">
              <a:lnSpc>
                <a:spcPct val="100000"/>
              </a:lnSpc>
              <a:spcBef>
                <a:spcPts val="0"/>
              </a:spcBef>
              <a:spcAft>
                <a:spcPts val="600"/>
              </a:spcAft>
            </a:pPr>
            <a:r>
              <a:rPr sz="2500" b="1" i="0">
                <a:solidFill>
                  <a:srgbClr val="FFFFFF"/>
                </a:solidFill>
                <a:latin typeface="Segoe UI Semibold"/>
              </a:rPr>
              <a:t>Results of Task A</a:t>
            </a:r>
          </a:p>
        </p:txBody>
      </p:sp>
      <p:sp>
        <p:nvSpPr>
          <p:cNvPr id="8" name="Rectangle 7"/>
          <p:cNvSpPr/>
          <p:nvPr/>
        </p:nvSpPr>
        <p:spPr>
          <a:xfrm>
            <a:off x="502920" y="6419088"/>
            <a:ext cx="11183112" cy="12700"/>
          </a:xfrm>
          <a:prstGeom prst="rect">
            <a:avLst/>
          </a:prstGeom>
          <a:solidFill>
            <a:srgbClr val="D5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6455664"/>
            <a:ext cx="7315200" cy="274320"/>
          </a:xfrm>
          <a:prstGeom prst="rect">
            <a:avLst/>
          </a:prstGeom>
          <a:noFill/>
        </p:spPr>
        <p:txBody>
          <a:bodyPr wrap="square" lIns="0" tIns="0" rIns="0" bIns="0" anchor="t">
            <a:spAutoFit/>
          </a:bodyPr>
          <a:lstStyle/>
          <a:p>
            <a:pPr algn="l">
              <a:lnSpc>
                <a:spcPct val="100000"/>
              </a:lnSpc>
              <a:spcBef>
                <a:spcPts val="0"/>
              </a:spcBef>
              <a:spcAft>
                <a:spcPts val="600"/>
              </a:spcAft>
            </a:pPr>
            <a:r>
              <a:rPr sz="900" b="0" i="0">
                <a:solidFill>
                  <a:srgbClr val="5C6B7D"/>
                </a:solidFill>
                <a:latin typeface="Calibri"/>
              </a:rPr>
              <a:t>Muhammad Arif Danial Bin Mohd Anuar  ·  2024933617</a:t>
            </a:r>
          </a:p>
        </p:txBody>
      </p:sp>
      <p:sp>
        <p:nvSpPr>
          <p:cNvPr id="10" name="TextBox 9"/>
          <p:cNvSpPr txBox="1"/>
          <p:nvPr/>
        </p:nvSpPr>
        <p:spPr>
          <a:xfrm>
            <a:off x="10515600" y="6455664"/>
            <a:ext cx="1170432" cy="274320"/>
          </a:xfrm>
          <a:prstGeom prst="rect">
            <a:avLst/>
          </a:prstGeom>
          <a:noFill/>
        </p:spPr>
        <p:txBody>
          <a:bodyPr wrap="square" lIns="0" tIns="0" rIns="0" bIns="0" anchor="t">
            <a:spAutoFit/>
          </a:bodyPr>
          <a:lstStyle/>
          <a:p>
            <a:pPr algn="r">
              <a:lnSpc>
                <a:spcPct val="100000"/>
              </a:lnSpc>
              <a:spcBef>
                <a:spcPts val="0"/>
              </a:spcBef>
              <a:spcAft>
                <a:spcPts val="600"/>
              </a:spcAft>
            </a:pPr>
            <a:r>
              <a:rPr sz="900" b="0" i="0">
                <a:solidFill>
                  <a:srgbClr val="5C6B7D"/>
                </a:solidFill>
                <a:latin typeface="Calibri"/>
              </a:rPr>
              <a:t>KYROL Security Labs</a:t>
            </a:r>
          </a:p>
        </p:txBody>
      </p:sp>
      <p:sp>
        <p:nvSpPr>
          <p:cNvPr id="14" name="Rectangle 13"/>
          <p:cNvSpPr/>
          <p:nvPr/>
        </p:nvSpPr>
        <p:spPr>
          <a:xfrm>
            <a:off x="5912631" y="1380744"/>
            <a:ext cx="2393657" cy="2359152"/>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fig43_homepage.png"/>
          <p:cNvPicPr>
            <a:picLocks noChangeAspect="1"/>
          </p:cNvPicPr>
          <p:nvPr/>
        </p:nvPicPr>
        <p:blipFill>
          <a:blip r:embed="rId3"/>
          <a:stretch>
            <a:fillRect/>
          </a:stretch>
        </p:blipFill>
        <p:spPr>
          <a:xfrm>
            <a:off x="5994927" y="1463040"/>
            <a:ext cx="2229065" cy="2194560"/>
          </a:xfrm>
          <a:prstGeom prst="rect">
            <a:avLst/>
          </a:prstGeom>
          <a:ln w="9525">
            <a:solidFill>
              <a:srgbClr val="D5DEE8"/>
            </a:solidFill>
          </a:ln>
        </p:spPr>
      </p:pic>
      <p:sp>
        <p:nvSpPr>
          <p:cNvPr id="16" name="TextBox 15"/>
          <p:cNvSpPr txBox="1"/>
          <p:nvPr/>
        </p:nvSpPr>
        <p:spPr>
          <a:xfrm>
            <a:off x="5513832" y="3794154"/>
            <a:ext cx="3063240" cy="274320"/>
          </a:xfrm>
          <a:prstGeom prst="rect">
            <a:avLst/>
          </a:prstGeom>
          <a:noFill/>
        </p:spPr>
        <p:txBody>
          <a:bodyPr wrap="square" lIns="0" tIns="0" rIns="0" bIns="0" anchor="t">
            <a:spAutoFit/>
          </a:bodyPr>
          <a:lstStyle/>
          <a:p>
            <a:pPr algn="ctr">
              <a:lnSpc>
                <a:spcPct val="100000"/>
              </a:lnSpc>
              <a:spcBef>
                <a:spcPts val="0"/>
              </a:spcBef>
              <a:spcAft>
                <a:spcPts val="600"/>
              </a:spcAft>
            </a:pPr>
            <a:r>
              <a:rPr sz="950" b="0" i="1" dirty="0">
                <a:solidFill>
                  <a:srgbClr val="5C6B7D"/>
                </a:solidFill>
                <a:latin typeface="Calibri"/>
              </a:rPr>
              <a:t>Fig 4.3: Revamped homepage</a:t>
            </a:r>
          </a:p>
        </p:txBody>
      </p:sp>
      <p:sp>
        <p:nvSpPr>
          <p:cNvPr id="17" name="Rectangle 16"/>
          <p:cNvSpPr/>
          <p:nvPr/>
        </p:nvSpPr>
        <p:spPr>
          <a:xfrm>
            <a:off x="5495544" y="4122732"/>
            <a:ext cx="3227832" cy="1767214"/>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fig41_joomla.png"/>
          <p:cNvPicPr>
            <a:picLocks noChangeAspect="1"/>
          </p:cNvPicPr>
          <p:nvPr/>
        </p:nvPicPr>
        <p:blipFill>
          <a:blip r:embed="rId4"/>
          <a:stretch>
            <a:fillRect/>
          </a:stretch>
        </p:blipFill>
        <p:spPr>
          <a:xfrm>
            <a:off x="5577840" y="4205028"/>
            <a:ext cx="3063240" cy="1602622"/>
          </a:xfrm>
          <a:prstGeom prst="rect">
            <a:avLst/>
          </a:prstGeom>
          <a:ln w="9525">
            <a:solidFill>
              <a:srgbClr val="D5DEE8"/>
            </a:solidFill>
          </a:ln>
        </p:spPr>
      </p:pic>
      <p:sp>
        <p:nvSpPr>
          <p:cNvPr id="19" name="TextBox 18"/>
          <p:cNvSpPr txBox="1"/>
          <p:nvPr/>
        </p:nvSpPr>
        <p:spPr>
          <a:xfrm>
            <a:off x="5577840" y="5961888"/>
            <a:ext cx="3063240" cy="274320"/>
          </a:xfrm>
          <a:prstGeom prst="rect">
            <a:avLst/>
          </a:prstGeom>
          <a:noFill/>
        </p:spPr>
        <p:txBody>
          <a:bodyPr wrap="square" lIns="0" tIns="0" rIns="0" bIns="0" anchor="t">
            <a:spAutoFit/>
          </a:bodyPr>
          <a:lstStyle/>
          <a:p>
            <a:pPr algn="ctr">
              <a:lnSpc>
                <a:spcPct val="100000"/>
              </a:lnSpc>
              <a:spcBef>
                <a:spcPts val="0"/>
              </a:spcBef>
              <a:spcAft>
                <a:spcPts val="600"/>
              </a:spcAft>
            </a:pPr>
            <a:r>
              <a:rPr sz="950" b="0" i="1">
                <a:solidFill>
                  <a:srgbClr val="5C6B7D"/>
                </a:solidFill>
                <a:latin typeface="Calibri"/>
              </a:rPr>
              <a:t>Fig 4.1: Joomla admin backend</a:t>
            </a:r>
          </a:p>
        </p:txBody>
      </p:sp>
      <p:sp>
        <p:nvSpPr>
          <p:cNvPr id="20" name="Rectangle 19"/>
          <p:cNvSpPr/>
          <p:nvPr/>
        </p:nvSpPr>
        <p:spPr>
          <a:xfrm>
            <a:off x="8787384" y="2910220"/>
            <a:ext cx="2953512" cy="1586200"/>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fig42_mobile.png"/>
          <p:cNvPicPr>
            <a:picLocks noChangeAspect="1"/>
          </p:cNvPicPr>
          <p:nvPr/>
        </p:nvPicPr>
        <p:blipFill>
          <a:blip r:embed="rId5"/>
          <a:stretch>
            <a:fillRect/>
          </a:stretch>
        </p:blipFill>
        <p:spPr>
          <a:xfrm>
            <a:off x="8869680" y="2992516"/>
            <a:ext cx="2788920" cy="1421608"/>
          </a:xfrm>
          <a:prstGeom prst="rect">
            <a:avLst/>
          </a:prstGeom>
          <a:ln w="9525">
            <a:solidFill>
              <a:srgbClr val="D5DEE8"/>
            </a:solidFill>
          </a:ln>
        </p:spPr>
      </p:pic>
      <p:sp>
        <p:nvSpPr>
          <p:cNvPr id="22" name="TextBox 21"/>
          <p:cNvSpPr txBox="1"/>
          <p:nvPr/>
        </p:nvSpPr>
        <p:spPr>
          <a:xfrm>
            <a:off x="8951976" y="4578716"/>
            <a:ext cx="2788920" cy="274320"/>
          </a:xfrm>
          <a:prstGeom prst="rect">
            <a:avLst/>
          </a:prstGeom>
          <a:noFill/>
        </p:spPr>
        <p:txBody>
          <a:bodyPr wrap="square" lIns="0" tIns="0" rIns="0" bIns="0" anchor="t">
            <a:spAutoFit/>
          </a:bodyPr>
          <a:lstStyle/>
          <a:p>
            <a:pPr algn="ctr">
              <a:lnSpc>
                <a:spcPct val="100000"/>
              </a:lnSpc>
              <a:spcBef>
                <a:spcPts val="0"/>
              </a:spcBef>
              <a:spcAft>
                <a:spcPts val="600"/>
              </a:spcAft>
            </a:pPr>
            <a:r>
              <a:rPr sz="950" b="0" i="1" dirty="0">
                <a:solidFill>
                  <a:srgbClr val="5C6B7D"/>
                </a:solidFill>
                <a:latin typeface="Calibri"/>
              </a:rPr>
              <a:t>Fig 4.2: Mobile-responsive view</a:t>
            </a:r>
          </a:p>
        </p:txBody>
      </p:sp>
      <p:sp>
        <p:nvSpPr>
          <p:cNvPr id="23" name="TextBox 22"/>
          <p:cNvSpPr txBox="1"/>
          <p:nvPr/>
        </p:nvSpPr>
        <p:spPr>
          <a:xfrm>
            <a:off x="548640" y="1417320"/>
            <a:ext cx="4754880" cy="320040"/>
          </a:xfrm>
          <a:prstGeom prst="rect">
            <a:avLst/>
          </a:prstGeom>
          <a:noFill/>
        </p:spPr>
        <p:txBody>
          <a:bodyPr wrap="square" lIns="0" tIns="0" rIns="0" bIns="0" anchor="t">
            <a:spAutoFit/>
          </a:bodyPr>
          <a:lstStyle/>
          <a:p>
            <a:pPr algn="l">
              <a:lnSpc>
                <a:spcPct val="115000"/>
              </a:lnSpc>
            </a:pPr>
            <a:r>
              <a:rPr sz="1350" b="1" i="0">
                <a:solidFill>
                  <a:srgbClr val="1E2A36"/>
                </a:solidFill>
                <a:latin typeface="Calibri"/>
              </a:rPr>
              <a:t>I completed the revamp in three clear steps:</a:t>
            </a:r>
          </a:p>
        </p:txBody>
      </p:sp>
      <p:sp>
        <p:nvSpPr>
          <p:cNvPr id="24" name="TextBox 23"/>
          <p:cNvSpPr txBox="1"/>
          <p:nvPr/>
        </p:nvSpPr>
        <p:spPr>
          <a:xfrm>
            <a:off x="548640" y="1965960"/>
            <a:ext cx="4754880" cy="3500000"/>
          </a:xfrm>
          <a:prstGeom prst="rect">
            <a:avLst/>
          </a:prstGeom>
          <a:noFill/>
        </p:spPr>
        <p:txBody>
          <a:bodyPr wrap="square" lIns="0" tIns="0" rIns="0" bIns="0" anchor="t">
            <a:spAutoFit/>
          </a:bodyPr>
          <a:lstStyle/>
          <a:p>
            <a:pPr>
              <a:lnSpc>
                <a:spcPct val="115000"/>
              </a:lnSpc>
              <a:spcAft>
                <a:spcPts val="1400"/>
              </a:spcAft>
            </a:pPr>
            <a:r>
              <a:rPr sz="1300" b="1" i="0">
                <a:solidFill>
                  <a:srgbClr val="E8821E"/>
                </a:solidFill>
                <a:latin typeface="Calibri"/>
              </a:rPr>
              <a:t>▸  </a:t>
            </a:r>
            <a:r>
              <a:rPr sz="1300" b="1" i="0">
                <a:solidFill>
                  <a:srgbClr val="1E2A36"/>
                </a:solidFill>
                <a:latin typeface="Calibri"/>
              </a:rPr>
              <a:t>Setting Up the Joomla Template — </a:t>
            </a:r>
            <a:r>
              <a:rPr sz="1300" b="0" i="0">
                <a:solidFill>
                  <a:srgbClr val="5C6B7D"/>
                </a:solidFill>
                <a:latin typeface="Calibri"/>
              </a:rPr>
              <a:t>installed Joomla with a news-oriented grid template.</a:t>
            </a:r>
          </a:p>
          <a:p>
            <a:pPr>
              <a:lnSpc>
                <a:spcPct val="115000"/>
              </a:lnSpc>
              <a:spcAft>
                <a:spcPts val="1400"/>
              </a:spcAft>
            </a:pPr>
            <a:r>
              <a:rPr sz="1300" b="1" i="0">
                <a:solidFill>
                  <a:srgbClr val="E8821E"/>
                </a:solidFill>
                <a:latin typeface="Calibri"/>
              </a:rPr>
              <a:t>▸  </a:t>
            </a:r>
            <a:r>
              <a:rPr sz="1300" b="1" i="0">
                <a:solidFill>
                  <a:srgbClr val="1E2A36"/>
                </a:solidFill>
                <a:latin typeface="Calibri"/>
              </a:rPr>
              <a:t>Building Pages with SP Page Builder — </a:t>
            </a:r>
            <a:r>
              <a:rPr sz="1300" b="0" i="0">
                <a:solidFill>
                  <a:srgbClr val="5C6B7D"/>
                </a:solidFill>
                <a:latin typeface="Calibri"/>
              </a:rPr>
              <a:t>designed the main landing pages visually.</a:t>
            </a:r>
          </a:p>
          <a:p>
            <a:pPr>
              <a:lnSpc>
                <a:spcPct val="115000"/>
              </a:lnSpc>
              <a:spcAft>
                <a:spcPts val="1400"/>
              </a:spcAft>
            </a:pPr>
            <a:r>
              <a:rPr sz="1300" b="1" i="0">
                <a:solidFill>
                  <a:srgbClr val="E8821E"/>
                </a:solidFill>
                <a:latin typeface="Calibri"/>
              </a:rPr>
              <a:t>▸  </a:t>
            </a:r>
            <a:r>
              <a:rPr sz="1300" b="1" i="0">
                <a:solidFill>
                  <a:srgbClr val="1E2A36"/>
                </a:solidFill>
                <a:latin typeface="Calibri"/>
              </a:rPr>
              <a:t>Adding Custom CSS — </a:t>
            </a:r>
            <a:r>
              <a:rPr sz="1300" b="0" i="0">
                <a:solidFill>
                  <a:srgbClr val="5C6B7D"/>
                </a:solidFill>
                <a:latin typeface="Calibri"/>
              </a:rPr>
              <a:t>adjusted spacing, padding, and colours to match requirements.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78992"/>
          </a:xfrm>
          <a:prstGeom prst="rect">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78992"/>
            <a:ext cx="12191695" cy="5029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02920" y="274320"/>
            <a:ext cx="100584" cy="53035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82880"/>
            <a:ext cx="10789920" cy="310896"/>
          </a:xfrm>
          <a:prstGeom prst="rect">
            <a:avLst/>
          </a:prstGeom>
          <a:noFill/>
        </p:spPr>
        <p:txBody>
          <a:bodyPr wrap="square" lIns="0" tIns="0" rIns="0" bIns="0" anchor="t">
            <a:spAutoFit/>
          </a:bodyPr>
          <a:lstStyle/>
          <a:p>
            <a:pPr algn="l">
              <a:lnSpc>
                <a:spcPct val="100000"/>
              </a:lnSpc>
            </a:pPr>
            <a:r>
              <a:rPr sz="1250" b="1" i="0">
                <a:solidFill>
                  <a:srgbClr val="9FC1E6"/>
                </a:solidFill>
                <a:latin typeface="Segoe UI"/>
              </a:rPr>
              <a:t>CHAPTER 4 · TASK B</a:t>
            </a:r>
          </a:p>
        </p:txBody>
      </p:sp>
      <p:sp>
        <p:nvSpPr>
          <p:cNvPr id="7" name="TextBox 6"/>
          <p:cNvSpPr txBox="1"/>
          <p:nvPr/>
        </p:nvSpPr>
        <p:spPr>
          <a:xfrm>
            <a:off x="749808" y="457200"/>
            <a:ext cx="10789920" cy="566928"/>
          </a:xfrm>
          <a:prstGeom prst="rect">
            <a:avLst/>
          </a:prstGeom>
          <a:noFill/>
        </p:spPr>
        <p:txBody>
          <a:bodyPr wrap="square" lIns="0" tIns="0" rIns="0" bIns="0" anchor="ctr">
            <a:spAutoFit/>
          </a:bodyPr>
          <a:lstStyle/>
          <a:p>
            <a:pPr algn="l">
              <a:lnSpc>
                <a:spcPct val="100000"/>
              </a:lnSpc>
            </a:pPr>
            <a:r>
              <a:rPr sz="2500" b="1" i="0">
                <a:solidFill>
                  <a:srgbClr val="FFFFFF"/>
                </a:solidFill>
                <a:latin typeface="Segoe UI Semibold"/>
              </a:rPr>
              <a:t>Graphic Design — Branding &amp; Festive Greetings</a:t>
            </a:r>
          </a:p>
        </p:txBody>
      </p:sp>
      <p:sp>
        <p:nvSpPr>
          <p:cNvPr id="8" name="Rectangle 7"/>
          <p:cNvSpPr/>
          <p:nvPr/>
        </p:nvSpPr>
        <p:spPr>
          <a:xfrm>
            <a:off x="502920" y="6419088"/>
            <a:ext cx="11183112" cy="12700"/>
          </a:xfrm>
          <a:prstGeom prst="rect">
            <a:avLst/>
          </a:prstGeom>
          <a:solidFill>
            <a:srgbClr val="D5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6455664"/>
            <a:ext cx="7315200" cy="274320"/>
          </a:xfrm>
          <a:prstGeom prst="rect">
            <a:avLst/>
          </a:prstGeom>
          <a:noFill/>
        </p:spPr>
        <p:txBody>
          <a:bodyPr wrap="square" lIns="0" tIns="0" rIns="0" bIns="0" anchor="t">
            <a:spAutoFit/>
          </a:bodyPr>
          <a:lstStyle/>
          <a:p>
            <a:pPr algn="l">
              <a:lnSpc>
                <a:spcPct val="100000"/>
              </a:lnSpc>
            </a:pPr>
            <a:r>
              <a:rPr sz="900" b="0" i="0">
                <a:solidFill>
                  <a:srgbClr val="5C6B7D"/>
                </a:solidFill>
                <a:latin typeface="Calibri"/>
              </a:rPr>
              <a:t>Muhammad Arif Danial Bin Mohd Anuar  ·  2024933617</a:t>
            </a:r>
          </a:p>
        </p:txBody>
      </p:sp>
      <p:sp>
        <p:nvSpPr>
          <p:cNvPr id="10" name="TextBox 9"/>
          <p:cNvSpPr txBox="1"/>
          <p:nvPr/>
        </p:nvSpPr>
        <p:spPr>
          <a:xfrm>
            <a:off x="10515600" y="6455664"/>
            <a:ext cx="1170432" cy="274320"/>
          </a:xfrm>
          <a:prstGeom prst="rect">
            <a:avLst/>
          </a:prstGeom>
          <a:noFill/>
        </p:spPr>
        <p:txBody>
          <a:bodyPr wrap="square" lIns="0" tIns="0" rIns="0" bIns="0" anchor="t">
            <a:spAutoFit/>
          </a:bodyPr>
          <a:lstStyle/>
          <a:p>
            <a:pPr algn="r">
              <a:lnSpc>
                <a:spcPct val="100000"/>
              </a:lnSpc>
            </a:pPr>
            <a:r>
              <a:rPr sz="900" b="0" i="0">
                <a:solidFill>
                  <a:srgbClr val="5C6B7D"/>
                </a:solidFill>
                <a:latin typeface="Calibri"/>
              </a:rPr>
              <a:t>KYROL Security Labs</a:t>
            </a:r>
          </a:p>
        </p:txBody>
      </p:sp>
      <p:sp>
        <p:nvSpPr>
          <p:cNvPr id="11" name="TextBox 10"/>
          <p:cNvSpPr txBox="1"/>
          <p:nvPr/>
        </p:nvSpPr>
        <p:spPr>
          <a:xfrm>
            <a:off x="548640" y="1417320"/>
            <a:ext cx="6583680" cy="965008"/>
          </a:xfrm>
          <a:prstGeom prst="rect">
            <a:avLst/>
          </a:prstGeom>
          <a:noFill/>
        </p:spPr>
        <p:txBody>
          <a:bodyPr wrap="square" lIns="0" tIns="0" rIns="0" bIns="0" anchor="t">
            <a:spAutoFit/>
          </a:bodyPr>
          <a:lstStyle/>
          <a:p>
            <a:pPr algn="l">
              <a:lnSpc>
                <a:spcPct val="118000"/>
              </a:lnSpc>
              <a:spcAft>
                <a:spcPts val="0"/>
              </a:spcAft>
            </a:pPr>
            <a:r>
              <a:rPr sz="1350" b="0" i="0" dirty="0">
                <a:solidFill>
                  <a:srgbClr val="1E2A36"/>
                </a:solidFill>
                <a:latin typeface="Calibri"/>
              </a:rPr>
              <a:t>In addition to the technical assignments, I was also entrusted with graphic design tasks to support KYROL Security Labs' corporate identity and external communications  designing corporate polo shirt uniforms for staff and a series of festive greeting posters marking Malaysian public holidays, used for client-facing communications and social media.</a:t>
            </a:r>
          </a:p>
        </p:txBody>
      </p:sp>
      <p:sp>
        <p:nvSpPr>
          <p:cNvPr id="12" name="TextBox 11"/>
          <p:cNvSpPr txBox="1"/>
          <p:nvPr/>
        </p:nvSpPr>
        <p:spPr>
          <a:xfrm>
            <a:off x="548640" y="3154680"/>
            <a:ext cx="6583680" cy="320040"/>
          </a:xfrm>
          <a:prstGeom prst="rect">
            <a:avLst/>
          </a:prstGeom>
          <a:noFill/>
        </p:spPr>
        <p:txBody>
          <a:bodyPr wrap="square" lIns="0" tIns="0" rIns="0" bIns="0" anchor="t">
            <a:spAutoFit/>
          </a:bodyPr>
          <a:lstStyle/>
          <a:p>
            <a:pPr algn="l">
              <a:lnSpc>
                <a:spcPct val="100000"/>
              </a:lnSpc>
            </a:pPr>
            <a:r>
              <a:rPr sz="1300" b="1" i="0">
                <a:solidFill>
                  <a:srgbClr val="2E6BB0"/>
                </a:solidFill>
                <a:latin typeface="Segoe UI"/>
              </a:rPr>
              <a:t>OBJECTIVES</a:t>
            </a:r>
          </a:p>
        </p:txBody>
      </p:sp>
      <p:sp>
        <p:nvSpPr>
          <p:cNvPr id="13" name="TextBox 12"/>
          <p:cNvSpPr txBox="1"/>
          <p:nvPr/>
        </p:nvSpPr>
        <p:spPr>
          <a:xfrm>
            <a:off x="548640" y="3566160"/>
            <a:ext cx="6583680" cy="2600000"/>
          </a:xfrm>
          <a:prstGeom prst="rect">
            <a:avLst/>
          </a:prstGeom>
          <a:noFill/>
        </p:spPr>
        <p:txBody>
          <a:bodyPr wrap="square" lIns="0" tIns="0" rIns="0" bIns="0" anchor="t">
            <a:spAutoFit/>
          </a:bodyPr>
          <a:lstStyle/>
          <a:p>
            <a:pPr>
              <a:lnSpc>
                <a:spcPct val="112000"/>
              </a:lnSpc>
              <a:spcAft>
                <a:spcPts val="1200"/>
              </a:spcAft>
            </a:pPr>
            <a:r>
              <a:rPr sz="1300" b="1" i="0">
                <a:solidFill>
                  <a:srgbClr val="E8821E"/>
                </a:solidFill>
                <a:latin typeface="Calibri"/>
              </a:rPr>
              <a:t>▸  </a:t>
            </a:r>
            <a:r>
              <a:rPr sz="1300" b="1" i="0">
                <a:solidFill>
                  <a:srgbClr val="1E2A36"/>
                </a:solidFill>
                <a:latin typeface="Calibri"/>
              </a:rPr>
              <a:t>Professional Apparel — </a:t>
            </a:r>
            <a:r>
              <a:rPr sz="1300" b="0" i="0">
                <a:solidFill>
                  <a:srgbClr val="5C6B7D"/>
                </a:solidFill>
                <a:latin typeface="Calibri"/>
              </a:rPr>
              <a:t>corporate polo shirts reflecting the company's cybersecurity branding.</a:t>
            </a:r>
          </a:p>
          <a:p>
            <a:pPr>
              <a:lnSpc>
                <a:spcPct val="112000"/>
              </a:lnSpc>
              <a:spcAft>
                <a:spcPts val="1200"/>
              </a:spcAft>
            </a:pPr>
            <a:r>
              <a:rPr sz="1300" b="1" i="0">
                <a:solidFill>
                  <a:srgbClr val="E8821E"/>
                </a:solidFill>
                <a:latin typeface="Calibri"/>
              </a:rPr>
              <a:t>▸  </a:t>
            </a:r>
            <a:r>
              <a:rPr sz="1300" b="1" i="0">
                <a:solidFill>
                  <a:srgbClr val="1E2A36"/>
                </a:solidFill>
                <a:latin typeface="Calibri"/>
              </a:rPr>
              <a:t>Festive Greeting Posters — </a:t>
            </a:r>
            <a:r>
              <a:rPr sz="1300" b="0" i="0">
                <a:solidFill>
                  <a:srgbClr val="5C6B7D"/>
                </a:solidFill>
                <a:latin typeface="Calibri"/>
              </a:rPr>
              <a:t>visually appealing designs for clients and social media.</a:t>
            </a:r>
          </a:p>
          <a:p>
            <a:pPr>
              <a:lnSpc>
                <a:spcPct val="112000"/>
              </a:lnSpc>
              <a:spcAft>
                <a:spcPts val="1200"/>
              </a:spcAft>
            </a:pPr>
            <a:r>
              <a:rPr sz="1300" b="1" i="0">
                <a:solidFill>
                  <a:srgbClr val="E8821E"/>
                </a:solidFill>
                <a:latin typeface="Calibri"/>
              </a:rPr>
              <a:t>▸  </a:t>
            </a:r>
            <a:r>
              <a:rPr sz="1300" b="1" i="0">
                <a:solidFill>
                  <a:srgbClr val="1E2A36"/>
                </a:solidFill>
                <a:latin typeface="Calibri"/>
              </a:rPr>
              <a:t>Brand Consistency — </a:t>
            </a:r>
            <a:r>
              <a:rPr sz="1300" b="0" i="0">
                <a:solidFill>
                  <a:srgbClr val="5C6B7D"/>
                </a:solidFill>
                <a:latin typeface="Calibri"/>
              </a:rPr>
              <a:t>logo, colour scheme, and tagline applied across all designs.</a:t>
            </a:r>
          </a:p>
        </p:txBody>
      </p:sp>
      <p:sp>
        <p:nvSpPr>
          <p:cNvPr id="14" name="Rectangle 13"/>
          <p:cNvSpPr/>
          <p:nvPr/>
        </p:nvSpPr>
        <p:spPr>
          <a:xfrm>
            <a:off x="7500000" y="1417320"/>
            <a:ext cx="4141695" cy="19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500000" y="1417320"/>
            <a:ext cx="4141695" cy="603504"/>
          </a:xfrm>
          <a:prstGeom prst="rect">
            <a:avLst/>
          </a:prstGeom>
          <a:solidFill>
            <a:srgbClr val="2E6B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500000" y="1417320"/>
            <a:ext cx="4141695" cy="603504"/>
          </a:xfrm>
          <a:prstGeom prst="rect">
            <a:avLst/>
          </a:prstGeom>
          <a:noFill/>
        </p:spPr>
        <p:txBody>
          <a:bodyPr wrap="square" lIns="0" tIns="0" rIns="0" bIns="0" anchor="ctr">
            <a:spAutoFit/>
          </a:bodyPr>
          <a:lstStyle/>
          <a:p>
            <a:pPr algn="ctr">
              <a:lnSpc>
                <a:spcPct val="100000"/>
              </a:lnSpc>
            </a:pPr>
            <a:r>
              <a:rPr sz="1350" b="1" i="0">
                <a:solidFill>
                  <a:srgbClr val="FFFFFF"/>
                </a:solidFill>
                <a:latin typeface="Segoe UI"/>
              </a:rPr>
              <a:t>TOOLS &amp; TECHNOLOGIES USED</a:t>
            </a:r>
          </a:p>
        </p:txBody>
      </p:sp>
      <p:sp>
        <p:nvSpPr>
          <p:cNvPr id="17" name="TextBox 16"/>
          <p:cNvSpPr txBox="1"/>
          <p:nvPr/>
        </p:nvSpPr>
        <p:spPr>
          <a:xfrm>
            <a:off x="7774320" y="2240280"/>
            <a:ext cx="3638775" cy="996496"/>
          </a:xfrm>
          <a:prstGeom prst="rect">
            <a:avLst/>
          </a:prstGeom>
          <a:noFill/>
        </p:spPr>
        <p:txBody>
          <a:bodyPr wrap="square" lIns="0" tIns="0" rIns="0" bIns="0" anchor="t">
            <a:spAutoFit/>
          </a:bodyPr>
          <a:lstStyle/>
          <a:p>
            <a:pPr>
              <a:lnSpc>
                <a:spcPct val="108000"/>
              </a:lnSpc>
              <a:spcAft>
                <a:spcPts val="1100"/>
              </a:spcAft>
            </a:pPr>
            <a:r>
              <a:rPr sz="1300" b="1" i="0">
                <a:solidFill>
                  <a:srgbClr val="2E6BB0"/>
                </a:solidFill>
                <a:latin typeface="Calibri"/>
              </a:rPr>
              <a:t>▸  </a:t>
            </a:r>
            <a:r>
              <a:rPr sz="1300" b="0" i="0">
                <a:solidFill>
                  <a:srgbClr val="1E2A36"/>
                </a:solidFill>
                <a:latin typeface="Calibri"/>
              </a:rPr>
              <a:t>Design Software: Canva, including Canva AI</a:t>
            </a:r>
          </a:p>
          <a:p>
            <a:pPr>
              <a:lnSpc>
                <a:spcPct val="108000"/>
              </a:lnSpc>
              <a:spcAft>
                <a:spcPts val="1100"/>
              </a:spcAft>
            </a:pPr>
            <a:r>
              <a:rPr sz="1300" b="1" i="0">
                <a:solidFill>
                  <a:srgbClr val="2E6BB0"/>
                </a:solidFill>
                <a:latin typeface="Calibri"/>
              </a:rPr>
              <a:t>▸  </a:t>
            </a:r>
            <a:r>
              <a:rPr sz="1300" b="0" i="0">
                <a:solidFill>
                  <a:srgbClr val="1E2A36"/>
                </a:solidFill>
                <a:latin typeface="Calibri"/>
              </a:rPr>
              <a:t>Image Formats: .PNG / .JPG for finished exports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78992"/>
          </a:xfrm>
          <a:prstGeom prst="rect">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78992"/>
            <a:ext cx="12191695" cy="5029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02920" y="274320"/>
            <a:ext cx="100584" cy="53035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82880"/>
            <a:ext cx="10789920" cy="310896"/>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9FC1E6"/>
                </a:solidFill>
                <a:latin typeface="Segoe UI"/>
              </a:rPr>
              <a:t>CHAPTER 4 · SECTION 4.2.4</a:t>
            </a:r>
          </a:p>
        </p:txBody>
      </p:sp>
      <p:sp>
        <p:nvSpPr>
          <p:cNvPr id="7" name="TextBox 6"/>
          <p:cNvSpPr txBox="1"/>
          <p:nvPr/>
        </p:nvSpPr>
        <p:spPr>
          <a:xfrm>
            <a:off x="749808" y="457200"/>
            <a:ext cx="10789920" cy="566928"/>
          </a:xfrm>
          <a:prstGeom prst="rect">
            <a:avLst/>
          </a:prstGeom>
          <a:noFill/>
        </p:spPr>
        <p:txBody>
          <a:bodyPr wrap="square" lIns="0" tIns="0" rIns="0" bIns="0" anchor="ctr">
            <a:spAutoFit/>
          </a:bodyPr>
          <a:lstStyle/>
          <a:p>
            <a:pPr algn="l">
              <a:lnSpc>
                <a:spcPct val="100000"/>
              </a:lnSpc>
              <a:spcBef>
                <a:spcPts val="0"/>
              </a:spcBef>
              <a:spcAft>
                <a:spcPts val="600"/>
              </a:spcAft>
            </a:pPr>
            <a:r>
              <a:rPr sz="2500" b="1" i="0">
                <a:solidFill>
                  <a:srgbClr val="FFFFFF"/>
                </a:solidFill>
                <a:latin typeface="Segoe UI Semibold"/>
              </a:rPr>
              <a:t>Results of Task B</a:t>
            </a:r>
          </a:p>
        </p:txBody>
      </p:sp>
      <p:sp>
        <p:nvSpPr>
          <p:cNvPr id="8" name="Rectangle 7"/>
          <p:cNvSpPr/>
          <p:nvPr/>
        </p:nvSpPr>
        <p:spPr>
          <a:xfrm>
            <a:off x="502920" y="6419088"/>
            <a:ext cx="11183112" cy="12700"/>
          </a:xfrm>
          <a:prstGeom prst="rect">
            <a:avLst/>
          </a:prstGeom>
          <a:solidFill>
            <a:srgbClr val="D5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6455664"/>
            <a:ext cx="7315200" cy="274320"/>
          </a:xfrm>
          <a:prstGeom prst="rect">
            <a:avLst/>
          </a:prstGeom>
          <a:noFill/>
        </p:spPr>
        <p:txBody>
          <a:bodyPr wrap="square" lIns="0" tIns="0" rIns="0" bIns="0" anchor="t">
            <a:spAutoFit/>
          </a:bodyPr>
          <a:lstStyle/>
          <a:p>
            <a:pPr algn="l">
              <a:lnSpc>
                <a:spcPct val="100000"/>
              </a:lnSpc>
              <a:spcBef>
                <a:spcPts val="0"/>
              </a:spcBef>
              <a:spcAft>
                <a:spcPts val="600"/>
              </a:spcAft>
            </a:pPr>
            <a:r>
              <a:rPr sz="900" b="0" i="0">
                <a:solidFill>
                  <a:srgbClr val="5C6B7D"/>
                </a:solidFill>
                <a:latin typeface="Calibri"/>
              </a:rPr>
              <a:t>Muhammad Arif Danial Bin Mohd Anuar  ·  2024933617</a:t>
            </a:r>
          </a:p>
        </p:txBody>
      </p:sp>
      <p:sp>
        <p:nvSpPr>
          <p:cNvPr id="10" name="TextBox 9"/>
          <p:cNvSpPr txBox="1"/>
          <p:nvPr/>
        </p:nvSpPr>
        <p:spPr>
          <a:xfrm>
            <a:off x="10515600" y="6455664"/>
            <a:ext cx="1170432" cy="274320"/>
          </a:xfrm>
          <a:prstGeom prst="rect">
            <a:avLst/>
          </a:prstGeom>
          <a:noFill/>
        </p:spPr>
        <p:txBody>
          <a:bodyPr wrap="square" lIns="0" tIns="0" rIns="0" bIns="0" anchor="t">
            <a:spAutoFit/>
          </a:bodyPr>
          <a:lstStyle/>
          <a:p>
            <a:pPr algn="r">
              <a:lnSpc>
                <a:spcPct val="100000"/>
              </a:lnSpc>
              <a:spcBef>
                <a:spcPts val="0"/>
              </a:spcBef>
              <a:spcAft>
                <a:spcPts val="600"/>
              </a:spcAft>
            </a:pPr>
            <a:r>
              <a:rPr sz="900" b="0" i="0">
                <a:solidFill>
                  <a:srgbClr val="5C6B7D"/>
                </a:solidFill>
                <a:latin typeface="Calibri"/>
              </a:rPr>
              <a:t>KYROL Security Labs</a:t>
            </a:r>
          </a:p>
        </p:txBody>
      </p:sp>
      <p:sp>
        <p:nvSpPr>
          <p:cNvPr id="14" name="Rectangle 13"/>
          <p:cNvSpPr/>
          <p:nvPr/>
        </p:nvSpPr>
        <p:spPr>
          <a:xfrm>
            <a:off x="4992624" y="1865796"/>
            <a:ext cx="3364992" cy="1800528"/>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fig45_polo.png"/>
          <p:cNvPicPr>
            <a:picLocks noChangeAspect="1"/>
          </p:cNvPicPr>
          <p:nvPr/>
        </p:nvPicPr>
        <p:blipFill>
          <a:blip r:embed="rId3"/>
          <a:stretch>
            <a:fillRect/>
          </a:stretch>
        </p:blipFill>
        <p:spPr>
          <a:xfrm>
            <a:off x="5074920" y="1948092"/>
            <a:ext cx="3200400" cy="1635936"/>
          </a:xfrm>
          <a:prstGeom prst="rect">
            <a:avLst/>
          </a:prstGeom>
          <a:ln w="9525">
            <a:solidFill>
              <a:srgbClr val="D5DEE8"/>
            </a:solidFill>
          </a:ln>
        </p:spPr>
      </p:pic>
      <p:sp>
        <p:nvSpPr>
          <p:cNvPr id="16" name="TextBox 15"/>
          <p:cNvSpPr txBox="1"/>
          <p:nvPr/>
        </p:nvSpPr>
        <p:spPr>
          <a:xfrm>
            <a:off x="5010912" y="3712044"/>
            <a:ext cx="3200400" cy="274320"/>
          </a:xfrm>
          <a:prstGeom prst="rect">
            <a:avLst/>
          </a:prstGeom>
          <a:noFill/>
        </p:spPr>
        <p:txBody>
          <a:bodyPr wrap="square" lIns="0" tIns="0" rIns="0" bIns="0" anchor="t">
            <a:spAutoFit/>
          </a:bodyPr>
          <a:lstStyle/>
          <a:p>
            <a:pPr algn="ctr">
              <a:lnSpc>
                <a:spcPct val="100000"/>
              </a:lnSpc>
              <a:spcBef>
                <a:spcPts val="0"/>
              </a:spcBef>
              <a:spcAft>
                <a:spcPts val="600"/>
              </a:spcAft>
            </a:pPr>
            <a:r>
              <a:rPr sz="950" b="0" i="1" dirty="0">
                <a:solidFill>
                  <a:srgbClr val="5C6B7D"/>
                </a:solidFill>
                <a:latin typeface="Calibri"/>
              </a:rPr>
              <a:t>Fig 4.5: Corporate polo designs</a:t>
            </a:r>
          </a:p>
        </p:txBody>
      </p:sp>
      <p:sp>
        <p:nvSpPr>
          <p:cNvPr id="17" name="Rectangle 16"/>
          <p:cNvSpPr/>
          <p:nvPr/>
        </p:nvSpPr>
        <p:spPr>
          <a:xfrm>
            <a:off x="8375904" y="1616218"/>
            <a:ext cx="3364992" cy="2299684"/>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fig46_festive.png"/>
          <p:cNvPicPr>
            <a:picLocks noChangeAspect="1"/>
          </p:cNvPicPr>
          <p:nvPr/>
        </p:nvPicPr>
        <p:blipFill>
          <a:blip r:embed="rId4"/>
          <a:stretch>
            <a:fillRect/>
          </a:stretch>
        </p:blipFill>
        <p:spPr>
          <a:xfrm>
            <a:off x="8458200" y="1698514"/>
            <a:ext cx="3200400" cy="2135092"/>
          </a:xfrm>
          <a:prstGeom prst="rect">
            <a:avLst/>
          </a:prstGeom>
          <a:ln w="9525">
            <a:solidFill>
              <a:srgbClr val="D5DEE8"/>
            </a:solidFill>
          </a:ln>
        </p:spPr>
      </p:pic>
      <p:sp>
        <p:nvSpPr>
          <p:cNvPr id="19" name="TextBox 18"/>
          <p:cNvSpPr txBox="1"/>
          <p:nvPr/>
        </p:nvSpPr>
        <p:spPr>
          <a:xfrm>
            <a:off x="8485632" y="3995928"/>
            <a:ext cx="3200400" cy="274320"/>
          </a:xfrm>
          <a:prstGeom prst="rect">
            <a:avLst/>
          </a:prstGeom>
          <a:noFill/>
        </p:spPr>
        <p:txBody>
          <a:bodyPr wrap="square" lIns="0" tIns="0" rIns="0" bIns="0" anchor="t">
            <a:spAutoFit/>
          </a:bodyPr>
          <a:lstStyle/>
          <a:p>
            <a:pPr algn="ctr">
              <a:lnSpc>
                <a:spcPct val="100000"/>
              </a:lnSpc>
              <a:spcBef>
                <a:spcPts val="0"/>
              </a:spcBef>
              <a:spcAft>
                <a:spcPts val="600"/>
              </a:spcAft>
            </a:pPr>
            <a:r>
              <a:rPr sz="950" b="0" i="1">
                <a:solidFill>
                  <a:srgbClr val="5C6B7D"/>
                </a:solidFill>
                <a:latin typeface="Calibri"/>
              </a:rPr>
              <a:t>Fig 4.6: Festive greeting posters</a:t>
            </a:r>
          </a:p>
        </p:txBody>
      </p:sp>
      <p:sp>
        <p:nvSpPr>
          <p:cNvPr id="20" name="Rectangle 19"/>
          <p:cNvSpPr/>
          <p:nvPr/>
        </p:nvSpPr>
        <p:spPr>
          <a:xfrm>
            <a:off x="5074920" y="4498848"/>
            <a:ext cx="6583680" cy="1371600"/>
          </a:xfrm>
          <a:prstGeom prst="rect">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074920" y="4498848"/>
            <a:ext cx="82296" cy="1371600"/>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349240" y="4681728"/>
            <a:ext cx="6126480" cy="320040"/>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9FC1E6"/>
                </a:solidFill>
                <a:latin typeface="Segoe UI"/>
              </a:rPr>
              <a:t>BRAND CONSISTENCY</a:t>
            </a:r>
          </a:p>
        </p:txBody>
      </p:sp>
      <p:sp>
        <p:nvSpPr>
          <p:cNvPr id="23" name="TextBox 22"/>
          <p:cNvSpPr txBox="1"/>
          <p:nvPr/>
        </p:nvSpPr>
        <p:spPr>
          <a:xfrm>
            <a:off x="5349240" y="5029200"/>
            <a:ext cx="6126480" cy="412613"/>
          </a:xfrm>
          <a:prstGeom prst="rect">
            <a:avLst/>
          </a:prstGeom>
          <a:noFill/>
        </p:spPr>
        <p:txBody>
          <a:bodyPr wrap="square" lIns="0" tIns="0" rIns="0" bIns="0" anchor="t">
            <a:spAutoFit/>
          </a:bodyPr>
          <a:lstStyle/>
          <a:p>
            <a:pPr algn="l">
              <a:lnSpc>
                <a:spcPct val="110000"/>
              </a:lnSpc>
              <a:spcBef>
                <a:spcPts val="0"/>
              </a:spcBef>
              <a:spcAft>
                <a:spcPts val="600"/>
              </a:spcAft>
            </a:pPr>
            <a:r>
              <a:rPr sz="1250" b="0" i="0" dirty="0">
                <a:solidFill>
                  <a:srgbClr val="D8E1EC"/>
                </a:solidFill>
                <a:latin typeface="Calibri"/>
              </a:rPr>
              <a:t>Company logo, </a:t>
            </a:r>
            <a:r>
              <a:rPr sz="1250" b="0" i="0" dirty="0" err="1">
                <a:solidFill>
                  <a:srgbClr val="D8E1EC"/>
                </a:solidFill>
                <a:latin typeface="Calibri"/>
              </a:rPr>
              <a:t>colour</a:t>
            </a:r>
            <a:r>
              <a:rPr sz="1250" b="0" i="0" dirty="0">
                <a:solidFill>
                  <a:srgbClr val="D8E1EC"/>
                </a:solidFill>
                <a:latin typeface="Calibri"/>
              </a:rPr>
              <a:t> scheme, and tagline applied consistently across all corporate apparel and festive designs</a:t>
            </a:r>
            <a:r>
              <a:rPr lang="en-US" sz="1250" b="0" i="0" dirty="0">
                <a:solidFill>
                  <a:srgbClr val="D8E1EC"/>
                </a:solidFill>
                <a:latin typeface="Calibri"/>
              </a:rPr>
              <a:t>, </a:t>
            </a:r>
            <a:r>
              <a:rPr sz="1250" b="0" i="0" dirty="0">
                <a:solidFill>
                  <a:srgbClr val="D8E1EC"/>
                </a:solidFill>
                <a:latin typeface="Calibri"/>
              </a:rPr>
              <a:t>also produced event jerseys and branded corporate materials.</a:t>
            </a:r>
          </a:p>
        </p:txBody>
      </p:sp>
      <p:sp>
        <p:nvSpPr>
          <p:cNvPr id="24" name="TextBox 23"/>
          <p:cNvSpPr txBox="1"/>
          <p:nvPr/>
        </p:nvSpPr>
        <p:spPr>
          <a:xfrm>
            <a:off x="548640" y="1417320"/>
            <a:ext cx="4297680" cy="2800000"/>
          </a:xfrm>
          <a:prstGeom prst="rect">
            <a:avLst/>
          </a:prstGeom>
          <a:noFill/>
        </p:spPr>
        <p:txBody>
          <a:bodyPr wrap="square" lIns="0" tIns="0" rIns="0" bIns="0" anchor="t">
            <a:spAutoFit/>
          </a:bodyPr>
          <a:lstStyle/>
          <a:p>
            <a:pPr>
              <a:lnSpc>
                <a:spcPct val="118000"/>
              </a:lnSpc>
              <a:spcAft>
                <a:spcPts val="1600"/>
              </a:spcAft>
            </a:pPr>
            <a:r>
              <a:rPr sz="1300" b="1" i="0">
                <a:solidFill>
                  <a:srgbClr val="E8821E"/>
                </a:solidFill>
                <a:latin typeface="Calibri"/>
              </a:rPr>
              <a:t>▸  </a:t>
            </a:r>
            <a:r>
              <a:rPr sz="1300" b="1" i="0">
                <a:solidFill>
                  <a:srgbClr val="1E2A36"/>
                </a:solidFill>
                <a:latin typeface="Calibri"/>
              </a:rPr>
              <a:t>Corporate Polo Shirt Design — </a:t>
            </a:r>
            <a:r>
              <a:rPr sz="1300" b="0" i="0">
                <a:solidFill>
                  <a:srgbClr val="5C6B7D"/>
                </a:solidFill>
                <a:latin typeface="Calibri"/>
              </a:rPr>
              <a:t>Canva mockups incorporating the KYROL logo with a tech-inspired theme.</a:t>
            </a:r>
          </a:p>
          <a:p>
            <a:pPr>
              <a:lnSpc>
                <a:spcPct val="118000"/>
              </a:lnSpc>
              <a:spcAft>
                <a:spcPts val="1600"/>
              </a:spcAft>
            </a:pPr>
            <a:r>
              <a:rPr sz="1300" b="1" i="0">
                <a:solidFill>
                  <a:srgbClr val="E8821E"/>
                </a:solidFill>
                <a:latin typeface="Calibri"/>
              </a:rPr>
              <a:t>▸  </a:t>
            </a:r>
            <a:r>
              <a:rPr sz="1300" b="1" i="0">
                <a:solidFill>
                  <a:srgbClr val="1E2A36"/>
                </a:solidFill>
                <a:latin typeface="Calibri"/>
              </a:rPr>
              <a:t>Festive Greeting Poster Design — </a:t>
            </a:r>
            <a:r>
              <a:rPr sz="1300" b="0" i="0">
                <a:solidFill>
                  <a:srgbClr val="5C6B7D"/>
                </a:solidFill>
                <a:latin typeface="Calibri"/>
              </a:rPr>
              <a:t>Canva AI used for Agong's birthday, Labour Day, and Wesak Day posters.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78992"/>
          </a:xfrm>
          <a:prstGeom prst="rect">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78992"/>
            <a:ext cx="12191695" cy="5029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02920" y="274320"/>
            <a:ext cx="100584" cy="53035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82880"/>
            <a:ext cx="10789920" cy="310896"/>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9FC1E6"/>
                </a:solidFill>
                <a:latin typeface="Segoe UI"/>
              </a:rPr>
              <a:t>CHAPTER 5</a:t>
            </a:r>
          </a:p>
        </p:txBody>
      </p:sp>
      <p:sp>
        <p:nvSpPr>
          <p:cNvPr id="7" name="TextBox 6"/>
          <p:cNvSpPr txBox="1"/>
          <p:nvPr/>
        </p:nvSpPr>
        <p:spPr>
          <a:xfrm>
            <a:off x="749808" y="457200"/>
            <a:ext cx="10789920" cy="566928"/>
          </a:xfrm>
          <a:prstGeom prst="rect">
            <a:avLst/>
          </a:prstGeom>
          <a:noFill/>
        </p:spPr>
        <p:txBody>
          <a:bodyPr wrap="square" lIns="0" tIns="0" rIns="0" bIns="0" anchor="ctr">
            <a:spAutoFit/>
          </a:bodyPr>
          <a:lstStyle/>
          <a:p>
            <a:pPr algn="l">
              <a:lnSpc>
                <a:spcPct val="100000"/>
              </a:lnSpc>
              <a:spcBef>
                <a:spcPts val="0"/>
              </a:spcBef>
              <a:spcAft>
                <a:spcPts val="600"/>
              </a:spcAft>
            </a:pPr>
            <a:r>
              <a:rPr sz="2500" b="1" i="0">
                <a:solidFill>
                  <a:srgbClr val="FFFFFF"/>
                </a:solidFill>
                <a:latin typeface="Segoe UI Semibold"/>
              </a:rPr>
              <a:t>Conclusion</a:t>
            </a:r>
          </a:p>
        </p:txBody>
      </p:sp>
      <p:sp>
        <p:nvSpPr>
          <p:cNvPr id="8" name="Rectangle 7"/>
          <p:cNvSpPr/>
          <p:nvPr/>
        </p:nvSpPr>
        <p:spPr>
          <a:xfrm>
            <a:off x="502920" y="6419088"/>
            <a:ext cx="11183112" cy="12700"/>
          </a:xfrm>
          <a:prstGeom prst="rect">
            <a:avLst/>
          </a:prstGeom>
          <a:solidFill>
            <a:srgbClr val="D5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6455664"/>
            <a:ext cx="7315200" cy="274320"/>
          </a:xfrm>
          <a:prstGeom prst="rect">
            <a:avLst/>
          </a:prstGeom>
          <a:noFill/>
        </p:spPr>
        <p:txBody>
          <a:bodyPr wrap="square" lIns="0" tIns="0" rIns="0" bIns="0" anchor="t">
            <a:spAutoFit/>
          </a:bodyPr>
          <a:lstStyle/>
          <a:p>
            <a:pPr algn="l">
              <a:lnSpc>
                <a:spcPct val="100000"/>
              </a:lnSpc>
              <a:spcBef>
                <a:spcPts val="0"/>
              </a:spcBef>
              <a:spcAft>
                <a:spcPts val="600"/>
              </a:spcAft>
            </a:pPr>
            <a:r>
              <a:rPr sz="900" b="0" i="0">
                <a:solidFill>
                  <a:srgbClr val="5C6B7D"/>
                </a:solidFill>
                <a:latin typeface="Calibri"/>
              </a:rPr>
              <a:t>Muhammad Arif Danial Bin Mohd Anuar  ·  2024933617</a:t>
            </a:r>
          </a:p>
        </p:txBody>
      </p:sp>
      <p:sp>
        <p:nvSpPr>
          <p:cNvPr id="10" name="TextBox 9"/>
          <p:cNvSpPr txBox="1"/>
          <p:nvPr/>
        </p:nvSpPr>
        <p:spPr>
          <a:xfrm>
            <a:off x="10515600" y="6455664"/>
            <a:ext cx="1170432" cy="274320"/>
          </a:xfrm>
          <a:prstGeom prst="rect">
            <a:avLst/>
          </a:prstGeom>
          <a:noFill/>
        </p:spPr>
        <p:txBody>
          <a:bodyPr wrap="square" lIns="0" tIns="0" rIns="0" bIns="0" anchor="t">
            <a:spAutoFit/>
          </a:bodyPr>
          <a:lstStyle/>
          <a:p>
            <a:pPr algn="r">
              <a:lnSpc>
                <a:spcPct val="100000"/>
              </a:lnSpc>
              <a:spcBef>
                <a:spcPts val="0"/>
              </a:spcBef>
              <a:spcAft>
                <a:spcPts val="600"/>
              </a:spcAft>
            </a:pPr>
            <a:r>
              <a:rPr sz="900" b="0" i="0">
                <a:solidFill>
                  <a:srgbClr val="5C6B7D"/>
                </a:solidFill>
                <a:latin typeface="Calibri"/>
              </a:rPr>
              <a:t>KYROL Security Labs</a:t>
            </a:r>
          </a:p>
        </p:txBody>
      </p:sp>
      <p:sp>
        <p:nvSpPr>
          <p:cNvPr id="11" name="TextBox 10"/>
          <p:cNvSpPr txBox="1"/>
          <p:nvPr/>
        </p:nvSpPr>
        <p:spPr>
          <a:xfrm>
            <a:off x="548640" y="1417320"/>
            <a:ext cx="11064240" cy="494302"/>
          </a:xfrm>
          <a:prstGeom prst="rect">
            <a:avLst/>
          </a:prstGeom>
          <a:noFill/>
        </p:spPr>
        <p:txBody>
          <a:bodyPr wrap="square" lIns="0" tIns="0" rIns="0" bIns="0" anchor="t">
            <a:spAutoFit/>
          </a:bodyPr>
          <a:lstStyle/>
          <a:p>
            <a:pPr algn="l">
              <a:lnSpc>
                <a:spcPct val="114000"/>
              </a:lnSpc>
              <a:spcBef>
                <a:spcPts val="0"/>
              </a:spcBef>
              <a:spcAft>
                <a:spcPts val="600"/>
              </a:spcAft>
            </a:pPr>
            <a:r>
              <a:rPr sz="1450" b="0" i="0" dirty="0">
                <a:solidFill>
                  <a:srgbClr val="1E2A36"/>
                </a:solidFill>
                <a:latin typeface="Calibri"/>
              </a:rPr>
              <a:t>The 24-week training at KYROL Security Labs was a valuable bridge between classroom learning and real industry practice</a:t>
            </a:r>
            <a:r>
              <a:rPr lang="en-US" sz="1450" b="0" i="0" dirty="0">
                <a:solidFill>
                  <a:srgbClr val="1E2A36"/>
                </a:solidFill>
                <a:latin typeface="Calibri"/>
              </a:rPr>
              <a:t>,</a:t>
            </a:r>
            <a:r>
              <a:rPr sz="1450" b="0" i="0" dirty="0">
                <a:solidFill>
                  <a:srgbClr val="1E2A36"/>
                </a:solidFill>
                <a:latin typeface="Calibri"/>
              </a:rPr>
              <a:t> giving me hands-on exposure across software development, cybersecurity, systems administration, and creative design.</a:t>
            </a:r>
          </a:p>
        </p:txBody>
      </p:sp>
      <p:sp>
        <p:nvSpPr>
          <p:cNvPr id="12" name="Rectangle 11"/>
          <p:cNvSpPr/>
          <p:nvPr/>
        </p:nvSpPr>
        <p:spPr>
          <a:xfrm>
            <a:off x="548640" y="2880360"/>
            <a:ext cx="3639312" cy="2971800"/>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48640" y="2880360"/>
            <a:ext cx="3639312" cy="82296"/>
          </a:xfrm>
          <a:prstGeom prst="rect">
            <a:avLst/>
          </a:prstGeom>
          <a:solidFill>
            <a:srgbClr val="2E6B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 y="3172968"/>
            <a:ext cx="3090672" cy="548640"/>
          </a:xfrm>
          <a:prstGeom prst="rect">
            <a:avLst/>
          </a:prstGeom>
          <a:noFill/>
        </p:spPr>
        <p:txBody>
          <a:bodyPr wrap="square" lIns="0" tIns="0" rIns="0" bIns="0" anchor="t">
            <a:spAutoFit/>
          </a:bodyPr>
          <a:lstStyle/>
          <a:p>
            <a:pPr algn="l">
              <a:lnSpc>
                <a:spcPct val="100000"/>
              </a:lnSpc>
              <a:spcBef>
                <a:spcPts val="0"/>
              </a:spcBef>
              <a:spcAft>
                <a:spcPts val="600"/>
              </a:spcAft>
            </a:pPr>
            <a:r>
              <a:rPr sz="1650" b="1" i="0">
                <a:solidFill>
                  <a:srgbClr val="0F2A47"/>
                </a:solidFill>
                <a:latin typeface="Segoe UI Semibold"/>
              </a:rPr>
              <a:t>Main Project</a:t>
            </a:r>
          </a:p>
        </p:txBody>
      </p:sp>
      <p:sp>
        <p:nvSpPr>
          <p:cNvPr id="15" name="TextBox 14"/>
          <p:cNvSpPr txBox="1"/>
          <p:nvPr/>
        </p:nvSpPr>
        <p:spPr>
          <a:xfrm>
            <a:off x="822960" y="3794760"/>
            <a:ext cx="3090672" cy="671209"/>
          </a:xfrm>
          <a:prstGeom prst="rect">
            <a:avLst/>
          </a:prstGeom>
          <a:noFill/>
        </p:spPr>
        <p:txBody>
          <a:bodyPr wrap="square" lIns="0" tIns="0" rIns="0" bIns="0" anchor="t">
            <a:spAutoFit/>
          </a:bodyPr>
          <a:lstStyle/>
          <a:p>
            <a:pPr algn="l">
              <a:lnSpc>
                <a:spcPct val="114000"/>
              </a:lnSpc>
              <a:spcBef>
                <a:spcPts val="0"/>
              </a:spcBef>
              <a:spcAft>
                <a:spcPts val="600"/>
              </a:spcAft>
            </a:pPr>
            <a:r>
              <a:rPr sz="1300" b="0" i="0" dirty="0">
                <a:solidFill>
                  <a:srgbClr val="5C6B7D"/>
                </a:solidFill>
                <a:latin typeface="Calibri"/>
              </a:rPr>
              <a:t>Full SDLC experience</a:t>
            </a:r>
            <a:r>
              <a:rPr lang="en-US" sz="1300" b="0" i="0" dirty="0">
                <a:solidFill>
                  <a:srgbClr val="5C6B7D"/>
                </a:solidFill>
                <a:latin typeface="Calibri"/>
              </a:rPr>
              <a:t>, </a:t>
            </a:r>
            <a:r>
              <a:rPr sz="1300" b="0" i="0" dirty="0">
                <a:solidFill>
                  <a:srgbClr val="5C6B7D"/>
                </a:solidFill>
                <a:latin typeface="Calibri"/>
              </a:rPr>
              <a:t>Python scripting, Docker containerization, secure SMTP, and CI/CD via GitHub Actions.</a:t>
            </a:r>
          </a:p>
        </p:txBody>
      </p:sp>
      <p:sp>
        <p:nvSpPr>
          <p:cNvPr id="16" name="Rectangle 15"/>
          <p:cNvSpPr/>
          <p:nvPr/>
        </p:nvSpPr>
        <p:spPr>
          <a:xfrm>
            <a:off x="4361688" y="2880360"/>
            <a:ext cx="3639312" cy="2971800"/>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361688" y="2880360"/>
            <a:ext cx="3639312" cy="82296"/>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636008" y="3172968"/>
            <a:ext cx="3090672" cy="548640"/>
          </a:xfrm>
          <a:prstGeom prst="rect">
            <a:avLst/>
          </a:prstGeom>
          <a:noFill/>
        </p:spPr>
        <p:txBody>
          <a:bodyPr wrap="square" lIns="0" tIns="0" rIns="0" bIns="0" anchor="t">
            <a:spAutoFit/>
          </a:bodyPr>
          <a:lstStyle/>
          <a:p>
            <a:pPr algn="l">
              <a:lnSpc>
                <a:spcPct val="100000"/>
              </a:lnSpc>
              <a:spcBef>
                <a:spcPts val="0"/>
              </a:spcBef>
              <a:spcAft>
                <a:spcPts val="600"/>
              </a:spcAft>
            </a:pPr>
            <a:r>
              <a:rPr sz="1650" b="1" i="0">
                <a:solidFill>
                  <a:srgbClr val="0F2A47"/>
                </a:solidFill>
                <a:latin typeface="Segoe UI Semibold"/>
              </a:rPr>
              <a:t>Technical Breadth</a:t>
            </a:r>
          </a:p>
        </p:txBody>
      </p:sp>
      <p:sp>
        <p:nvSpPr>
          <p:cNvPr id="19" name="TextBox 18"/>
          <p:cNvSpPr txBox="1"/>
          <p:nvPr/>
        </p:nvSpPr>
        <p:spPr>
          <a:xfrm>
            <a:off x="4636008" y="3794760"/>
            <a:ext cx="3090672" cy="1828800"/>
          </a:xfrm>
          <a:prstGeom prst="rect">
            <a:avLst/>
          </a:prstGeom>
          <a:noFill/>
        </p:spPr>
        <p:txBody>
          <a:bodyPr wrap="square" lIns="0" tIns="0" rIns="0" bIns="0" anchor="t">
            <a:spAutoFit/>
          </a:bodyPr>
          <a:lstStyle/>
          <a:p>
            <a:pPr algn="l">
              <a:lnSpc>
                <a:spcPct val="114000"/>
              </a:lnSpc>
              <a:spcBef>
                <a:spcPts val="0"/>
              </a:spcBef>
              <a:spcAft>
                <a:spcPts val="600"/>
              </a:spcAft>
            </a:pPr>
            <a:r>
              <a:rPr sz="1300" b="0" i="0">
                <a:solidFill>
                  <a:srgbClr val="5C6B7D"/>
                </a:solidFill>
                <a:latin typeface="Calibri"/>
              </a:rPr>
              <a:t>Cybersecurity &amp; pen-testing (TryHackMe, CTF), Active Directory, VMware, on-site hardware maintenance, Power BI, Joomla CMS.</a:t>
            </a:r>
          </a:p>
        </p:txBody>
      </p:sp>
      <p:sp>
        <p:nvSpPr>
          <p:cNvPr id="20" name="Rectangle 19"/>
          <p:cNvSpPr/>
          <p:nvPr/>
        </p:nvSpPr>
        <p:spPr>
          <a:xfrm>
            <a:off x="8174736" y="2880360"/>
            <a:ext cx="3639312" cy="2971800"/>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174736" y="2880360"/>
            <a:ext cx="3639312" cy="82296"/>
          </a:xfrm>
          <a:prstGeom prst="rect">
            <a:avLst/>
          </a:prstGeom>
          <a:solidFill>
            <a:srgbClr val="1E7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449056" y="3172968"/>
            <a:ext cx="3090672" cy="548640"/>
          </a:xfrm>
          <a:prstGeom prst="rect">
            <a:avLst/>
          </a:prstGeom>
          <a:noFill/>
        </p:spPr>
        <p:txBody>
          <a:bodyPr wrap="square" lIns="0" tIns="0" rIns="0" bIns="0" anchor="t">
            <a:spAutoFit/>
          </a:bodyPr>
          <a:lstStyle/>
          <a:p>
            <a:pPr algn="l">
              <a:lnSpc>
                <a:spcPct val="100000"/>
              </a:lnSpc>
              <a:spcBef>
                <a:spcPts val="0"/>
              </a:spcBef>
              <a:spcAft>
                <a:spcPts val="600"/>
              </a:spcAft>
            </a:pPr>
            <a:r>
              <a:rPr sz="1650" b="1" i="0">
                <a:solidFill>
                  <a:srgbClr val="0F2A47"/>
                </a:solidFill>
                <a:latin typeface="Segoe UI Semibold"/>
              </a:rPr>
              <a:t>Creative &amp; Soft Skills</a:t>
            </a:r>
          </a:p>
        </p:txBody>
      </p:sp>
      <p:sp>
        <p:nvSpPr>
          <p:cNvPr id="23" name="TextBox 22"/>
          <p:cNvSpPr txBox="1"/>
          <p:nvPr/>
        </p:nvSpPr>
        <p:spPr>
          <a:xfrm>
            <a:off x="8449056" y="3794760"/>
            <a:ext cx="3090672" cy="1828800"/>
          </a:xfrm>
          <a:prstGeom prst="rect">
            <a:avLst/>
          </a:prstGeom>
          <a:noFill/>
        </p:spPr>
        <p:txBody>
          <a:bodyPr wrap="square" lIns="0" tIns="0" rIns="0" bIns="0" anchor="t">
            <a:spAutoFit/>
          </a:bodyPr>
          <a:lstStyle/>
          <a:p>
            <a:pPr algn="l">
              <a:lnSpc>
                <a:spcPct val="114000"/>
              </a:lnSpc>
              <a:spcBef>
                <a:spcPts val="0"/>
              </a:spcBef>
              <a:spcAft>
                <a:spcPts val="600"/>
              </a:spcAft>
            </a:pPr>
            <a:r>
              <a:rPr sz="1300" b="0" i="0">
                <a:solidFill>
                  <a:srgbClr val="5C6B7D"/>
                </a:solidFill>
                <a:latin typeface="Calibri"/>
              </a:rPr>
              <a:t>Corporate graphic design plus communication, time management, and adaptability in a client-facing environment.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78992"/>
          </a:xfrm>
          <a:prstGeom prst="rect">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78992"/>
            <a:ext cx="12191695" cy="5029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02920" y="274320"/>
            <a:ext cx="100584" cy="530352"/>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82880"/>
            <a:ext cx="10789920" cy="310896"/>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9FC1E6"/>
                </a:solidFill>
                <a:latin typeface="Segoe UI"/>
              </a:rPr>
              <a:t>CHAPTER 5</a:t>
            </a:r>
          </a:p>
        </p:txBody>
      </p:sp>
      <p:sp>
        <p:nvSpPr>
          <p:cNvPr id="7" name="TextBox 6"/>
          <p:cNvSpPr txBox="1"/>
          <p:nvPr/>
        </p:nvSpPr>
        <p:spPr>
          <a:xfrm>
            <a:off x="749808" y="457200"/>
            <a:ext cx="10789920" cy="566928"/>
          </a:xfrm>
          <a:prstGeom prst="rect">
            <a:avLst/>
          </a:prstGeom>
          <a:noFill/>
        </p:spPr>
        <p:txBody>
          <a:bodyPr wrap="square" lIns="0" tIns="0" rIns="0" bIns="0" anchor="ctr">
            <a:spAutoFit/>
          </a:bodyPr>
          <a:lstStyle/>
          <a:p>
            <a:pPr algn="l">
              <a:lnSpc>
                <a:spcPct val="100000"/>
              </a:lnSpc>
              <a:spcBef>
                <a:spcPts val="0"/>
              </a:spcBef>
              <a:spcAft>
                <a:spcPts val="600"/>
              </a:spcAft>
            </a:pPr>
            <a:r>
              <a:rPr sz="2500" b="1" i="0">
                <a:solidFill>
                  <a:srgbClr val="FFFFFF"/>
                </a:solidFill>
                <a:latin typeface="Segoe UI Semibold"/>
              </a:rPr>
              <a:t>Recommendations</a:t>
            </a:r>
          </a:p>
        </p:txBody>
      </p:sp>
      <p:sp>
        <p:nvSpPr>
          <p:cNvPr id="8" name="Rectangle 7"/>
          <p:cNvSpPr/>
          <p:nvPr/>
        </p:nvSpPr>
        <p:spPr>
          <a:xfrm>
            <a:off x="502920" y="6419088"/>
            <a:ext cx="11183112" cy="12700"/>
          </a:xfrm>
          <a:prstGeom prst="rect">
            <a:avLst/>
          </a:prstGeom>
          <a:solidFill>
            <a:srgbClr val="D5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6455664"/>
            <a:ext cx="7315200" cy="274320"/>
          </a:xfrm>
          <a:prstGeom prst="rect">
            <a:avLst/>
          </a:prstGeom>
          <a:noFill/>
        </p:spPr>
        <p:txBody>
          <a:bodyPr wrap="square" lIns="0" tIns="0" rIns="0" bIns="0" anchor="t">
            <a:spAutoFit/>
          </a:bodyPr>
          <a:lstStyle/>
          <a:p>
            <a:pPr algn="l">
              <a:lnSpc>
                <a:spcPct val="100000"/>
              </a:lnSpc>
              <a:spcBef>
                <a:spcPts val="0"/>
              </a:spcBef>
              <a:spcAft>
                <a:spcPts val="600"/>
              </a:spcAft>
            </a:pPr>
            <a:r>
              <a:rPr sz="900" b="0" i="0">
                <a:solidFill>
                  <a:srgbClr val="5C6B7D"/>
                </a:solidFill>
                <a:latin typeface="Calibri"/>
              </a:rPr>
              <a:t>Muhammad Arif Danial Bin Mohd Anuar  ·  2024933617</a:t>
            </a:r>
          </a:p>
        </p:txBody>
      </p:sp>
      <p:sp>
        <p:nvSpPr>
          <p:cNvPr id="10" name="TextBox 9"/>
          <p:cNvSpPr txBox="1"/>
          <p:nvPr/>
        </p:nvSpPr>
        <p:spPr>
          <a:xfrm>
            <a:off x="10515600" y="6455664"/>
            <a:ext cx="1170432" cy="274320"/>
          </a:xfrm>
          <a:prstGeom prst="rect">
            <a:avLst/>
          </a:prstGeom>
          <a:noFill/>
        </p:spPr>
        <p:txBody>
          <a:bodyPr wrap="square" lIns="0" tIns="0" rIns="0" bIns="0" anchor="t">
            <a:spAutoFit/>
          </a:bodyPr>
          <a:lstStyle/>
          <a:p>
            <a:pPr algn="r">
              <a:lnSpc>
                <a:spcPct val="100000"/>
              </a:lnSpc>
              <a:spcBef>
                <a:spcPts val="0"/>
              </a:spcBef>
              <a:spcAft>
                <a:spcPts val="600"/>
              </a:spcAft>
            </a:pPr>
            <a:r>
              <a:rPr sz="900" b="0" i="0">
                <a:solidFill>
                  <a:srgbClr val="5C6B7D"/>
                </a:solidFill>
                <a:latin typeface="Calibri"/>
              </a:rPr>
              <a:t>KYROL Security Labs</a:t>
            </a:r>
          </a:p>
        </p:txBody>
      </p:sp>
      <p:sp>
        <p:nvSpPr>
          <p:cNvPr id="11" name="Rectangle 10"/>
          <p:cNvSpPr/>
          <p:nvPr/>
        </p:nvSpPr>
        <p:spPr>
          <a:xfrm>
            <a:off x="548640" y="1554480"/>
            <a:ext cx="11091672" cy="1298448"/>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777240" y="1874520"/>
            <a:ext cx="658368" cy="658368"/>
          </a:xfrm>
          <a:prstGeom prst="ellipse">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7240" y="1892808"/>
            <a:ext cx="658368" cy="621792"/>
          </a:xfrm>
          <a:prstGeom prst="rect">
            <a:avLst/>
          </a:prstGeom>
          <a:noFill/>
        </p:spPr>
        <p:txBody>
          <a:bodyPr wrap="square" lIns="0" tIns="0" rIns="0" bIns="0" anchor="ctr">
            <a:spAutoFit/>
          </a:bodyPr>
          <a:lstStyle/>
          <a:p>
            <a:pPr algn="ctr">
              <a:lnSpc>
                <a:spcPct val="100000"/>
              </a:lnSpc>
              <a:spcBef>
                <a:spcPts val="0"/>
              </a:spcBef>
              <a:spcAft>
                <a:spcPts val="600"/>
              </a:spcAft>
            </a:pPr>
            <a:r>
              <a:rPr sz="1700" b="1" i="0">
                <a:solidFill>
                  <a:srgbClr val="FFFFFF"/>
                </a:solidFill>
                <a:latin typeface="Segoe UI Semibold"/>
              </a:rPr>
              <a:t>i</a:t>
            </a:r>
          </a:p>
        </p:txBody>
      </p:sp>
      <p:sp>
        <p:nvSpPr>
          <p:cNvPr id="14" name="TextBox 13"/>
          <p:cNvSpPr txBox="1"/>
          <p:nvPr/>
        </p:nvSpPr>
        <p:spPr>
          <a:xfrm>
            <a:off x="1691640" y="1737360"/>
            <a:ext cx="9601200" cy="365760"/>
          </a:xfrm>
          <a:prstGeom prst="rect">
            <a:avLst/>
          </a:prstGeom>
          <a:noFill/>
        </p:spPr>
        <p:txBody>
          <a:bodyPr wrap="square" lIns="0" tIns="0" rIns="0" bIns="0" anchor="t">
            <a:spAutoFit/>
          </a:bodyPr>
          <a:lstStyle/>
          <a:p>
            <a:pPr algn="l">
              <a:lnSpc>
                <a:spcPct val="100000"/>
              </a:lnSpc>
              <a:spcBef>
                <a:spcPts val="0"/>
              </a:spcBef>
              <a:spcAft>
                <a:spcPts val="600"/>
              </a:spcAft>
            </a:pPr>
            <a:r>
              <a:rPr sz="1650" b="1" i="0">
                <a:solidFill>
                  <a:srgbClr val="0F2A47"/>
                </a:solidFill>
                <a:latin typeface="Segoe UI Semibold"/>
              </a:rPr>
              <a:t>To the University</a:t>
            </a:r>
          </a:p>
        </p:txBody>
      </p:sp>
      <p:sp>
        <p:nvSpPr>
          <p:cNvPr id="15" name="TextBox 14"/>
          <p:cNvSpPr txBox="1"/>
          <p:nvPr/>
        </p:nvSpPr>
        <p:spPr>
          <a:xfrm>
            <a:off x="1691640" y="2157984"/>
            <a:ext cx="9692640" cy="640080"/>
          </a:xfrm>
          <a:prstGeom prst="rect">
            <a:avLst/>
          </a:prstGeom>
          <a:noFill/>
        </p:spPr>
        <p:txBody>
          <a:bodyPr wrap="square" lIns="0" tIns="0" rIns="0" bIns="0" anchor="t">
            <a:spAutoFit/>
          </a:bodyPr>
          <a:lstStyle/>
          <a:p>
            <a:pPr algn="l">
              <a:lnSpc>
                <a:spcPct val="110000"/>
              </a:lnSpc>
              <a:spcBef>
                <a:spcPts val="0"/>
              </a:spcBef>
              <a:spcAft>
                <a:spcPts val="600"/>
              </a:spcAft>
            </a:pPr>
            <a:r>
              <a:rPr sz="1300" b="0" i="0" dirty="0">
                <a:solidFill>
                  <a:srgbClr val="5C6B7D"/>
                </a:solidFill>
                <a:latin typeface="Calibri"/>
              </a:rPr>
              <a:t>Actively secure internship placements by expanding partnerships with IT and cybersecurity firms, as some students struggle to find suitable placements in time.</a:t>
            </a:r>
          </a:p>
        </p:txBody>
      </p:sp>
      <p:sp>
        <p:nvSpPr>
          <p:cNvPr id="16" name="Rectangle 15"/>
          <p:cNvSpPr/>
          <p:nvPr/>
        </p:nvSpPr>
        <p:spPr>
          <a:xfrm>
            <a:off x="548640" y="2999232"/>
            <a:ext cx="11091672" cy="1298448"/>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77240" y="3319272"/>
            <a:ext cx="658368" cy="658368"/>
          </a:xfrm>
          <a:prstGeom prst="ellipse">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3337560"/>
            <a:ext cx="658368" cy="621792"/>
          </a:xfrm>
          <a:prstGeom prst="rect">
            <a:avLst/>
          </a:prstGeom>
          <a:noFill/>
        </p:spPr>
        <p:txBody>
          <a:bodyPr wrap="square" lIns="0" tIns="0" rIns="0" bIns="0" anchor="ctr">
            <a:spAutoFit/>
          </a:bodyPr>
          <a:lstStyle/>
          <a:p>
            <a:pPr algn="ctr">
              <a:lnSpc>
                <a:spcPct val="100000"/>
              </a:lnSpc>
              <a:spcBef>
                <a:spcPts val="0"/>
              </a:spcBef>
              <a:spcAft>
                <a:spcPts val="600"/>
              </a:spcAft>
            </a:pPr>
            <a:r>
              <a:rPr sz="1700" b="1" i="0">
                <a:solidFill>
                  <a:srgbClr val="FFFFFF"/>
                </a:solidFill>
                <a:latin typeface="Segoe UI Semibold"/>
              </a:rPr>
              <a:t>ii</a:t>
            </a:r>
          </a:p>
        </p:txBody>
      </p:sp>
      <p:sp>
        <p:nvSpPr>
          <p:cNvPr id="19" name="TextBox 18"/>
          <p:cNvSpPr txBox="1"/>
          <p:nvPr/>
        </p:nvSpPr>
        <p:spPr>
          <a:xfrm>
            <a:off x="1691640" y="3182112"/>
            <a:ext cx="9601200" cy="365760"/>
          </a:xfrm>
          <a:prstGeom prst="rect">
            <a:avLst/>
          </a:prstGeom>
          <a:noFill/>
        </p:spPr>
        <p:txBody>
          <a:bodyPr wrap="square" lIns="0" tIns="0" rIns="0" bIns="0" anchor="t">
            <a:spAutoFit/>
          </a:bodyPr>
          <a:lstStyle/>
          <a:p>
            <a:pPr algn="l">
              <a:lnSpc>
                <a:spcPct val="100000"/>
              </a:lnSpc>
              <a:spcBef>
                <a:spcPts val="0"/>
              </a:spcBef>
              <a:spcAft>
                <a:spcPts val="600"/>
              </a:spcAft>
            </a:pPr>
            <a:r>
              <a:rPr sz="1650" b="1" i="0">
                <a:solidFill>
                  <a:srgbClr val="0F2A47"/>
                </a:solidFill>
                <a:latin typeface="Segoe UI Semibold"/>
              </a:rPr>
              <a:t>To Future Students</a:t>
            </a:r>
          </a:p>
        </p:txBody>
      </p:sp>
      <p:sp>
        <p:nvSpPr>
          <p:cNvPr id="20" name="TextBox 19"/>
          <p:cNvSpPr txBox="1"/>
          <p:nvPr/>
        </p:nvSpPr>
        <p:spPr>
          <a:xfrm>
            <a:off x="1691640" y="3602736"/>
            <a:ext cx="9692640" cy="209032"/>
          </a:xfrm>
          <a:prstGeom prst="rect">
            <a:avLst/>
          </a:prstGeom>
          <a:noFill/>
        </p:spPr>
        <p:txBody>
          <a:bodyPr wrap="square" lIns="0" tIns="0" rIns="0" bIns="0" anchor="t">
            <a:spAutoFit/>
          </a:bodyPr>
          <a:lstStyle/>
          <a:p>
            <a:pPr algn="l">
              <a:lnSpc>
                <a:spcPct val="110000"/>
              </a:lnSpc>
              <a:spcBef>
                <a:spcPts val="0"/>
              </a:spcBef>
              <a:spcAft>
                <a:spcPts val="600"/>
              </a:spcAft>
            </a:pPr>
            <a:r>
              <a:rPr sz="1300" b="0" i="0" dirty="0">
                <a:solidFill>
                  <a:srgbClr val="5C6B7D"/>
                </a:solidFill>
                <a:latin typeface="Calibri"/>
              </a:rPr>
              <a:t>Be proactive</a:t>
            </a:r>
            <a:r>
              <a:rPr lang="en-US" sz="1300" b="0" i="0" dirty="0">
                <a:solidFill>
                  <a:srgbClr val="5C6B7D"/>
                </a:solidFill>
                <a:latin typeface="Calibri"/>
              </a:rPr>
              <a:t>, </a:t>
            </a:r>
            <a:r>
              <a:rPr sz="1300" b="0" i="0" dirty="0">
                <a:solidFill>
                  <a:srgbClr val="5C6B7D"/>
                </a:solidFill>
                <a:latin typeface="Calibri"/>
              </a:rPr>
              <a:t>ask questions and seek responsibilities beyond assigned tasks. This leads to broader exposure to different tools and workflows.</a:t>
            </a:r>
          </a:p>
        </p:txBody>
      </p:sp>
      <p:sp>
        <p:nvSpPr>
          <p:cNvPr id="21" name="Rectangle 20"/>
          <p:cNvSpPr/>
          <p:nvPr/>
        </p:nvSpPr>
        <p:spPr>
          <a:xfrm>
            <a:off x="548640" y="4443984"/>
            <a:ext cx="11091672" cy="1298448"/>
          </a:xfrm>
          <a:prstGeom prst="rect">
            <a:avLst/>
          </a:prstGeom>
          <a:solidFill>
            <a:srgbClr val="FFFFFF"/>
          </a:solidFill>
          <a:ln w="12700">
            <a:solidFill>
              <a:srgbClr val="D5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777240" y="4764024"/>
            <a:ext cx="658368" cy="658368"/>
          </a:xfrm>
          <a:prstGeom prst="ellipse">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77240" y="4782312"/>
            <a:ext cx="658368" cy="621792"/>
          </a:xfrm>
          <a:prstGeom prst="rect">
            <a:avLst/>
          </a:prstGeom>
          <a:noFill/>
        </p:spPr>
        <p:txBody>
          <a:bodyPr wrap="square" lIns="0" tIns="0" rIns="0" bIns="0" anchor="ctr">
            <a:spAutoFit/>
          </a:bodyPr>
          <a:lstStyle/>
          <a:p>
            <a:pPr algn="ctr">
              <a:lnSpc>
                <a:spcPct val="100000"/>
              </a:lnSpc>
              <a:spcBef>
                <a:spcPts val="0"/>
              </a:spcBef>
              <a:spcAft>
                <a:spcPts val="600"/>
              </a:spcAft>
            </a:pPr>
            <a:r>
              <a:rPr sz="1700" b="1" i="0">
                <a:solidFill>
                  <a:srgbClr val="FFFFFF"/>
                </a:solidFill>
                <a:latin typeface="Segoe UI Semibold"/>
              </a:rPr>
              <a:t>iii</a:t>
            </a:r>
          </a:p>
        </p:txBody>
      </p:sp>
      <p:sp>
        <p:nvSpPr>
          <p:cNvPr id="24" name="TextBox 23"/>
          <p:cNvSpPr txBox="1"/>
          <p:nvPr/>
        </p:nvSpPr>
        <p:spPr>
          <a:xfrm>
            <a:off x="1691640" y="4626864"/>
            <a:ext cx="9601200" cy="365760"/>
          </a:xfrm>
          <a:prstGeom prst="rect">
            <a:avLst/>
          </a:prstGeom>
          <a:noFill/>
        </p:spPr>
        <p:txBody>
          <a:bodyPr wrap="square" lIns="0" tIns="0" rIns="0" bIns="0" anchor="t">
            <a:spAutoFit/>
          </a:bodyPr>
          <a:lstStyle/>
          <a:p>
            <a:pPr algn="l">
              <a:lnSpc>
                <a:spcPct val="100000"/>
              </a:lnSpc>
              <a:spcBef>
                <a:spcPts val="0"/>
              </a:spcBef>
              <a:spcAft>
                <a:spcPts val="600"/>
              </a:spcAft>
            </a:pPr>
            <a:r>
              <a:rPr sz="1650" b="1" i="0">
                <a:solidFill>
                  <a:srgbClr val="0F2A47"/>
                </a:solidFill>
                <a:latin typeface="Segoe UI Semibold"/>
              </a:rPr>
              <a:t>On Flexible Work</a:t>
            </a:r>
          </a:p>
        </p:txBody>
      </p:sp>
      <p:sp>
        <p:nvSpPr>
          <p:cNvPr id="25" name="TextBox 24"/>
          <p:cNvSpPr txBox="1"/>
          <p:nvPr/>
        </p:nvSpPr>
        <p:spPr>
          <a:xfrm>
            <a:off x="1691640" y="5047488"/>
            <a:ext cx="9692640" cy="429092"/>
          </a:xfrm>
          <a:prstGeom prst="rect">
            <a:avLst/>
          </a:prstGeom>
          <a:noFill/>
        </p:spPr>
        <p:txBody>
          <a:bodyPr wrap="square" lIns="0" tIns="0" rIns="0" bIns="0" anchor="t">
            <a:spAutoFit/>
          </a:bodyPr>
          <a:lstStyle/>
          <a:p>
            <a:pPr algn="l">
              <a:lnSpc>
                <a:spcPct val="110000"/>
              </a:lnSpc>
              <a:spcBef>
                <a:spcPts val="0"/>
              </a:spcBef>
              <a:spcAft>
                <a:spcPts val="600"/>
              </a:spcAft>
            </a:pPr>
            <a:r>
              <a:rPr sz="1300" b="0" i="0" dirty="0">
                <a:solidFill>
                  <a:srgbClr val="5C6B7D"/>
                </a:solidFill>
                <a:latin typeface="Calibri"/>
              </a:rPr>
              <a:t>Embrace varied working arrangements remote days, client site visits, and after-hours maintenance give a far more realistic picture of IT industry life.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ight Triangle 2"/>
          <p:cNvSpPr/>
          <p:nvPr/>
        </p:nvSpPr>
        <p:spPr>
          <a:xfrm rot="10800000">
            <a:off x="-548640" y="5394960"/>
            <a:ext cx="2468880" cy="2011680"/>
          </a:xfrm>
          <a:prstGeom prst="rtTriangle">
            <a:avLst/>
          </a:prstGeom>
          <a:solidFill>
            <a:srgbClr val="2E6B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175504" y="3429000"/>
            <a:ext cx="1828800" cy="31750"/>
          </a:xfrm>
          <a:prstGeom prst="rect">
            <a:avLst/>
          </a:prstGeom>
          <a:solidFill>
            <a:srgbClr val="E8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423160"/>
            <a:ext cx="10360152" cy="1005840"/>
          </a:xfrm>
          <a:prstGeom prst="rect">
            <a:avLst/>
          </a:prstGeom>
          <a:noFill/>
        </p:spPr>
        <p:txBody>
          <a:bodyPr wrap="square" lIns="0" tIns="0" rIns="0" bIns="0" anchor="t">
            <a:spAutoFit/>
          </a:bodyPr>
          <a:lstStyle/>
          <a:p>
            <a:pPr algn="ctr">
              <a:lnSpc>
                <a:spcPct val="100000"/>
              </a:lnSpc>
              <a:spcBef>
                <a:spcPts val="0"/>
              </a:spcBef>
              <a:spcAft>
                <a:spcPts val="600"/>
              </a:spcAft>
            </a:pPr>
            <a:r>
              <a:rPr sz="5200" b="1" i="0">
                <a:solidFill>
                  <a:srgbClr val="FFFFFF"/>
                </a:solidFill>
                <a:latin typeface="Segoe UI Semibold"/>
              </a:rPr>
              <a:t>Thank You</a:t>
            </a:r>
          </a:p>
        </p:txBody>
      </p:sp>
      <p:sp>
        <p:nvSpPr>
          <p:cNvPr id="6" name="TextBox 5"/>
          <p:cNvSpPr txBox="1"/>
          <p:nvPr/>
        </p:nvSpPr>
        <p:spPr>
          <a:xfrm>
            <a:off x="914400" y="3657600"/>
            <a:ext cx="10360152" cy="548640"/>
          </a:xfrm>
          <a:prstGeom prst="rect">
            <a:avLst/>
          </a:prstGeom>
          <a:noFill/>
        </p:spPr>
        <p:txBody>
          <a:bodyPr wrap="square" lIns="0" tIns="0" rIns="0" bIns="0" anchor="t">
            <a:spAutoFit/>
          </a:bodyPr>
          <a:lstStyle/>
          <a:p>
            <a:pPr algn="ctr">
              <a:lnSpc>
                <a:spcPct val="100000"/>
              </a:lnSpc>
              <a:spcBef>
                <a:spcPts val="0"/>
              </a:spcBef>
              <a:spcAft>
                <a:spcPts val="600"/>
              </a:spcAft>
            </a:pPr>
            <a:r>
              <a:rPr sz="2000" b="0" i="0">
                <a:solidFill>
                  <a:srgbClr val="9FC1E6"/>
                </a:solidFill>
                <a:latin typeface="Calibri"/>
              </a:rPr>
              <a:t>Questions &amp; Discussion</a:t>
            </a:r>
          </a:p>
        </p:txBody>
      </p:sp>
      <p:sp>
        <p:nvSpPr>
          <p:cNvPr id="7" name="TextBox 6"/>
          <p:cNvSpPr txBox="1"/>
          <p:nvPr/>
        </p:nvSpPr>
        <p:spPr>
          <a:xfrm>
            <a:off x="914400" y="4846320"/>
            <a:ext cx="10360152" cy="914400"/>
          </a:xfrm>
          <a:prstGeom prst="rect">
            <a:avLst/>
          </a:prstGeom>
          <a:noFill/>
        </p:spPr>
        <p:txBody>
          <a:bodyPr wrap="square" lIns="0" tIns="0" rIns="0" bIns="0" anchor="t">
            <a:spAutoFit/>
          </a:bodyPr>
          <a:lstStyle/>
          <a:p>
            <a:pPr algn="ctr">
              <a:lnSpc>
                <a:spcPct val="100000"/>
              </a:lnSpc>
              <a:spcBef>
                <a:spcPts val="0"/>
              </a:spcBef>
              <a:spcAft>
                <a:spcPts val="400"/>
              </a:spcAft>
            </a:pPr>
            <a:r>
              <a:rPr sz="1400" b="1" i="0">
                <a:solidFill>
                  <a:srgbClr val="FFFFFF"/>
                </a:solidFill>
                <a:latin typeface="Calibri"/>
              </a:rPr>
              <a:t>Muhammad Arif Danial Bin Mohd Anuar  ·  2024933617</a:t>
            </a:r>
          </a:p>
          <a:p>
            <a:pPr algn="ctr">
              <a:lnSpc>
                <a:spcPct val="100000"/>
              </a:lnSpc>
              <a:spcBef>
                <a:spcPts val="0"/>
              </a:spcBef>
              <a:spcAft>
                <a:spcPts val="400"/>
              </a:spcAft>
            </a:pPr>
            <a:r>
              <a:rPr sz="1200" b="0" i="0">
                <a:solidFill>
                  <a:srgbClr val="8FA6BE"/>
                </a:solidFill>
                <a:latin typeface="Calibri"/>
              </a:rPr>
              <a:t>Practical Training at KYROL Security Labs Sdn. Bhd.  ·  Diploma in Computer Science (CDCS110)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591</TotalTime>
  <Words>2973</Words>
  <Application>Microsoft Office PowerPoint</Application>
  <PresentationFormat>Widescreen</PresentationFormat>
  <Paragraphs>321</Paragraphs>
  <Slides>22</Slides>
  <Notes>19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Arial</vt:lpstr>
      <vt:lpstr>Calibri</vt:lpstr>
      <vt:lpstr>Consolas</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MUHAMMAD ARIF DANIAL BIN MOHD ANUAR</cp:lastModifiedBy>
  <cp:revision>4</cp:revision>
  <dcterms:created xsi:type="dcterms:W3CDTF">2013-01-27T09:14:16Z</dcterms:created>
  <dcterms:modified xsi:type="dcterms:W3CDTF">2026-07-20T08:30:59Z</dcterms:modified>
  <cp:category/>
</cp:coreProperties>
</file>