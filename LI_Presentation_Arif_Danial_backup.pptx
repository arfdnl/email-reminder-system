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6269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My name is Muhammad Arif Danial. This is my practical training report presentation for my 24-week internship at KYROL Security Labs, where my main project was building an Automated Email Reminder System.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 start with a brief look at the company, then spend most of the time on my main project before covering my two other tasks and wrapping up with what I learned.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Practical training is a required part of the diploma. I completed my 24 weeks at KYROL Security Labs, an IT and cybersecurity firm in Cyberjaya, under the supervision of their system engineer.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KYROL Security Labs has been in the IT and cybersecurity industry for over a decade. The org chart on the right shows where I sat as an intern under the system engineering team.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problem was that client license renewals were tracked by hand, which is easy to get wrong. My system checks every client's expiry date daily and sends reminders at 30, 7, and 1 day before expiry, so nothing slips through.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had four objectives: remove human error, save staff time, keep client communication consistent, and make sure the system can scale as the client list grows.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is built in Python using pandas and smtplib. Everything is packaged in Docker so it runs identically in testing and production, and the server triggers it daily through Windows Task Scheduler over a secure SMTP connection.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followed a standard software development life cycle: planning and design, a Docker-based architecture, implementation in Python, thorough testing on mock data so no real client was emailed by accident, then deployment to the production server with logging for maintenance.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flowchart shows the exact runtime logic. It loads config and the workbook, validates the data, then loops through each client. It only sends on the 30, 7, or 1-day marks, skips anyone already emailed, and has a hard cap so a data mistake can never spam clients.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use case diagram has three actors: the admin maintains the data, the Task Scheduler runs the script automatically, and the mail relay is external. Sending an alert is an extend use case — it only happens when a run finds a matching client.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shows the physical setup. I develop and push to GitHub; the production server pulls the code, builds a Windows container, and runs it daily. Client data stays on the server's disk so it's still editable in Excel, and email goes out over TLS on port 587.</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code is organized into components. main.py is the orchestrator and the only module tying everything together. Each of the six supporting modules does one job with one clear interface, which keeps the program easy to test and maintain.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sequence diagram traces one daily run in time order. main.py loads the data and dedup log, loops over candidates, and for eligible clients calls the emailer, which retries on failure. It only records a client as sent if delivery succeeded, then writes a summary at the end.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only user-facing part is the email itself — a branded HTML template with placeholder tags filled in for each client at runtime: the product, the milestone, the expiry date, and the client's contact details from the spreadsheet. Every value is escaped so a stray character can't break the layout.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Task A, I rebuilt the Muzium Petaling Jaya website. The old one looked dated and didn't work on phones. I used Joomla with SP Page Builder and custom CSS to give it a clean, modern, fully responsive layout that staff can update themselves without coding.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Task B was graphic design. I designed corporate polo uniforms and festive greeting posters for Malaysian holidays, all keeping the company logo, colours, and tagline consistent. I mainly used Canva, including its AI tools, exporting each poster in banner and portrait versions.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 this training let me apply what I learned in the diploma to real work. My main project took me through the entire software development life cycle, and beyond it I was exposed to cybersecurity, systems administration, and design.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recommendations: the university could help more with securing placements; future students should be proactive and ask for extra responsibilities; and they should embrace flexible working arrangements, because that variety taught me the most.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That's the end of my presentation. Thank you for listening — I'm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rot="5400000">
            <a:off x="9966960" y="-182880"/>
            <a:ext cx="2468880" cy="2011680"/>
          </a:xfrm>
          <a:prstGeom prst="rtTriangle">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ight Triangle 3"/>
          <p:cNvSpPr/>
          <p:nvPr/>
        </p:nvSpPr>
        <p:spPr>
          <a:xfrm rot="5400000">
            <a:off x="10698480" y="-182880"/>
            <a:ext cx="1737360" cy="1371600"/>
          </a:xfrm>
          <a:prstGeom prst="rtTriangle">
            <a:avLst/>
          </a:prstGeom>
          <a:solidFill>
            <a:srgbClr val="2453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65960"/>
            <a:ext cx="10360152" cy="457200"/>
          </a:xfrm>
          <a:prstGeom prst="rect">
            <a:avLst/>
          </a:prstGeom>
          <a:noFill/>
        </p:spPr>
        <p:txBody>
          <a:bodyPr wrap="square" lIns="0" tIns="0" rIns="0" bIns="0" anchor="t">
            <a:spAutoFit/>
          </a:bodyPr>
          <a:lstStyle/>
          <a:p>
            <a:pPr algn="ctr">
              <a:lnSpc>
                <a:spcPct val="100000"/>
              </a:lnSpc>
              <a:spcBef>
                <a:spcPts val="0"/>
              </a:spcBef>
              <a:spcAft>
                <a:spcPts val="600"/>
              </a:spcAft>
            </a:pPr>
            <a:r>
              <a:rPr sz="1700" b="1" i="0" dirty="0">
                <a:solidFill>
                  <a:srgbClr val="9FC1E6"/>
                </a:solidFill>
                <a:latin typeface="Segoe UI"/>
              </a:rPr>
              <a:t>PRACTICAL TRAINING REPORT</a:t>
            </a:r>
          </a:p>
        </p:txBody>
      </p:sp>
      <p:sp>
        <p:nvSpPr>
          <p:cNvPr id="7" name="TextBox 6"/>
          <p:cNvSpPr txBox="1"/>
          <p:nvPr/>
        </p:nvSpPr>
        <p:spPr>
          <a:xfrm>
            <a:off x="731520" y="2395728"/>
            <a:ext cx="10725912" cy="1379865"/>
          </a:xfrm>
          <a:prstGeom prst="rect">
            <a:avLst/>
          </a:prstGeom>
          <a:noFill/>
        </p:spPr>
        <p:txBody>
          <a:bodyPr wrap="square" lIns="0" tIns="0" rIns="0" bIns="0" anchor="t">
            <a:spAutoFit/>
          </a:bodyPr>
          <a:lstStyle/>
          <a:p>
            <a:pPr algn="ctr">
              <a:lnSpc>
                <a:spcPct val="100000"/>
              </a:lnSpc>
              <a:spcBef>
                <a:spcPts val="0"/>
              </a:spcBef>
              <a:spcAft>
                <a:spcPts val="200"/>
              </a:spcAft>
            </a:pPr>
            <a:r>
              <a:rPr lang="en-US" sz="4400" b="1" i="0" dirty="0">
                <a:solidFill>
                  <a:srgbClr val="FFFFFF"/>
                </a:solidFill>
                <a:latin typeface="Segoe UI Semibold"/>
              </a:rPr>
              <a:t>Practical Training</a:t>
            </a:r>
          </a:p>
          <a:p>
            <a:pPr algn="ctr">
              <a:lnSpc>
                <a:spcPct val="100000"/>
              </a:lnSpc>
              <a:spcBef>
                <a:spcPts val="0"/>
              </a:spcBef>
              <a:spcAft>
                <a:spcPts val="200"/>
              </a:spcAft>
            </a:pPr>
            <a:r>
              <a:rPr lang="en-US" sz="4400" b="1" dirty="0">
                <a:solidFill>
                  <a:srgbClr val="FFFFFF"/>
                </a:solidFill>
                <a:latin typeface="Segoe UI Semibold"/>
              </a:rPr>
              <a:t>Presentation</a:t>
            </a:r>
            <a:endParaRPr sz="4400" b="1" i="0" dirty="0">
              <a:solidFill>
                <a:srgbClr val="FFFFFF"/>
              </a:solidFill>
              <a:latin typeface="Segoe UI Semibold"/>
            </a:endParaRPr>
          </a:p>
        </p:txBody>
      </p:sp>
      <p:sp>
        <p:nvSpPr>
          <p:cNvPr id="8" name="Rectangle 7"/>
          <p:cNvSpPr/>
          <p:nvPr/>
        </p:nvSpPr>
        <p:spPr>
          <a:xfrm>
            <a:off x="5175504" y="3913632"/>
            <a:ext cx="1828800" cy="3175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114800"/>
            <a:ext cx="10360152" cy="822960"/>
          </a:xfrm>
          <a:prstGeom prst="rect">
            <a:avLst/>
          </a:prstGeom>
          <a:noFill/>
        </p:spPr>
        <p:txBody>
          <a:bodyPr wrap="square" lIns="0" tIns="0" rIns="0" bIns="0" anchor="t">
            <a:spAutoFit/>
          </a:bodyPr>
          <a:lstStyle/>
          <a:p>
            <a:pPr algn="ctr">
              <a:lnSpc>
                <a:spcPct val="100000"/>
              </a:lnSpc>
              <a:spcBef>
                <a:spcPts val="0"/>
              </a:spcBef>
              <a:spcAft>
                <a:spcPts val="300"/>
              </a:spcAft>
            </a:pPr>
            <a:r>
              <a:rPr sz="1900" b="1" i="0">
                <a:solidFill>
                  <a:srgbClr val="FFFFFF"/>
                </a:solidFill>
                <a:latin typeface="Calibri"/>
              </a:rPr>
              <a:t>Muhammad Arif Danial Bin Mohd Anuar</a:t>
            </a:r>
          </a:p>
          <a:p>
            <a:pPr algn="ctr">
              <a:lnSpc>
                <a:spcPct val="100000"/>
              </a:lnSpc>
              <a:spcBef>
                <a:spcPts val="0"/>
              </a:spcBef>
              <a:spcAft>
                <a:spcPts val="300"/>
              </a:spcAft>
            </a:pPr>
            <a:r>
              <a:rPr sz="1500" b="0" i="0">
                <a:solidFill>
                  <a:srgbClr val="BFD2E8"/>
                </a:solidFill>
                <a:latin typeface="Calibri"/>
              </a:rPr>
              <a:t>2024933617</a:t>
            </a:r>
          </a:p>
        </p:txBody>
      </p:sp>
      <p:sp>
        <p:nvSpPr>
          <p:cNvPr id="10" name="TextBox 9"/>
          <p:cNvSpPr txBox="1"/>
          <p:nvPr/>
        </p:nvSpPr>
        <p:spPr>
          <a:xfrm>
            <a:off x="914400" y="5257800"/>
            <a:ext cx="10360152" cy="1188720"/>
          </a:xfrm>
          <a:prstGeom prst="rect">
            <a:avLst/>
          </a:prstGeom>
          <a:noFill/>
        </p:spPr>
        <p:txBody>
          <a:bodyPr wrap="square" lIns="0" tIns="0" rIns="0" bIns="0" anchor="t">
            <a:spAutoFit/>
          </a:bodyPr>
          <a:lstStyle/>
          <a:p>
            <a:pPr algn="ctr">
              <a:lnSpc>
                <a:spcPct val="100000"/>
              </a:lnSpc>
              <a:spcBef>
                <a:spcPts val="0"/>
              </a:spcBef>
              <a:spcAft>
                <a:spcPts val="400"/>
              </a:spcAft>
            </a:pPr>
            <a:r>
              <a:rPr sz="1300" b="0" i="0">
                <a:solidFill>
                  <a:srgbClr val="BFD2E8"/>
                </a:solidFill>
                <a:latin typeface="Calibri"/>
              </a:rPr>
              <a:t>KYROL Security Labs Sdn. Bhd.  ·  Cyberjaya, Selangor</a:t>
            </a:r>
          </a:p>
          <a:p>
            <a:pPr algn="ctr">
              <a:lnSpc>
                <a:spcPct val="100000"/>
              </a:lnSpc>
              <a:spcBef>
                <a:spcPts val="0"/>
              </a:spcBef>
              <a:spcAft>
                <a:spcPts val="400"/>
              </a:spcAft>
            </a:pPr>
            <a:r>
              <a:rPr sz="1300" b="0" i="0">
                <a:solidFill>
                  <a:srgbClr val="BFD2E8"/>
                </a:solidFill>
                <a:latin typeface="Calibri"/>
              </a:rPr>
              <a:t>Diploma in Computer Science (CDCS110)</a:t>
            </a:r>
          </a:p>
          <a:p>
            <a:pPr algn="ctr">
              <a:lnSpc>
                <a:spcPct val="100000"/>
              </a:lnSpc>
              <a:spcBef>
                <a:spcPts val="0"/>
              </a:spcBef>
              <a:spcAft>
                <a:spcPts val="400"/>
              </a:spcAft>
            </a:pPr>
            <a:r>
              <a:rPr sz="1200" b="0" i="0">
                <a:solidFill>
                  <a:srgbClr val="8FA6BE"/>
                </a:solidFill>
                <a:latin typeface="Calibri"/>
              </a:rPr>
              <a:t>College of Computing, Informatics &amp; Mathematics  ·  UiTM Malacca Branch</a:t>
            </a:r>
          </a:p>
        </p:txBody>
      </p:sp>
      <p:sp>
        <p:nvSpPr>
          <p:cNvPr id="12" name="TextBox 11">
            <a:extLst>
              <a:ext uri="{FF2B5EF4-FFF2-40B4-BE49-F238E27FC236}">
                <a16:creationId xmlns:a16="http://schemas.microsoft.com/office/drawing/2014/main" id="{E1851583-B32F-438D-C1C5-23CD34B14C94}"/>
              </a:ext>
            </a:extLst>
          </p:cNvPr>
          <p:cNvSpPr txBox="1"/>
          <p:nvPr/>
        </p:nvSpPr>
        <p:spPr>
          <a:xfrm>
            <a:off x="3063240" y="3038594"/>
            <a:ext cx="6126480" cy="369332"/>
          </a:xfrm>
          <a:prstGeom prst="rect">
            <a:avLst/>
          </a:prstGeom>
          <a:noFill/>
        </p:spPr>
        <p:txBody>
          <a:bodyPr wrap="square">
            <a:spAutoFit/>
          </a:bodyPr>
          <a:lstStyle/>
          <a:p>
            <a:endParaRPr lang="en-US" dirty="0"/>
          </a:p>
        </p:txBody>
      </p:sp>
      <p:pic>
        <p:nvPicPr>
          <p:cNvPr id="11" name="Picture 10">
            <a:extLst>
              <a:ext uri="{FF2B5EF4-FFF2-40B4-BE49-F238E27FC236}">
                <a16:creationId xmlns:a16="http://schemas.microsoft.com/office/drawing/2014/main" id="{A27A4A95-778A-6C6A-C48A-25EDF0C765DC}"/>
              </a:ext>
            </a:extLst>
          </p:cNvPr>
          <p:cNvPicPr>
            <a:picLocks noChangeAspect="1"/>
          </p:cNvPicPr>
          <p:nvPr/>
        </p:nvPicPr>
        <p:blipFill>
          <a:blip r:embed="rId3"/>
          <a:stretch>
            <a:fillRect/>
          </a:stretch>
        </p:blipFill>
        <p:spPr>
          <a:xfrm>
            <a:off x="3755136" y="739412"/>
            <a:ext cx="2157974" cy="739298"/>
          </a:xfrm>
          <a:prstGeom prst="rect">
            <a:avLst/>
          </a:prstGeom>
        </p:spPr>
      </p:pic>
      <p:pic>
        <p:nvPicPr>
          <p:cNvPr id="14" name="Picture 13">
            <a:extLst>
              <a:ext uri="{FF2B5EF4-FFF2-40B4-BE49-F238E27FC236}">
                <a16:creationId xmlns:a16="http://schemas.microsoft.com/office/drawing/2014/main" id="{54F6CCCD-4CF4-F7E4-B8CD-5CE84654F828}"/>
              </a:ext>
            </a:extLst>
          </p:cNvPr>
          <p:cNvPicPr>
            <a:picLocks noChangeAspect="1"/>
          </p:cNvPicPr>
          <p:nvPr/>
        </p:nvPicPr>
        <p:blipFill>
          <a:blip r:embed="rId4"/>
          <a:stretch>
            <a:fillRect/>
          </a:stretch>
        </p:blipFill>
        <p:spPr>
          <a:xfrm>
            <a:off x="6278892" y="781111"/>
            <a:ext cx="1850124" cy="7334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OVERVIEW</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Presentation Outline</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548640" y="1481328"/>
            <a:ext cx="3611880" cy="14813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1481328"/>
            <a:ext cx="82296" cy="1481328"/>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1627632"/>
            <a:ext cx="1280160" cy="54864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E2E9F1"/>
                </a:solidFill>
                <a:latin typeface="Segoe UI Semibold"/>
              </a:rPr>
              <a:t>01</a:t>
            </a:r>
          </a:p>
        </p:txBody>
      </p:sp>
      <p:sp>
        <p:nvSpPr>
          <p:cNvPr id="14" name="TextBox 13"/>
          <p:cNvSpPr txBox="1"/>
          <p:nvPr/>
        </p:nvSpPr>
        <p:spPr>
          <a:xfrm>
            <a:off x="804672" y="2084832"/>
            <a:ext cx="315468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The Organization</a:t>
            </a:r>
          </a:p>
        </p:txBody>
      </p:sp>
      <p:sp>
        <p:nvSpPr>
          <p:cNvPr id="15" name="TextBox 14"/>
          <p:cNvSpPr txBox="1"/>
          <p:nvPr/>
        </p:nvSpPr>
        <p:spPr>
          <a:xfrm>
            <a:off x="804672" y="2450592"/>
            <a:ext cx="3154680" cy="457200"/>
          </a:xfrm>
          <a:prstGeom prst="rect">
            <a:avLst/>
          </a:prstGeom>
          <a:noFill/>
        </p:spPr>
        <p:txBody>
          <a:bodyPr wrap="square" lIns="0" tIns="0" rIns="0" bIns="0" anchor="t">
            <a:spAutoFit/>
          </a:bodyPr>
          <a:lstStyle/>
          <a:p>
            <a:pPr algn="l">
              <a:lnSpc>
                <a:spcPct val="100000"/>
              </a:lnSpc>
              <a:spcBef>
                <a:spcPts val="0"/>
              </a:spcBef>
              <a:spcAft>
                <a:spcPts val="600"/>
              </a:spcAft>
            </a:pPr>
            <a:r>
              <a:rPr sz="1200" b="0" i="0">
                <a:solidFill>
                  <a:srgbClr val="5C6B7D"/>
                </a:solidFill>
                <a:latin typeface="Calibri"/>
              </a:rPr>
              <a:t>KYROL Security Labs Sdn. Bhd.</a:t>
            </a:r>
          </a:p>
        </p:txBody>
      </p:sp>
      <p:sp>
        <p:nvSpPr>
          <p:cNvPr id="16" name="Rectangle 15"/>
          <p:cNvSpPr/>
          <p:nvPr/>
        </p:nvSpPr>
        <p:spPr>
          <a:xfrm>
            <a:off x="4334256" y="1481328"/>
            <a:ext cx="3611880" cy="14813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34256" y="1481328"/>
            <a:ext cx="82296" cy="1481328"/>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90288" y="1627632"/>
            <a:ext cx="1280160" cy="54864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E2E9F1"/>
                </a:solidFill>
                <a:latin typeface="Segoe UI Semibold"/>
              </a:rPr>
              <a:t>02</a:t>
            </a:r>
          </a:p>
        </p:txBody>
      </p:sp>
      <p:sp>
        <p:nvSpPr>
          <p:cNvPr id="19" name="TextBox 18"/>
          <p:cNvSpPr txBox="1"/>
          <p:nvPr/>
        </p:nvSpPr>
        <p:spPr>
          <a:xfrm>
            <a:off x="4590288" y="2084832"/>
            <a:ext cx="315468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Main Project</a:t>
            </a:r>
          </a:p>
        </p:txBody>
      </p:sp>
      <p:sp>
        <p:nvSpPr>
          <p:cNvPr id="20" name="TextBox 19"/>
          <p:cNvSpPr txBox="1"/>
          <p:nvPr/>
        </p:nvSpPr>
        <p:spPr>
          <a:xfrm>
            <a:off x="4590288" y="2450592"/>
            <a:ext cx="3154680" cy="457200"/>
          </a:xfrm>
          <a:prstGeom prst="rect">
            <a:avLst/>
          </a:prstGeom>
          <a:noFill/>
        </p:spPr>
        <p:txBody>
          <a:bodyPr wrap="square" lIns="0" tIns="0" rIns="0" bIns="0" anchor="t">
            <a:spAutoFit/>
          </a:bodyPr>
          <a:lstStyle/>
          <a:p>
            <a:pPr algn="l">
              <a:lnSpc>
                <a:spcPct val="100000"/>
              </a:lnSpc>
              <a:spcBef>
                <a:spcPts val="0"/>
              </a:spcBef>
              <a:spcAft>
                <a:spcPts val="600"/>
              </a:spcAft>
            </a:pPr>
            <a:r>
              <a:rPr sz="1200" b="0" i="0" dirty="0">
                <a:solidFill>
                  <a:srgbClr val="5C6B7D"/>
                </a:solidFill>
                <a:latin typeface="Calibri"/>
              </a:rPr>
              <a:t>Automated Email Reminder System</a:t>
            </a:r>
          </a:p>
        </p:txBody>
      </p:sp>
      <p:sp>
        <p:nvSpPr>
          <p:cNvPr id="21" name="Rectangle 20"/>
          <p:cNvSpPr/>
          <p:nvPr/>
        </p:nvSpPr>
        <p:spPr>
          <a:xfrm>
            <a:off x="8119872" y="1481328"/>
            <a:ext cx="3611880" cy="14813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19872" y="1481328"/>
            <a:ext cx="82296" cy="1481328"/>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75904" y="1627632"/>
            <a:ext cx="1280160" cy="54864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E2E9F1"/>
                </a:solidFill>
                <a:latin typeface="Segoe UI Semibold"/>
              </a:rPr>
              <a:t>03</a:t>
            </a:r>
          </a:p>
        </p:txBody>
      </p:sp>
      <p:sp>
        <p:nvSpPr>
          <p:cNvPr id="24" name="TextBox 23"/>
          <p:cNvSpPr txBox="1"/>
          <p:nvPr/>
        </p:nvSpPr>
        <p:spPr>
          <a:xfrm>
            <a:off x="8375904" y="2084832"/>
            <a:ext cx="315468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System Design</a:t>
            </a:r>
          </a:p>
        </p:txBody>
      </p:sp>
      <p:sp>
        <p:nvSpPr>
          <p:cNvPr id="25" name="TextBox 24"/>
          <p:cNvSpPr txBox="1"/>
          <p:nvPr/>
        </p:nvSpPr>
        <p:spPr>
          <a:xfrm>
            <a:off x="8375904" y="2450592"/>
            <a:ext cx="3154680" cy="457200"/>
          </a:xfrm>
          <a:prstGeom prst="rect">
            <a:avLst/>
          </a:prstGeom>
          <a:noFill/>
        </p:spPr>
        <p:txBody>
          <a:bodyPr wrap="square" lIns="0" tIns="0" rIns="0" bIns="0" anchor="t">
            <a:spAutoFit/>
          </a:bodyPr>
          <a:lstStyle/>
          <a:p>
            <a:pPr algn="l">
              <a:lnSpc>
                <a:spcPct val="100000"/>
              </a:lnSpc>
              <a:spcBef>
                <a:spcPts val="0"/>
              </a:spcBef>
              <a:spcAft>
                <a:spcPts val="600"/>
              </a:spcAft>
            </a:pPr>
            <a:r>
              <a:rPr sz="1200" b="0" i="0">
                <a:solidFill>
                  <a:srgbClr val="5C6B7D"/>
                </a:solidFill>
                <a:latin typeface="Calibri"/>
              </a:rPr>
              <a:t>SDLC &amp; five UML diagrams</a:t>
            </a:r>
          </a:p>
        </p:txBody>
      </p:sp>
      <p:sp>
        <p:nvSpPr>
          <p:cNvPr id="26" name="Rectangle 25"/>
          <p:cNvSpPr/>
          <p:nvPr/>
        </p:nvSpPr>
        <p:spPr>
          <a:xfrm>
            <a:off x="548640" y="3163824"/>
            <a:ext cx="3611880" cy="14813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3163824"/>
            <a:ext cx="82296" cy="1481328"/>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4672" y="3310128"/>
            <a:ext cx="1280160" cy="54864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E2E9F1"/>
                </a:solidFill>
                <a:latin typeface="Segoe UI Semibold"/>
              </a:rPr>
              <a:t>04</a:t>
            </a:r>
          </a:p>
        </p:txBody>
      </p:sp>
      <p:sp>
        <p:nvSpPr>
          <p:cNvPr id="29" name="TextBox 28"/>
          <p:cNvSpPr txBox="1"/>
          <p:nvPr/>
        </p:nvSpPr>
        <p:spPr>
          <a:xfrm>
            <a:off x="804672" y="3767328"/>
            <a:ext cx="315468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Project Interface</a:t>
            </a:r>
          </a:p>
        </p:txBody>
      </p:sp>
      <p:sp>
        <p:nvSpPr>
          <p:cNvPr id="30" name="TextBox 29"/>
          <p:cNvSpPr txBox="1"/>
          <p:nvPr/>
        </p:nvSpPr>
        <p:spPr>
          <a:xfrm>
            <a:off x="804672" y="4133088"/>
            <a:ext cx="3154680" cy="457200"/>
          </a:xfrm>
          <a:prstGeom prst="rect">
            <a:avLst/>
          </a:prstGeom>
          <a:noFill/>
        </p:spPr>
        <p:txBody>
          <a:bodyPr wrap="square" lIns="0" tIns="0" rIns="0" bIns="0" anchor="t">
            <a:spAutoFit/>
          </a:bodyPr>
          <a:lstStyle/>
          <a:p>
            <a:pPr algn="l">
              <a:lnSpc>
                <a:spcPct val="100000"/>
              </a:lnSpc>
              <a:spcBef>
                <a:spcPts val="0"/>
              </a:spcBef>
              <a:spcAft>
                <a:spcPts val="600"/>
              </a:spcAft>
            </a:pPr>
            <a:r>
              <a:rPr sz="1200" b="0" i="0">
                <a:solidFill>
                  <a:srgbClr val="5C6B7D"/>
                </a:solidFill>
                <a:latin typeface="Calibri"/>
              </a:rPr>
              <a:t>Dynamic HTML email template</a:t>
            </a:r>
          </a:p>
        </p:txBody>
      </p:sp>
      <p:sp>
        <p:nvSpPr>
          <p:cNvPr id="31" name="Rectangle 30"/>
          <p:cNvSpPr/>
          <p:nvPr/>
        </p:nvSpPr>
        <p:spPr>
          <a:xfrm>
            <a:off x="4334256" y="3163824"/>
            <a:ext cx="3611880" cy="14813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334256" y="3163824"/>
            <a:ext cx="82296" cy="1481328"/>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90288" y="3310128"/>
            <a:ext cx="1280160" cy="54864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E2E9F1"/>
                </a:solidFill>
                <a:latin typeface="Segoe UI Semibold"/>
              </a:rPr>
              <a:t>05</a:t>
            </a:r>
          </a:p>
        </p:txBody>
      </p:sp>
      <p:sp>
        <p:nvSpPr>
          <p:cNvPr id="34" name="TextBox 33"/>
          <p:cNvSpPr txBox="1"/>
          <p:nvPr/>
        </p:nvSpPr>
        <p:spPr>
          <a:xfrm>
            <a:off x="4590288" y="3767328"/>
            <a:ext cx="315468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Other Tasks</a:t>
            </a:r>
          </a:p>
        </p:txBody>
      </p:sp>
      <p:sp>
        <p:nvSpPr>
          <p:cNvPr id="35" name="TextBox 34"/>
          <p:cNvSpPr txBox="1"/>
          <p:nvPr/>
        </p:nvSpPr>
        <p:spPr>
          <a:xfrm>
            <a:off x="4590288" y="4133088"/>
            <a:ext cx="3154680" cy="457200"/>
          </a:xfrm>
          <a:prstGeom prst="rect">
            <a:avLst/>
          </a:prstGeom>
          <a:noFill/>
        </p:spPr>
        <p:txBody>
          <a:bodyPr wrap="square" lIns="0" tIns="0" rIns="0" bIns="0" anchor="t">
            <a:spAutoFit/>
          </a:bodyPr>
          <a:lstStyle/>
          <a:p>
            <a:pPr algn="l">
              <a:lnSpc>
                <a:spcPct val="100000"/>
              </a:lnSpc>
              <a:spcBef>
                <a:spcPts val="0"/>
              </a:spcBef>
              <a:spcAft>
                <a:spcPts val="600"/>
              </a:spcAft>
            </a:pPr>
            <a:r>
              <a:rPr sz="1200" b="0" i="0" dirty="0">
                <a:solidFill>
                  <a:srgbClr val="5C6B7D"/>
                </a:solidFill>
                <a:latin typeface="Calibri"/>
              </a:rPr>
              <a:t>Joomla revamp &amp; graphic design</a:t>
            </a:r>
          </a:p>
        </p:txBody>
      </p:sp>
      <p:sp>
        <p:nvSpPr>
          <p:cNvPr id="36" name="Rectangle 35"/>
          <p:cNvSpPr/>
          <p:nvPr/>
        </p:nvSpPr>
        <p:spPr>
          <a:xfrm>
            <a:off x="8119872" y="3163824"/>
            <a:ext cx="3611880" cy="14813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119872" y="3163824"/>
            <a:ext cx="82296" cy="1481328"/>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75904" y="3310128"/>
            <a:ext cx="1280160" cy="54864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E2E9F1"/>
                </a:solidFill>
                <a:latin typeface="Segoe UI Semibold"/>
              </a:rPr>
              <a:t>06</a:t>
            </a:r>
          </a:p>
        </p:txBody>
      </p:sp>
      <p:sp>
        <p:nvSpPr>
          <p:cNvPr id="39" name="TextBox 38"/>
          <p:cNvSpPr txBox="1"/>
          <p:nvPr/>
        </p:nvSpPr>
        <p:spPr>
          <a:xfrm>
            <a:off x="8375904" y="3767328"/>
            <a:ext cx="315468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Conclusion</a:t>
            </a:r>
          </a:p>
        </p:txBody>
      </p:sp>
      <p:sp>
        <p:nvSpPr>
          <p:cNvPr id="40" name="TextBox 39"/>
          <p:cNvSpPr txBox="1"/>
          <p:nvPr/>
        </p:nvSpPr>
        <p:spPr>
          <a:xfrm>
            <a:off x="8375904" y="4133088"/>
            <a:ext cx="3154680" cy="457200"/>
          </a:xfrm>
          <a:prstGeom prst="rect">
            <a:avLst/>
          </a:prstGeom>
          <a:noFill/>
        </p:spPr>
        <p:txBody>
          <a:bodyPr wrap="square" lIns="0" tIns="0" rIns="0" bIns="0" anchor="t">
            <a:spAutoFit/>
          </a:bodyPr>
          <a:lstStyle/>
          <a:p>
            <a:pPr algn="l">
              <a:lnSpc>
                <a:spcPct val="100000"/>
              </a:lnSpc>
              <a:spcBef>
                <a:spcPts val="0"/>
              </a:spcBef>
              <a:spcAft>
                <a:spcPts val="600"/>
              </a:spcAft>
            </a:pPr>
            <a:r>
              <a:rPr sz="1200" b="0" i="0">
                <a:solidFill>
                  <a:srgbClr val="5C6B7D"/>
                </a:solidFill>
                <a:latin typeface="Calibri"/>
              </a:rPr>
              <a:t>Outcomes &amp; 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1</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Introduction to Practical Training</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TextBox 10"/>
          <p:cNvSpPr txBox="1"/>
          <p:nvPr/>
        </p:nvSpPr>
        <p:spPr>
          <a:xfrm>
            <a:off x="548640" y="1463040"/>
            <a:ext cx="5852160" cy="457200"/>
          </a:xfrm>
          <a:prstGeom prst="rect">
            <a:avLst/>
          </a:prstGeom>
          <a:noFill/>
        </p:spPr>
        <p:txBody>
          <a:bodyPr wrap="square" lIns="0" tIns="0" rIns="0" bIns="0" anchor="t">
            <a:spAutoFit/>
          </a:bodyPr>
          <a:lstStyle/>
          <a:p>
            <a:pPr algn="l">
              <a:lnSpc>
                <a:spcPct val="112000"/>
              </a:lnSpc>
              <a:spcBef>
                <a:spcPts val="0"/>
              </a:spcBef>
              <a:spcAft>
                <a:spcPts val="600"/>
              </a:spcAft>
            </a:pPr>
            <a:r>
              <a:rPr sz="1500" b="0" i="0">
                <a:solidFill>
                  <a:srgbClr val="1E2A36"/>
                </a:solidFill>
                <a:latin typeface="Calibri"/>
              </a:rPr>
              <a:t>Practical training is a compulsory 24-week course in the Diploma of Computer Science, giving students real working experience under professional supervision.</a:t>
            </a:r>
          </a:p>
        </p:txBody>
      </p:sp>
      <p:sp>
        <p:nvSpPr>
          <p:cNvPr id="12" name="TextBox 11"/>
          <p:cNvSpPr txBox="1"/>
          <p:nvPr/>
        </p:nvSpPr>
        <p:spPr>
          <a:xfrm>
            <a:off x="548640" y="2788920"/>
            <a:ext cx="5852160" cy="365760"/>
          </a:xfrm>
          <a:prstGeom prst="rect">
            <a:avLst/>
          </a:prstGeom>
          <a:noFill/>
        </p:spPr>
        <p:txBody>
          <a:bodyPr wrap="square" lIns="0" tIns="0" rIns="0" bIns="0" anchor="t">
            <a:spAutoFit/>
          </a:bodyPr>
          <a:lstStyle/>
          <a:p>
            <a:pPr algn="l">
              <a:lnSpc>
                <a:spcPct val="100000"/>
              </a:lnSpc>
              <a:spcBef>
                <a:spcPts val="0"/>
              </a:spcBef>
              <a:spcAft>
                <a:spcPts val="600"/>
              </a:spcAft>
            </a:pPr>
            <a:r>
              <a:rPr sz="1300" b="1" i="0">
                <a:solidFill>
                  <a:srgbClr val="2E6BB0"/>
                </a:solidFill>
                <a:latin typeface="Segoe UI"/>
              </a:rPr>
              <a:t>OBJECTIVES OF THE TRAINING</a:t>
            </a:r>
          </a:p>
        </p:txBody>
      </p:sp>
      <p:sp>
        <p:nvSpPr>
          <p:cNvPr id="13" name="TextBox 12"/>
          <p:cNvSpPr txBox="1"/>
          <p:nvPr/>
        </p:nvSpPr>
        <p:spPr>
          <a:xfrm>
            <a:off x="548640" y="3200400"/>
            <a:ext cx="5852160" cy="2926080"/>
          </a:xfrm>
          <a:prstGeom prst="rect">
            <a:avLst/>
          </a:prstGeom>
          <a:noFill/>
        </p:spPr>
        <p:txBody>
          <a:bodyPr wrap="square" lIns="0" tIns="0" rIns="0" bIns="0">
            <a:spAutoFit/>
          </a:bodyPr>
          <a:lstStyle/>
          <a:p>
            <a:pPr marL="274320" indent="-237744">
              <a:lnSpc>
                <a:spcPct val="105000"/>
              </a:lnSpc>
              <a:spcBef>
                <a:spcPts val="0"/>
              </a:spcBef>
              <a:spcAft>
                <a:spcPts val="1200"/>
              </a:spcAft>
            </a:pPr>
            <a:r>
              <a:rPr sz="1500" b="1">
                <a:solidFill>
                  <a:srgbClr val="E8821E"/>
                </a:solidFill>
                <a:latin typeface="Calibri"/>
              </a:rPr>
              <a:t>▸  </a:t>
            </a:r>
            <a:r>
              <a:rPr sz="1500" b="0">
                <a:solidFill>
                  <a:srgbClr val="1E2A36"/>
                </a:solidFill>
                <a:latin typeface="Calibri"/>
              </a:rPr>
              <a:t>Build students' confidence after graduation</a:t>
            </a:r>
          </a:p>
          <a:p>
            <a:pPr marL="274320" indent="-237744">
              <a:lnSpc>
                <a:spcPct val="105000"/>
              </a:lnSpc>
              <a:spcBef>
                <a:spcPts val="0"/>
              </a:spcBef>
              <a:spcAft>
                <a:spcPts val="1200"/>
              </a:spcAft>
            </a:pPr>
            <a:r>
              <a:rPr sz="1500" b="1">
                <a:solidFill>
                  <a:srgbClr val="E8821E"/>
                </a:solidFill>
                <a:latin typeface="Calibri"/>
              </a:rPr>
              <a:t>▸  </a:t>
            </a:r>
            <a:r>
              <a:rPr sz="1500" b="0">
                <a:solidFill>
                  <a:srgbClr val="1E2A36"/>
                </a:solidFill>
                <a:latin typeface="Calibri"/>
              </a:rPr>
              <a:t>Improve both soft skills and hard skills</a:t>
            </a:r>
          </a:p>
          <a:p>
            <a:pPr marL="274320" indent="-237744">
              <a:lnSpc>
                <a:spcPct val="105000"/>
              </a:lnSpc>
              <a:spcBef>
                <a:spcPts val="0"/>
              </a:spcBef>
              <a:spcAft>
                <a:spcPts val="1200"/>
              </a:spcAft>
            </a:pPr>
            <a:r>
              <a:rPr sz="1500" b="1">
                <a:solidFill>
                  <a:srgbClr val="E8821E"/>
                </a:solidFill>
                <a:latin typeface="Calibri"/>
              </a:rPr>
              <a:t>▸  </a:t>
            </a:r>
            <a:r>
              <a:rPr sz="1500" b="0">
                <a:solidFill>
                  <a:srgbClr val="1E2A36"/>
                </a:solidFill>
                <a:latin typeface="Calibri"/>
              </a:rPr>
              <a:t>Strengthen communication and management skills</a:t>
            </a:r>
          </a:p>
          <a:p>
            <a:pPr marL="274320" indent="-237744">
              <a:lnSpc>
                <a:spcPct val="105000"/>
              </a:lnSpc>
              <a:spcBef>
                <a:spcPts val="0"/>
              </a:spcBef>
              <a:spcAft>
                <a:spcPts val="1200"/>
              </a:spcAft>
            </a:pPr>
            <a:r>
              <a:rPr sz="1500" b="1">
                <a:solidFill>
                  <a:srgbClr val="E8821E"/>
                </a:solidFill>
                <a:latin typeface="Calibri"/>
              </a:rPr>
              <a:t>▸  </a:t>
            </a:r>
            <a:r>
              <a:rPr sz="1500" b="0">
                <a:solidFill>
                  <a:srgbClr val="1E2A36"/>
                </a:solidFill>
                <a:latin typeface="Calibri"/>
              </a:rPr>
              <a:t>Expose students to the real working environment</a:t>
            </a:r>
          </a:p>
        </p:txBody>
      </p:sp>
      <p:sp>
        <p:nvSpPr>
          <p:cNvPr id="14" name="Rectangle 13"/>
          <p:cNvSpPr/>
          <p:nvPr/>
        </p:nvSpPr>
        <p:spPr>
          <a:xfrm>
            <a:off x="6720840" y="1463040"/>
            <a:ext cx="4937760" cy="44805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720840" y="1463040"/>
            <a:ext cx="4937760" cy="82296"/>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86600" y="1783080"/>
            <a:ext cx="4297680" cy="457200"/>
          </a:xfrm>
          <a:prstGeom prst="rect">
            <a:avLst/>
          </a:prstGeom>
          <a:noFill/>
        </p:spPr>
        <p:txBody>
          <a:bodyPr wrap="square" lIns="0" tIns="0" rIns="0" bIns="0" anchor="t">
            <a:spAutoFit/>
          </a:bodyPr>
          <a:lstStyle/>
          <a:p>
            <a:pPr algn="l">
              <a:lnSpc>
                <a:spcPct val="100000"/>
              </a:lnSpc>
              <a:spcBef>
                <a:spcPts val="0"/>
              </a:spcBef>
              <a:spcAft>
                <a:spcPts val="600"/>
              </a:spcAft>
            </a:pPr>
            <a:r>
              <a:rPr sz="1300" b="1" i="0">
                <a:solidFill>
                  <a:srgbClr val="9FC1E6"/>
                </a:solidFill>
                <a:latin typeface="Segoe UI"/>
              </a:rPr>
              <a:t>MY PLACEMENT</a:t>
            </a:r>
          </a:p>
        </p:txBody>
      </p:sp>
      <p:sp>
        <p:nvSpPr>
          <p:cNvPr id="17" name="TextBox 16"/>
          <p:cNvSpPr txBox="1"/>
          <p:nvPr/>
        </p:nvSpPr>
        <p:spPr>
          <a:xfrm>
            <a:off x="7086600" y="2286000"/>
            <a:ext cx="4297680" cy="274320"/>
          </a:xfrm>
          <a:prstGeom prst="rect">
            <a:avLst/>
          </a:prstGeom>
          <a:noFill/>
        </p:spPr>
        <p:txBody>
          <a:bodyPr wrap="square" lIns="0" tIns="0" rIns="0" bIns="0" anchor="t">
            <a:spAutoFit/>
          </a:bodyPr>
          <a:lstStyle/>
          <a:p>
            <a:pPr algn="l">
              <a:lnSpc>
                <a:spcPct val="100000"/>
              </a:lnSpc>
              <a:spcBef>
                <a:spcPts val="0"/>
              </a:spcBef>
              <a:spcAft>
                <a:spcPts val="600"/>
              </a:spcAft>
            </a:pPr>
            <a:r>
              <a:rPr sz="1050" b="1" i="0">
                <a:solidFill>
                  <a:srgbClr val="8FA6BE"/>
                </a:solidFill>
                <a:latin typeface="Calibri"/>
              </a:rPr>
              <a:t>COMPANY</a:t>
            </a:r>
          </a:p>
        </p:txBody>
      </p:sp>
      <p:sp>
        <p:nvSpPr>
          <p:cNvPr id="18" name="TextBox 17"/>
          <p:cNvSpPr txBox="1"/>
          <p:nvPr/>
        </p:nvSpPr>
        <p:spPr>
          <a:xfrm>
            <a:off x="7086600" y="2505456"/>
            <a:ext cx="4297680" cy="365760"/>
          </a:xfrm>
          <a:prstGeom prst="rect">
            <a:avLst/>
          </a:prstGeom>
          <a:noFill/>
        </p:spPr>
        <p:txBody>
          <a:bodyPr wrap="square" lIns="0" tIns="0" rIns="0" bIns="0" anchor="t">
            <a:spAutoFit/>
          </a:bodyPr>
          <a:lstStyle/>
          <a:p>
            <a:pPr algn="l">
              <a:lnSpc>
                <a:spcPct val="100000"/>
              </a:lnSpc>
              <a:spcBef>
                <a:spcPts val="0"/>
              </a:spcBef>
              <a:spcAft>
                <a:spcPts val="600"/>
              </a:spcAft>
            </a:pPr>
            <a:r>
              <a:rPr sz="1450" b="1" i="0">
                <a:solidFill>
                  <a:srgbClr val="FFFFFF"/>
                </a:solidFill>
                <a:latin typeface="Calibri"/>
              </a:rPr>
              <a:t>KYROL Security Labs Sdn. Bhd.</a:t>
            </a:r>
          </a:p>
        </p:txBody>
      </p:sp>
      <p:sp>
        <p:nvSpPr>
          <p:cNvPr id="19" name="TextBox 18"/>
          <p:cNvSpPr txBox="1"/>
          <p:nvPr/>
        </p:nvSpPr>
        <p:spPr>
          <a:xfrm>
            <a:off x="7086600" y="2999232"/>
            <a:ext cx="4297680" cy="274320"/>
          </a:xfrm>
          <a:prstGeom prst="rect">
            <a:avLst/>
          </a:prstGeom>
          <a:noFill/>
        </p:spPr>
        <p:txBody>
          <a:bodyPr wrap="square" lIns="0" tIns="0" rIns="0" bIns="0" anchor="t">
            <a:spAutoFit/>
          </a:bodyPr>
          <a:lstStyle/>
          <a:p>
            <a:pPr algn="l">
              <a:lnSpc>
                <a:spcPct val="100000"/>
              </a:lnSpc>
              <a:spcBef>
                <a:spcPts val="0"/>
              </a:spcBef>
              <a:spcAft>
                <a:spcPts val="600"/>
              </a:spcAft>
            </a:pPr>
            <a:r>
              <a:rPr sz="1050" b="1" i="0">
                <a:solidFill>
                  <a:srgbClr val="8FA6BE"/>
                </a:solidFill>
                <a:latin typeface="Calibri"/>
              </a:rPr>
              <a:t>FIELD</a:t>
            </a:r>
          </a:p>
        </p:txBody>
      </p:sp>
      <p:sp>
        <p:nvSpPr>
          <p:cNvPr id="20" name="TextBox 19"/>
          <p:cNvSpPr txBox="1"/>
          <p:nvPr/>
        </p:nvSpPr>
        <p:spPr>
          <a:xfrm>
            <a:off x="7086600" y="3218688"/>
            <a:ext cx="4297680" cy="365760"/>
          </a:xfrm>
          <a:prstGeom prst="rect">
            <a:avLst/>
          </a:prstGeom>
          <a:noFill/>
        </p:spPr>
        <p:txBody>
          <a:bodyPr wrap="square" lIns="0" tIns="0" rIns="0" bIns="0" anchor="t">
            <a:spAutoFit/>
          </a:bodyPr>
          <a:lstStyle/>
          <a:p>
            <a:pPr algn="l">
              <a:lnSpc>
                <a:spcPct val="100000"/>
              </a:lnSpc>
              <a:spcBef>
                <a:spcPts val="0"/>
              </a:spcBef>
              <a:spcAft>
                <a:spcPts val="600"/>
              </a:spcAft>
            </a:pPr>
            <a:r>
              <a:rPr sz="1450" b="1" i="0">
                <a:solidFill>
                  <a:srgbClr val="FFFFFF"/>
                </a:solidFill>
                <a:latin typeface="Calibri"/>
              </a:rPr>
              <a:t>IT Solutions &amp; Cybersecurity</a:t>
            </a:r>
          </a:p>
        </p:txBody>
      </p:sp>
      <p:sp>
        <p:nvSpPr>
          <p:cNvPr id="21" name="TextBox 20"/>
          <p:cNvSpPr txBox="1"/>
          <p:nvPr/>
        </p:nvSpPr>
        <p:spPr>
          <a:xfrm>
            <a:off x="7086600" y="3712464"/>
            <a:ext cx="4297680" cy="274320"/>
          </a:xfrm>
          <a:prstGeom prst="rect">
            <a:avLst/>
          </a:prstGeom>
          <a:noFill/>
        </p:spPr>
        <p:txBody>
          <a:bodyPr wrap="square" lIns="0" tIns="0" rIns="0" bIns="0" anchor="t">
            <a:spAutoFit/>
          </a:bodyPr>
          <a:lstStyle/>
          <a:p>
            <a:pPr algn="l">
              <a:lnSpc>
                <a:spcPct val="100000"/>
              </a:lnSpc>
              <a:spcBef>
                <a:spcPts val="0"/>
              </a:spcBef>
              <a:spcAft>
                <a:spcPts val="600"/>
              </a:spcAft>
            </a:pPr>
            <a:r>
              <a:rPr sz="1050" b="1" i="0">
                <a:solidFill>
                  <a:srgbClr val="8FA6BE"/>
                </a:solidFill>
                <a:latin typeface="Calibri"/>
              </a:rPr>
              <a:t>LOCATION</a:t>
            </a:r>
          </a:p>
        </p:txBody>
      </p:sp>
      <p:sp>
        <p:nvSpPr>
          <p:cNvPr id="22" name="TextBox 21"/>
          <p:cNvSpPr txBox="1"/>
          <p:nvPr/>
        </p:nvSpPr>
        <p:spPr>
          <a:xfrm>
            <a:off x="7086600" y="3931920"/>
            <a:ext cx="4297680" cy="365760"/>
          </a:xfrm>
          <a:prstGeom prst="rect">
            <a:avLst/>
          </a:prstGeom>
          <a:noFill/>
        </p:spPr>
        <p:txBody>
          <a:bodyPr wrap="square" lIns="0" tIns="0" rIns="0" bIns="0" anchor="t">
            <a:spAutoFit/>
          </a:bodyPr>
          <a:lstStyle/>
          <a:p>
            <a:pPr algn="l">
              <a:lnSpc>
                <a:spcPct val="100000"/>
              </a:lnSpc>
              <a:spcBef>
                <a:spcPts val="0"/>
              </a:spcBef>
              <a:spcAft>
                <a:spcPts val="600"/>
              </a:spcAft>
            </a:pPr>
            <a:r>
              <a:rPr sz="1450" b="1" i="0">
                <a:solidFill>
                  <a:srgbClr val="FFFFFF"/>
                </a:solidFill>
                <a:latin typeface="Calibri"/>
              </a:rPr>
              <a:t>Cyberjaya, Selangor</a:t>
            </a:r>
          </a:p>
        </p:txBody>
      </p:sp>
      <p:sp>
        <p:nvSpPr>
          <p:cNvPr id="23" name="TextBox 22"/>
          <p:cNvSpPr txBox="1"/>
          <p:nvPr/>
        </p:nvSpPr>
        <p:spPr>
          <a:xfrm>
            <a:off x="7086600" y="4425696"/>
            <a:ext cx="4297680" cy="274320"/>
          </a:xfrm>
          <a:prstGeom prst="rect">
            <a:avLst/>
          </a:prstGeom>
          <a:noFill/>
        </p:spPr>
        <p:txBody>
          <a:bodyPr wrap="square" lIns="0" tIns="0" rIns="0" bIns="0" anchor="t">
            <a:spAutoFit/>
          </a:bodyPr>
          <a:lstStyle/>
          <a:p>
            <a:pPr algn="l">
              <a:lnSpc>
                <a:spcPct val="100000"/>
              </a:lnSpc>
              <a:spcBef>
                <a:spcPts val="0"/>
              </a:spcBef>
              <a:spcAft>
                <a:spcPts val="600"/>
              </a:spcAft>
            </a:pPr>
            <a:r>
              <a:rPr sz="1050" b="1" i="0">
                <a:solidFill>
                  <a:srgbClr val="8FA6BE"/>
                </a:solidFill>
                <a:latin typeface="Calibri"/>
              </a:rPr>
              <a:t>DURATION</a:t>
            </a:r>
          </a:p>
        </p:txBody>
      </p:sp>
      <p:sp>
        <p:nvSpPr>
          <p:cNvPr id="24" name="TextBox 23"/>
          <p:cNvSpPr txBox="1"/>
          <p:nvPr/>
        </p:nvSpPr>
        <p:spPr>
          <a:xfrm>
            <a:off x="7086600" y="4645152"/>
            <a:ext cx="4297680" cy="365760"/>
          </a:xfrm>
          <a:prstGeom prst="rect">
            <a:avLst/>
          </a:prstGeom>
          <a:noFill/>
        </p:spPr>
        <p:txBody>
          <a:bodyPr wrap="square" lIns="0" tIns="0" rIns="0" bIns="0" anchor="t">
            <a:spAutoFit/>
          </a:bodyPr>
          <a:lstStyle/>
          <a:p>
            <a:pPr algn="l">
              <a:lnSpc>
                <a:spcPct val="100000"/>
              </a:lnSpc>
              <a:spcBef>
                <a:spcPts val="0"/>
              </a:spcBef>
              <a:spcAft>
                <a:spcPts val="600"/>
              </a:spcAft>
            </a:pPr>
            <a:r>
              <a:rPr sz="1450" b="1" i="0">
                <a:solidFill>
                  <a:srgbClr val="FFFFFF"/>
                </a:solidFill>
                <a:latin typeface="Calibri"/>
              </a:rPr>
              <a:t>24 weeks</a:t>
            </a:r>
          </a:p>
        </p:txBody>
      </p:sp>
      <p:sp>
        <p:nvSpPr>
          <p:cNvPr id="25" name="TextBox 24"/>
          <p:cNvSpPr txBox="1"/>
          <p:nvPr/>
        </p:nvSpPr>
        <p:spPr>
          <a:xfrm>
            <a:off x="7086600" y="5138928"/>
            <a:ext cx="4297680" cy="274320"/>
          </a:xfrm>
          <a:prstGeom prst="rect">
            <a:avLst/>
          </a:prstGeom>
          <a:noFill/>
        </p:spPr>
        <p:txBody>
          <a:bodyPr wrap="square" lIns="0" tIns="0" rIns="0" bIns="0" anchor="t">
            <a:spAutoFit/>
          </a:bodyPr>
          <a:lstStyle/>
          <a:p>
            <a:pPr algn="l">
              <a:lnSpc>
                <a:spcPct val="100000"/>
              </a:lnSpc>
              <a:spcBef>
                <a:spcPts val="0"/>
              </a:spcBef>
              <a:spcAft>
                <a:spcPts val="600"/>
              </a:spcAft>
            </a:pPr>
            <a:r>
              <a:rPr sz="1050" b="1" i="0">
                <a:solidFill>
                  <a:srgbClr val="8FA6BE"/>
                </a:solidFill>
                <a:latin typeface="Calibri"/>
              </a:rPr>
              <a:t>SUPERVISOR</a:t>
            </a:r>
          </a:p>
        </p:txBody>
      </p:sp>
      <p:sp>
        <p:nvSpPr>
          <p:cNvPr id="26" name="TextBox 25"/>
          <p:cNvSpPr txBox="1"/>
          <p:nvPr/>
        </p:nvSpPr>
        <p:spPr>
          <a:xfrm>
            <a:off x="7086600" y="5358384"/>
            <a:ext cx="4297680" cy="365760"/>
          </a:xfrm>
          <a:prstGeom prst="rect">
            <a:avLst/>
          </a:prstGeom>
          <a:noFill/>
        </p:spPr>
        <p:txBody>
          <a:bodyPr wrap="square" lIns="0" tIns="0" rIns="0" bIns="0" anchor="t">
            <a:spAutoFit/>
          </a:bodyPr>
          <a:lstStyle/>
          <a:p>
            <a:pPr algn="l">
              <a:lnSpc>
                <a:spcPct val="100000"/>
              </a:lnSpc>
              <a:spcBef>
                <a:spcPts val="0"/>
              </a:spcBef>
              <a:spcAft>
                <a:spcPts val="600"/>
              </a:spcAft>
            </a:pPr>
            <a:r>
              <a:rPr sz="1450" b="1" i="0">
                <a:solidFill>
                  <a:srgbClr val="FFFFFF"/>
                </a:solidFill>
                <a:latin typeface="Calibri"/>
              </a:rPr>
              <a:t>Iskhandar Shah Mohammad Yunus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2</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About the Organization</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TextBox 10"/>
          <p:cNvSpPr txBox="1"/>
          <p:nvPr/>
        </p:nvSpPr>
        <p:spPr>
          <a:xfrm>
            <a:off x="548640" y="1417320"/>
            <a:ext cx="6583680" cy="411480"/>
          </a:xfrm>
          <a:prstGeom prst="rect">
            <a:avLst/>
          </a:prstGeom>
          <a:noFill/>
        </p:spPr>
        <p:txBody>
          <a:bodyPr wrap="square" lIns="0" tIns="0" rIns="0" bIns="0" anchor="t">
            <a:spAutoFit/>
          </a:bodyPr>
          <a:lstStyle/>
          <a:p>
            <a:pPr algn="l">
              <a:lnSpc>
                <a:spcPct val="100000"/>
              </a:lnSpc>
              <a:spcBef>
                <a:spcPts val="0"/>
              </a:spcBef>
              <a:spcAft>
                <a:spcPts val="600"/>
              </a:spcAft>
            </a:pPr>
            <a:r>
              <a:rPr sz="2000" b="1" i="0">
                <a:solidFill>
                  <a:srgbClr val="0F2A47"/>
                </a:solidFill>
                <a:latin typeface="Segoe UI Semibold"/>
              </a:rPr>
              <a:t>KYROL Security Labs Sdn. Bhd.</a:t>
            </a:r>
          </a:p>
        </p:txBody>
      </p:sp>
      <p:sp>
        <p:nvSpPr>
          <p:cNvPr id="12" name="TextBox 11"/>
          <p:cNvSpPr txBox="1"/>
          <p:nvPr/>
        </p:nvSpPr>
        <p:spPr>
          <a:xfrm>
            <a:off x="548640" y="1874519"/>
            <a:ext cx="6583680" cy="697114"/>
          </a:xfrm>
          <a:prstGeom prst="rect">
            <a:avLst/>
          </a:prstGeom>
          <a:noFill/>
        </p:spPr>
        <p:txBody>
          <a:bodyPr wrap="square" lIns="0" tIns="0" rIns="0" bIns="0" anchor="t">
            <a:spAutoFit/>
          </a:bodyPr>
          <a:lstStyle/>
          <a:p>
            <a:pPr algn="l">
              <a:lnSpc>
                <a:spcPct val="114000"/>
              </a:lnSpc>
              <a:spcBef>
                <a:spcPts val="0"/>
              </a:spcBef>
              <a:spcAft>
                <a:spcPts val="600"/>
              </a:spcAft>
            </a:pPr>
            <a:r>
              <a:rPr sz="1350" b="0" i="0" dirty="0">
                <a:solidFill>
                  <a:srgbClr val="1E2A36"/>
                </a:solidFill>
                <a:latin typeface="Calibri"/>
              </a:rPr>
              <a:t>An established IT solutions provider and cybersecurity advisory firm in Cyberjaya, with over a decade of industry presence</a:t>
            </a:r>
            <a:r>
              <a:rPr lang="en-US" sz="1350" b="0" i="0" dirty="0">
                <a:solidFill>
                  <a:srgbClr val="1E2A36"/>
                </a:solidFill>
                <a:latin typeface="Calibri"/>
              </a:rPr>
              <a:t>, </a:t>
            </a:r>
            <a:r>
              <a:rPr sz="1350" b="0" i="0" dirty="0">
                <a:solidFill>
                  <a:srgbClr val="1E2A36"/>
                </a:solidFill>
                <a:latin typeface="Calibri"/>
              </a:rPr>
              <a:t>delivering IT infrastructure deployment, systems integration, and proactive network </a:t>
            </a:r>
            <a:r>
              <a:rPr sz="1350" b="0" i="0" dirty="0" err="1">
                <a:solidFill>
                  <a:srgbClr val="1E2A36"/>
                </a:solidFill>
                <a:latin typeface="Calibri"/>
              </a:rPr>
              <a:t>defence</a:t>
            </a:r>
            <a:r>
              <a:rPr sz="1350" b="0" i="0" dirty="0">
                <a:solidFill>
                  <a:srgbClr val="1E2A36"/>
                </a:solidFill>
                <a:latin typeface="Calibri"/>
              </a:rPr>
              <a:t> across single-site, multi-site, and multinational scales.</a:t>
            </a:r>
          </a:p>
        </p:txBody>
      </p:sp>
      <p:sp>
        <p:nvSpPr>
          <p:cNvPr id="13" name="Rectangle 12"/>
          <p:cNvSpPr/>
          <p:nvPr/>
        </p:nvSpPr>
        <p:spPr>
          <a:xfrm>
            <a:off x="548640" y="3383280"/>
            <a:ext cx="6583680" cy="107899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383280"/>
            <a:ext cx="82296" cy="1078992"/>
          </a:xfrm>
          <a:prstGeom prst="rect">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502152"/>
            <a:ext cx="6126480" cy="27432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VISION</a:t>
            </a:r>
          </a:p>
        </p:txBody>
      </p:sp>
      <p:sp>
        <p:nvSpPr>
          <p:cNvPr id="16" name="TextBox 15"/>
          <p:cNvSpPr txBox="1"/>
          <p:nvPr/>
        </p:nvSpPr>
        <p:spPr>
          <a:xfrm>
            <a:off x="777240" y="3785616"/>
            <a:ext cx="6126480" cy="640080"/>
          </a:xfrm>
          <a:prstGeom prst="rect">
            <a:avLst/>
          </a:prstGeom>
          <a:noFill/>
        </p:spPr>
        <p:txBody>
          <a:bodyPr wrap="square" lIns="0" tIns="0" rIns="0" bIns="0" anchor="t">
            <a:spAutoFit/>
          </a:bodyPr>
          <a:lstStyle/>
          <a:p>
            <a:pPr algn="l">
              <a:lnSpc>
                <a:spcPct val="108000"/>
              </a:lnSpc>
              <a:spcBef>
                <a:spcPts val="0"/>
              </a:spcBef>
              <a:spcAft>
                <a:spcPts val="600"/>
              </a:spcAft>
            </a:pPr>
            <a:r>
              <a:rPr sz="1250" b="0" i="0">
                <a:solidFill>
                  <a:srgbClr val="1E2A36"/>
                </a:solidFill>
                <a:latin typeface="Calibri"/>
              </a:rPr>
              <a:t>To be the trusted partner of choice in exceptional IT and cybersecurity solutions.</a:t>
            </a:r>
          </a:p>
        </p:txBody>
      </p:sp>
      <p:sp>
        <p:nvSpPr>
          <p:cNvPr id="17" name="Rectangle 16"/>
          <p:cNvSpPr/>
          <p:nvPr/>
        </p:nvSpPr>
        <p:spPr>
          <a:xfrm>
            <a:off x="548640" y="4590288"/>
            <a:ext cx="6583680" cy="107899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4590288"/>
            <a:ext cx="82296" cy="1078992"/>
          </a:xfrm>
          <a:prstGeom prst="rect">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709160"/>
            <a:ext cx="6126480" cy="27432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MISSION</a:t>
            </a:r>
          </a:p>
        </p:txBody>
      </p:sp>
      <p:sp>
        <p:nvSpPr>
          <p:cNvPr id="20" name="TextBox 19"/>
          <p:cNvSpPr txBox="1"/>
          <p:nvPr/>
        </p:nvSpPr>
        <p:spPr>
          <a:xfrm>
            <a:off x="777240" y="4992624"/>
            <a:ext cx="6126480" cy="640080"/>
          </a:xfrm>
          <a:prstGeom prst="rect">
            <a:avLst/>
          </a:prstGeom>
          <a:noFill/>
        </p:spPr>
        <p:txBody>
          <a:bodyPr wrap="square" lIns="0" tIns="0" rIns="0" bIns="0" anchor="t">
            <a:spAutoFit/>
          </a:bodyPr>
          <a:lstStyle/>
          <a:p>
            <a:pPr algn="l">
              <a:lnSpc>
                <a:spcPct val="108000"/>
              </a:lnSpc>
              <a:spcBef>
                <a:spcPts val="0"/>
              </a:spcBef>
              <a:spcAft>
                <a:spcPts val="600"/>
              </a:spcAft>
            </a:pPr>
            <a:r>
              <a:rPr sz="1250" b="0" i="0">
                <a:solidFill>
                  <a:srgbClr val="1E2A36"/>
                </a:solidFill>
                <a:latin typeface="Calibri"/>
              </a:rPr>
              <a:t>To enhance customers' competitive positioning with state-of-the-art security solutions, built on integrity, teamwork, and continuous innovation.</a:t>
            </a:r>
          </a:p>
        </p:txBody>
      </p:sp>
      <p:sp>
        <p:nvSpPr>
          <p:cNvPr id="21" name="Rectangle 20"/>
          <p:cNvSpPr/>
          <p:nvPr/>
        </p:nvSpPr>
        <p:spPr>
          <a:xfrm>
            <a:off x="8061816" y="1380744"/>
            <a:ext cx="2987328" cy="446227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fig21_orgchart.png"/>
          <p:cNvPicPr>
            <a:picLocks noChangeAspect="1"/>
          </p:cNvPicPr>
          <p:nvPr/>
        </p:nvPicPr>
        <p:blipFill>
          <a:blip r:embed="rId3"/>
          <a:stretch>
            <a:fillRect/>
          </a:stretch>
        </p:blipFill>
        <p:spPr>
          <a:xfrm>
            <a:off x="8144112" y="1463040"/>
            <a:ext cx="2822736" cy="4297680"/>
          </a:xfrm>
          <a:prstGeom prst="rect">
            <a:avLst/>
          </a:prstGeom>
          <a:ln w="9525">
            <a:solidFill>
              <a:srgbClr val="D5DEE8"/>
            </a:solidFill>
          </a:ln>
        </p:spPr>
      </p:pic>
      <p:sp>
        <p:nvSpPr>
          <p:cNvPr id="23" name="TextBox 22"/>
          <p:cNvSpPr txBox="1"/>
          <p:nvPr/>
        </p:nvSpPr>
        <p:spPr>
          <a:xfrm>
            <a:off x="7452360" y="5884164"/>
            <a:ext cx="4206240" cy="320040"/>
          </a:xfrm>
          <a:prstGeom prst="rect">
            <a:avLst/>
          </a:prstGeom>
          <a:noFill/>
        </p:spPr>
        <p:txBody>
          <a:bodyPr wrap="square" lIns="0" tIns="0" rIns="0" bIns="0" anchor="t">
            <a:spAutoFit/>
          </a:bodyPr>
          <a:lstStyle/>
          <a:p>
            <a:pPr algn="ctr">
              <a:lnSpc>
                <a:spcPct val="100000"/>
              </a:lnSpc>
              <a:spcBef>
                <a:spcPts val="0"/>
              </a:spcBef>
              <a:spcAft>
                <a:spcPts val="600"/>
              </a:spcAft>
            </a:pPr>
            <a:r>
              <a:rPr sz="1050" b="0" i="1" dirty="0">
                <a:solidFill>
                  <a:srgbClr val="5C6B7D"/>
                </a:solidFill>
                <a:latin typeface="Calibri"/>
              </a:rPr>
              <a:t>Figure 2.1: Organizational Chart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92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MAIN PROJECT</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dirty="0">
                <a:solidFill>
                  <a:srgbClr val="FFFFFF"/>
                </a:solidFill>
                <a:latin typeface="Segoe UI Semibold"/>
              </a:rPr>
              <a:t>The Problem &amp; The Solution</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548640" y="1463040"/>
            <a:ext cx="539496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1463040"/>
            <a:ext cx="5394960" cy="566928"/>
          </a:xfrm>
          <a:prstGeom prst="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1554480"/>
            <a:ext cx="5029200" cy="384048"/>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FFFFFF"/>
                </a:solidFill>
                <a:latin typeface="Segoe UI"/>
              </a:rPr>
              <a:t>THE PROBLEM</a:t>
            </a:r>
          </a:p>
        </p:txBody>
      </p:sp>
      <p:sp>
        <p:nvSpPr>
          <p:cNvPr id="14" name="TextBox 13"/>
          <p:cNvSpPr txBox="1"/>
          <p:nvPr/>
        </p:nvSpPr>
        <p:spPr>
          <a:xfrm>
            <a:off x="777240" y="2286000"/>
            <a:ext cx="4937760" cy="3383280"/>
          </a:xfrm>
          <a:prstGeom prst="rect">
            <a:avLst/>
          </a:prstGeom>
          <a:noFill/>
        </p:spPr>
        <p:txBody>
          <a:bodyPr wrap="square" lIns="0" tIns="0" rIns="0" bIns="0">
            <a:spAutoFit/>
          </a:bodyPr>
          <a:lstStyle/>
          <a:p>
            <a:pPr marL="274320" indent="-237744">
              <a:lnSpc>
                <a:spcPct val="105000"/>
              </a:lnSpc>
              <a:spcBef>
                <a:spcPts val="0"/>
              </a:spcBef>
              <a:spcAft>
                <a:spcPts val="1600"/>
              </a:spcAft>
            </a:pPr>
            <a:r>
              <a:rPr sz="1450" b="1">
                <a:solidFill>
                  <a:srgbClr val="B02A2A"/>
                </a:solidFill>
                <a:latin typeface="Calibri"/>
              </a:rPr>
              <a:t>▸  </a:t>
            </a:r>
            <a:r>
              <a:rPr sz="1450" b="0">
                <a:solidFill>
                  <a:srgbClr val="1E2A36"/>
                </a:solidFill>
                <a:latin typeface="Calibri"/>
              </a:rPr>
              <a:t>Client renewals &amp; expiry dates tracked manually</a:t>
            </a:r>
          </a:p>
          <a:p>
            <a:pPr marL="274320" indent="-237744">
              <a:lnSpc>
                <a:spcPct val="105000"/>
              </a:lnSpc>
              <a:spcBef>
                <a:spcPts val="0"/>
              </a:spcBef>
              <a:spcAft>
                <a:spcPts val="1600"/>
              </a:spcAft>
            </a:pPr>
            <a:r>
              <a:rPr sz="1450" b="1">
                <a:solidFill>
                  <a:srgbClr val="B02A2A"/>
                </a:solidFill>
                <a:latin typeface="Calibri"/>
              </a:rPr>
              <a:t>▸  </a:t>
            </a:r>
            <a:r>
              <a:rPr sz="1450" b="0">
                <a:solidFill>
                  <a:srgbClr val="1E2A36"/>
                </a:solidFill>
                <a:latin typeface="Calibri"/>
              </a:rPr>
              <a:t>Manual tracking is prone to human error</a:t>
            </a:r>
          </a:p>
          <a:p>
            <a:pPr marL="274320" indent="-237744">
              <a:lnSpc>
                <a:spcPct val="105000"/>
              </a:lnSpc>
              <a:spcBef>
                <a:spcPts val="0"/>
              </a:spcBef>
              <a:spcAft>
                <a:spcPts val="1600"/>
              </a:spcAft>
            </a:pPr>
            <a:r>
              <a:rPr sz="1450" b="1">
                <a:solidFill>
                  <a:srgbClr val="B02A2A"/>
                </a:solidFill>
                <a:latin typeface="Calibri"/>
              </a:rPr>
              <a:t>▸  </a:t>
            </a:r>
            <a:r>
              <a:rPr sz="1450" b="0">
                <a:solidFill>
                  <a:srgbClr val="1E2A36"/>
                </a:solidFill>
                <a:latin typeface="Calibri"/>
              </a:rPr>
              <a:t>Missed notifications lead to lapsed licenses</a:t>
            </a:r>
          </a:p>
          <a:p>
            <a:pPr marL="274320" indent="-237744">
              <a:lnSpc>
                <a:spcPct val="105000"/>
              </a:lnSpc>
              <a:spcBef>
                <a:spcPts val="0"/>
              </a:spcBef>
              <a:spcAft>
                <a:spcPts val="1600"/>
              </a:spcAft>
            </a:pPr>
            <a:r>
              <a:rPr sz="1450" b="1">
                <a:solidFill>
                  <a:srgbClr val="B02A2A"/>
                </a:solidFill>
                <a:latin typeface="Calibri"/>
              </a:rPr>
              <a:t>▸  </a:t>
            </a:r>
            <a:r>
              <a:rPr sz="1450" b="0">
                <a:solidFill>
                  <a:srgbClr val="1E2A36"/>
                </a:solidFill>
                <a:latin typeface="Calibri"/>
              </a:rPr>
              <a:t>Repetitive scheduling wastes staff time</a:t>
            </a:r>
          </a:p>
        </p:txBody>
      </p:sp>
      <p:sp>
        <p:nvSpPr>
          <p:cNvPr id="15" name="Rectangle 14"/>
          <p:cNvSpPr/>
          <p:nvPr/>
        </p:nvSpPr>
        <p:spPr>
          <a:xfrm>
            <a:off x="6263640" y="1463040"/>
            <a:ext cx="5394960" cy="443484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1463040"/>
            <a:ext cx="5394960" cy="566928"/>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1554480"/>
            <a:ext cx="5029200" cy="384048"/>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FFFFFF"/>
                </a:solidFill>
                <a:latin typeface="Segoe UI"/>
              </a:rPr>
              <a:t>THE SOLUTION</a:t>
            </a:r>
          </a:p>
        </p:txBody>
      </p:sp>
      <p:sp>
        <p:nvSpPr>
          <p:cNvPr id="18" name="TextBox 17"/>
          <p:cNvSpPr txBox="1"/>
          <p:nvPr/>
        </p:nvSpPr>
        <p:spPr>
          <a:xfrm>
            <a:off x="6492240" y="2240280"/>
            <a:ext cx="4937760" cy="822960"/>
          </a:xfrm>
          <a:prstGeom prst="rect">
            <a:avLst/>
          </a:prstGeom>
          <a:noFill/>
        </p:spPr>
        <p:txBody>
          <a:bodyPr wrap="square" lIns="0" tIns="0" rIns="0" bIns="0" anchor="t">
            <a:spAutoFit/>
          </a:bodyPr>
          <a:lstStyle/>
          <a:p>
            <a:pPr algn="l">
              <a:lnSpc>
                <a:spcPct val="110000"/>
              </a:lnSpc>
              <a:spcBef>
                <a:spcPts val="0"/>
              </a:spcBef>
              <a:spcAft>
                <a:spcPts val="600"/>
              </a:spcAft>
            </a:pPr>
            <a:r>
              <a:rPr sz="1350" b="0" i="0">
                <a:solidFill>
                  <a:srgbClr val="E6EDF4"/>
                </a:solidFill>
                <a:latin typeface="Calibri"/>
              </a:rPr>
              <a:t>An automated system that tracks client timelines and dispatches renewal alerts at three critical milestones:</a:t>
            </a:r>
          </a:p>
        </p:txBody>
      </p:sp>
      <p:sp>
        <p:nvSpPr>
          <p:cNvPr id="19" name="Rectangle 18"/>
          <p:cNvSpPr/>
          <p:nvPr/>
        </p:nvSpPr>
        <p:spPr>
          <a:xfrm>
            <a:off x="6492240" y="3246120"/>
            <a:ext cx="1572768" cy="1234440"/>
          </a:xfrm>
          <a:prstGeom prst="rect">
            <a:avLst/>
          </a:prstGeom>
          <a:solidFill>
            <a:srgbClr val="143354"/>
          </a:solidFill>
          <a:ln w="12700">
            <a:solidFill>
              <a:srgbClr val="2E4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3429000"/>
            <a:ext cx="1572768" cy="548640"/>
          </a:xfrm>
          <a:prstGeom prst="rect">
            <a:avLst/>
          </a:prstGeom>
          <a:noFill/>
        </p:spPr>
        <p:txBody>
          <a:bodyPr wrap="square" lIns="0" tIns="0" rIns="0" bIns="0" anchor="t">
            <a:spAutoFit/>
          </a:bodyPr>
          <a:lstStyle/>
          <a:p>
            <a:pPr algn="ctr">
              <a:lnSpc>
                <a:spcPct val="100000"/>
              </a:lnSpc>
              <a:spcBef>
                <a:spcPts val="0"/>
              </a:spcBef>
              <a:spcAft>
                <a:spcPts val="600"/>
              </a:spcAft>
            </a:pPr>
            <a:r>
              <a:rPr sz="2700" b="1" i="0">
                <a:solidFill>
                  <a:srgbClr val="E8821E"/>
                </a:solidFill>
                <a:latin typeface="Segoe UI Semibold"/>
              </a:rPr>
              <a:t>D-30</a:t>
            </a:r>
          </a:p>
        </p:txBody>
      </p:sp>
      <p:sp>
        <p:nvSpPr>
          <p:cNvPr id="21" name="TextBox 20"/>
          <p:cNvSpPr txBox="1"/>
          <p:nvPr/>
        </p:nvSpPr>
        <p:spPr>
          <a:xfrm>
            <a:off x="6492240" y="4041648"/>
            <a:ext cx="1572768" cy="365760"/>
          </a:xfrm>
          <a:prstGeom prst="rect">
            <a:avLst/>
          </a:prstGeom>
          <a:noFill/>
        </p:spPr>
        <p:txBody>
          <a:bodyPr wrap="square" lIns="0" tIns="0" rIns="0" bIns="0" anchor="t">
            <a:spAutoFit/>
          </a:bodyPr>
          <a:lstStyle/>
          <a:p>
            <a:pPr algn="ctr">
              <a:lnSpc>
                <a:spcPct val="100000"/>
              </a:lnSpc>
              <a:spcBef>
                <a:spcPts val="0"/>
              </a:spcBef>
              <a:spcAft>
                <a:spcPts val="600"/>
              </a:spcAft>
            </a:pPr>
            <a:r>
              <a:rPr sz="1150" b="0" i="0">
                <a:solidFill>
                  <a:srgbClr val="C9D4DF"/>
                </a:solidFill>
                <a:latin typeface="Calibri"/>
              </a:rPr>
              <a:t>Early warning</a:t>
            </a:r>
          </a:p>
        </p:txBody>
      </p:sp>
      <p:sp>
        <p:nvSpPr>
          <p:cNvPr id="22" name="Rectangle 21"/>
          <p:cNvSpPr/>
          <p:nvPr/>
        </p:nvSpPr>
        <p:spPr>
          <a:xfrm>
            <a:off x="8193024" y="3246120"/>
            <a:ext cx="1572768" cy="1234440"/>
          </a:xfrm>
          <a:prstGeom prst="rect">
            <a:avLst/>
          </a:prstGeom>
          <a:solidFill>
            <a:srgbClr val="143354"/>
          </a:solidFill>
          <a:ln w="12700">
            <a:solidFill>
              <a:srgbClr val="2E4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93024" y="3429000"/>
            <a:ext cx="1572768" cy="548640"/>
          </a:xfrm>
          <a:prstGeom prst="rect">
            <a:avLst/>
          </a:prstGeom>
          <a:noFill/>
        </p:spPr>
        <p:txBody>
          <a:bodyPr wrap="square" lIns="0" tIns="0" rIns="0" bIns="0" anchor="t">
            <a:spAutoFit/>
          </a:bodyPr>
          <a:lstStyle/>
          <a:p>
            <a:pPr algn="ctr">
              <a:lnSpc>
                <a:spcPct val="100000"/>
              </a:lnSpc>
              <a:spcBef>
                <a:spcPts val="0"/>
              </a:spcBef>
              <a:spcAft>
                <a:spcPts val="600"/>
              </a:spcAft>
            </a:pPr>
            <a:r>
              <a:rPr sz="2700" b="1" i="0">
                <a:solidFill>
                  <a:srgbClr val="E8821E"/>
                </a:solidFill>
                <a:latin typeface="Segoe UI Semibold"/>
              </a:rPr>
              <a:t>D-7</a:t>
            </a:r>
          </a:p>
        </p:txBody>
      </p:sp>
      <p:sp>
        <p:nvSpPr>
          <p:cNvPr id="24" name="TextBox 23"/>
          <p:cNvSpPr txBox="1"/>
          <p:nvPr/>
        </p:nvSpPr>
        <p:spPr>
          <a:xfrm>
            <a:off x="8193024" y="4041648"/>
            <a:ext cx="1572768" cy="365760"/>
          </a:xfrm>
          <a:prstGeom prst="rect">
            <a:avLst/>
          </a:prstGeom>
          <a:noFill/>
        </p:spPr>
        <p:txBody>
          <a:bodyPr wrap="square" lIns="0" tIns="0" rIns="0" bIns="0" anchor="t">
            <a:spAutoFit/>
          </a:bodyPr>
          <a:lstStyle/>
          <a:p>
            <a:pPr algn="ctr">
              <a:lnSpc>
                <a:spcPct val="100000"/>
              </a:lnSpc>
              <a:spcBef>
                <a:spcPts val="0"/>
              </a:spcBef>
              <a:spcAft>
                <a:spcPts val="600"/>
              </a:spcAft>
            </a:pPr>
            <a:r>
              <a:rPr sz="1150" b="0" i="0">
                <a:solidFill>
                  <a:srgbClr val="C9D4DF"/>
                </a:solidFill>
                <a:latin typeface="Calibri"/>
              </a:rPr>
              <a:t>Urgent reminder</a:t>
            </a:r>
          </a:p>
        </p:txBody>
      </p:sp>
      <p:sp>
        <p:nvSpPr>
          <p:cNvPr id="25" name="Rectangle 24"/>
          <p:cNvSpPr/>
          <p:nvPr/>
        </p:nvSpPr>
        <p:spPr>
          <a:xfrm>
            <a:off x="9893808" y="3246120"/>
            <a:ext cx="1572768" cy="1234440"/>
          </a:xfrm>
          <a:prstGeom prst="rect">
            <a:avLst/>
          </a:prstGeom>
          <a:solidFill>
            <a:srgbClr val="143354"/>
          </a:solidFill>
          <a:ln w="12700">
            <a:solidFill>
              <a:srgbClr val="2E4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93808" y="3429000"/>
            <a:ext cx="1572768" cy="548640"/>
          </a:xfrm>
          <a:prstGeom prst="rect">
            <a:avLst/>
          </a:prstGeom>
          <a:noFill/>
        </p:spPr>
        <p:txBody>
          <a:bodyPr wrap="square" lIns="0" tIns="0" rIns="0" bIns="0" anchor="t">
            <a:spAutoFit/>
          </a:bodyPr>
          <a:lstStyle/>
          <a:p>
            <a:pPr algn="ctr">
              <a:lnSpc>
                <a:spcPct val="100000"/>
              </a:lnSpc>
              <a:spcBef>
                <a:spcPts val="0"/>
              </a:spcBef>
              <a:spcAft>
                <a:spcPts val="600"/>
              </a:spcAft>
            </a:pPr>
            <a:r>
              <a:rPr sz="2700" b="1" i="0">
                <a:solidFill>
                  <a:srgbClr val="E8821E"/>
                </a:solidFill>
                <a:latin typeface="Segoe UI Semibold"/>
              </a:rPr>
              <a:t>D-1</a:t>
            </a:r>
          </a:p>
        </p:txBody>
      </p:sp>
      <p:sp>
        <p:nvSpPr>
          <p:cNvPr id="27" name="TextBox 26"/>
          <p:cNvSpPr txBox="1"/>
          <p:nvPr/>
        </p:nvSpPr>
        <p:spPr>
          <a:xfrm>
            <a:off x="9893808" y="4041648"/>
            <a:ext cx="1572768" cy="365760"/>
          </a:xfrm>
          <a:prstGeom prst="rect">
            <a:avLst/>
          </a:prstGeom>
          <a:noFill/>
        </p:spPr>
        <p:txBody>
          <a:bodyPr wrap="square" lIns="0" tIns="0" rIns="0" bIns="0" anchor="t">
            <a:spAutoFit/>
          </a:bodyPr>
          <a:lstStyle/>
          <a:p>
            <a:pPr algn="ctr">
              <a:lnSpc>
                <a:spcPct val="100000"/>
              </a:lnSpc>
              <a:spcBef>
                <a:spcPts val="0"/>
              </a:spcBef>
              <a:spcAft>
                <a:spcPts val="600"/>
              </a:spcAft>
            </a:pPr>
            <a:r>
              <a:rPr sz="1150" b="0" i="0">
                <a:solidFill>
                  <a:srgbClr val="C9D4DF"/>
                </a:solidFill>
                <a:latin typeface="Calibri"/>
              </a:rPr>
              <a:t>Final notice</a:t>
            </a:r>
          </a:p>
        </p:txBody>
      </p:sp>
      <p:sp>
        <p:nvSpPr>
          <p:cNvPr id="28" name="TextBox 27"/>
          <p:cNvSpPr txBox="1"/>
          <p:nvPr/>
        </p:nvSpPr>
        <p:spPr>
          <a:xfrm>
            <a:off x="6492240" y="4709160"/>
            <a:ext cx="4937760" cy="419346"/>
          </a:xfrm>
          <a:prstGeom prst="rect">
            <a:avLst/>
          </a:prstGeom>
          <a:noFill/>
        </p:spPr>
        <p:txBody>
          <a:bodyPr wrap="square" lIns="0" tIns="0" rIns="0" bIns="0" anchor="t">
            <a:spAutoFit/>
          </a:bodyPr>
          <a:lstStyle/>
          <a:p>
            <a:pPr algn="l">
              <a:lnSpc>
                <a:spcPct val="112000"/>
              </a:lnSpc>
              <a:spcBef>
                <a:spcPts val="0"/>
              </a:spcBef>
              <a:spcAft>
                <a:spcPts val="600"/>
              </a:spcAft>
            </a:pPr>
            <a:r>
              <a:rPr sz="1250" b="0" i="1" dirty="0">
                <a:solidFill>
                  <a:srgbClr val="C9D4DF"/>
                </a:solidFill>
                <a:latin typeface="Calibri"/>
              </a:rPr>
              <a:t>Scripted in Python, packaged with Docker, and run automatically every day</a:t>
            </a:r>
            <a:r>
              <a:rPr lang="en-US" sz="1250" b="0" i="1" dirty="0">
                <a:solidFill>
                  <a:srgbClr val="C9D4DF"/>
                </a:solidFill>
                <a:latin typeface="Calibri"/>
              </a:rPr>
              <a:t>,</a:t>
            </a:r>
            <a:r>
              <a:rPr sz="1250" b="0" i="1" dirty="0">
                <a:solidFill>
                  <a:srgbClr val="C9D4DF"/>
                </a:solidFill>
                <a:latin typeface="Calibri"/>
              </a:rPr>
              <a:t> reducing workload while guaranteeing consistent, timely communication.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MAIN PROJECT</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Project Objectives</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548640" y="1508760"/>
            <a:ext cx="5504688" cy="2084831"/>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2960" y="1801368"/>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1819656"/>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2400" b="1" i="0">
                <a:solidFill>
                  <a:srgbClr val="FFFFFF"/>
                </a:solidFill>
                <a:latin typeface="Segoe UI Semibold"/>
              </a:rPr>
              <a:t>1</a:t>
            </a:r>
          </a:p>
        </p:txBody>
      </p:sp>
      <p:sp>
        <p:nvSpPr>
          <p:cNvPr id="14" name="TextBox 13"/>
          <p:cNvSpPr txBox="1"/>
          <p:nvPr/>
        </p:nvSpPr>
        <p:spPr>
          <a:xfrm>
            <a:off x="1691640" y="1837944"/>
            <a:ext cx="4133088" cy="822960"/>
          </a:xfrm>
          <a:prstGeom prst="rect">
            <a:avLst/>
          </a:prstGeom>
          <a:noFill/>
        </p:spPr>
        <p:txBody>
          <a:bodyPr wrap="square" lIns="0" tIns="0" rIns="0" bIns="0" anchor="ctr">
            <a:spAutoFit/>
          </a:bodyPr>
          <a:lstStyle/>
          <a:p>
            <a:pPr algn="l">
              <a:lnSpc>
                <a:spcPct val="100000"/>
              </a:lnSpc>
              <a:spcBef>
                <a:spcPts val="0"/>
              </a:spcBef>
              <a:spcAft>
                <a:spcPts val="600"/>
              </a:spcAft>
            </a:pPr>
            <a:r>
              <a:rPr sz="1750" b="1" i="0">
                <a:solidFill>
                  <a:srgbClr val="0F2A47"/>
                </a:solidFill>
                <a:latin typeface="Segoe UI Semibold"/>
              </a:rPr>
              <a:t>Eliminate manual errors</a:t>
            </a:r>
          </a:p>
        </p:txBody>
      </p:sp>
      <p:sp>
        <p:nvSpPr>
          <p:cNvPr id="15" name="TextBox 14"/>
          <p:cNvSpPr txBox="1"/>
          <p:nvPr/>
        </p:nvSpPr>
        <p:spPr>
          <a:xfrm>
            <a:off x="1691640" y="2651760"/>
            <a:ext cx="4087368" cy="822960"/>
          </a:xfrm>
          <a:prstGeom prst="rect">
            <a:avLst/>
          </a:prstGeom>
          <a:noFill/>
        </p:spPr>
        <p:txBody>
          <a:bodyPr wrap="square" lIns="0" tIns="0" rIns="0" bIns="0" anchor="t">
            <a:spAutoFit/>
          </a:bodyPr>
          <a:lstStyle/>
          <a:p>
            <a:pPr algn="l">
              <a:lnSpc>
                <a:spcPct val="110000"/>
              </a:lnSpc>
              <a:spcBef>
                <a:spcPts val="0"/>
              </a:spcBef>
              <a:spcAft>
                <a:spcPts val="600"/>
              </a:spcAft>
            </a:pPr>
            <a:r>
              <a:rPr sz="1300" b="0" i="0">
                <a:solidFill>
                  <a:srgbClr val="5C6B7D"/>
                </a:solidFill>
                <a:latin typeface="Calibri"/>
              </a:rPr>
              <a:t>Ensure no reminder is ever missed or delayed due to human oversight.</a:t>
            </a:r>
          </a:p>
        </p:txBody>
      </p:sp>
      <p:sp>
        <p:nvSpPr>
          <p:cNvPr id="16" name="Rectangle 15"/>
          <p:cNvSpPr/>
          <p:nvPr/>
        </p:nvSpPr>
        <p:spPr>
          <a:xfrm>
            <a:off x="6217920" y="1508760"/>
            <a:ext cx="5504688" cy="2084831"/>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92240" y="1801368"/>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1819656"/>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2400" b="1" i="0">
                <a:solidFill>
                  <a:srgbClr val="FFFFFF"/>
                </a:solidFill>
                <a:latin typeface="Segoe UI Semibold"/>
              </a:rPr>
              <a:t>2</a:t>
            </a:r>
          </a:p>
        </p:txBody>
      </p:sp>
      <p:sp>
        <p:nvSpPr>
          <p:cNvPr id="19" name="TextBox 18"/>
          <p:cNvSpPr txBox="1"/>
          <p:nvPr/>
        </p:nvSpPr>
        <p:spPr>
          <a:xfrm>
            <a:off x="7360920" y="1837944"/>
            <a:ext cx="4133088" cy="822960"/>
          </a:xfrm>
          <a:prstGeom prst="rect">
            <a:avLst/>
          </a:prstGeom>
          <a:noFill/>
        </p:spPr>
        <p:txBody>
          <a:bodyPr wrap="square" lIns="0" tIns="0" rIns="0" bIns="0" anchor="ctr">
            <a:spAutoFit/>
          </a:bodyPr>
          <a:lstStyle/>
          <a:p>
            <a:pPr algn="l">
              <a:lnSpc>
                <a:spcPct val="100000"/>
              </a:lnSpc>
              <a:spcBef>
                <a:spcPts val="0"/>
              </a:spcBef>
              <a:spcAft>
                <a:spcPts val="600"/>
              </a:spcAft>
            </a:pPr>
            <a:r>
              <a:rPr sz="1750" b="1" i="0">
                <a:solidFill>
                  <a:srgbClr val="0F2A47"/>
                </a:solidFill>
                <a:latin typeface="Segoe UI Semibold"/>
              </a:rPr>
              <a:t>Increase operational efficiency</a:t>
            </a:r>
          </a:p>
        </p:txBody>
      </p:sp>
      <p:sp>
        <p:nvSpPr>
          <p:cNvPr id="20" name="TextBox 19"/>
          <p:cNvSpPr txBox="1"/>
          <p:nvPr/>
        </p:nvSpPr>
        <p:spPr>
          <a:xfrm>
            <a:off x="7360920" y="2651760"/>
            <a:ext cx="4087368" cy="822960"/>
          </a:xfrm>
          <a:prstGeom prst="rect">
            <a:avLst/>
          </a:prstGeom>
          <a:noFill/>
        </p:spPr>
        <p:txBody>
          <a:bodyPr wrap="square" lIns="0" tIns="0" rIns="0" bIns="0" anchor="t">
            <a:spAutoFit/>
          </a:bodyPr>
          <a:lstStyle/>
          <a:p>
            <a:pPr algn="l">
              <a:lnSpc>
                <a:spcPct val="110000"/>
              </a:lnSpc>
              <a:spcBef>
                <a:spcPts val="0"/>
              </a:spcBef>
              <a:spcAft>
                <a:spcPts val="600"/>
              </a:spcAft>
            </a:pPr>
            <a:r>
              <a:rPr sz="1300" b="0" i="0">
                <a:solidFill>
                  <a:srgbClr val="5C6B7D"/>
                </a:solidFill>
                <a:latin typeface="Calibri"/>
              </a:rPr>
              <a:t>Automate email generation and delivery so staff focus on higher-priority work.</a:t>
            </a:r>
          </a:p>
        </p:txBody>
      </p:sp>
      <p:sp>
        <p:nvSpPr>
          <p:cNvPr id="21" name="Rectangle 20"/>
          <p:cNvSpPr/>
          <p:nvPr/>
        </p:nvSpPr>
        <p:spPr>
          <a:xfrm>
            <a:off x="548640" y="3776471"/>
            <a:ext cx="5504688" cy="2084831"/>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22960" y="4069079"/>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087367"/>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2400" b="1" i="0">
                <a:solidFill>
                  <a:srgbClr val="FFFFFF"/>
                </a:solidFill>
                <a:latin typeface="Segoe UI Semibold"/>
              </a:rPr>
              <a:t>3</a:t>
            </a:r>
          </a:p>
        </p:txBody>
      </p:sp>
      <p:sp>
        <p:nvSpPr>
          <p:cNvPr id="24" name="TextBox 23"/>
          <p:cNvSpPr txBox="1"/>
          <p:nvPr/>
        </p:nvSpPr>
        <p:spPr>
          <a:xfrm>
            <a:off x="1691640" y="4105655"/>
            <a:ext cx="4133088" cy="822960"/>
          </a:xfrm>
          <a:prstGeom prst="rect">
            <a:avLst/>
          </a:prstGeom>
          <a:noFill/>
        </p:spPr>
        <p:txBody>
          <a:bodyPr wrap="square" lIns="0" tIns="0" rIns="0" bIns="0" anchor="ctr">
            <a:spAutoFit/>
          </a:bodyPr>
          <a:lstStyle/>
          <a:p>
            <a:pPr algn="l">
              <a:lnSpc>
                <a:spcPct val="100000"/>
              </a:lnSpc>
              <a:spcBef>
                <a:spcPts val="0"/>
              </a:spcBef>
              <a:spcAft>
                <a:spcPts val="600"/>
              </a:spcAft>
            </a:pPr>
            <a:r>
              <a:rPr sz="1750" b="1" i="0">
                <a:solidFill>
                  <a:srgbClr val="0F2A47"/>
                </a:solidFill>
                <a:latin typeface="Segoe UI Semibold"/>
              </a:rPr>
              <a:t>Improve communication consistency</a:t>
            </a:r>
          </a:p>
        </p:txBody>
      </p:sp>
      <p:sp>
        <p:nvSpPr>
          <p:cNvPr id="25" name="TextBox 24"/>
          <p:cNvSpPr txBox="1"/>
          <p:nvPr/>
        </p:nvSpPr>
        <p:spPr>
          <a:xfrm>
            <a:off x="1691640" y="4919471"/>
            <a:ext cx="4087368" cy="822960"/>
          </a:xfrm>
          <a:prstGeom prst="rect">
            <a:avLst/>
          </a:prstGeom>
          <a:noFill/>
        </p:spPr>
        <p:txBody>
          <a:bodyPr wrap="square" lIns="0" tIns="0" rIns="0" bIns="0" anchor="t">
            <a:spAutoFit/>
          </a:bodyPr>
          <a:lstStyle/>
          <a:p>
            <a:pPr algn="l">
              <a:lnSpc>
                <a:spcPct val="110000"/>
              </a:lnSpc>
              <a:spcBef>
                <a:spcPts val="0"/>
              </a:spcBef>
              <a:spcAft>
                <a:spcPts val="600"/>
              </a:spcAft>
            </a:pPr>
            <a:r>
              <a:rPr sz="1300" b="0" i="0">
                <a:solidFill>
                  <a:srgbClr val="5C6B7D"/>
                </a:solidFill>
                <a:latin typeface="Calibri"/>
              </a:rPr>
              <a:t>Every client receives professional, timely, and uniform renewal information.</a:t>
            </a:r>
          </a:p>
        </p:txBody>
      </p:sp>
      <p:sp>
        <p:nvSpPr>
          <p:cNvPr id="26" name="Rectangle 25"/>
          <p:cNvSpPr/>
          <p:nvPr/>
        </p:nvSpPr>
        <p:spPr>
          <a:xfrm>
            <a:off x="6217920" y="3776471"/>
            <a:ext cx="5504688" cy="2084831"/>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492240" y="4069079"/>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92240" y="4087367"/>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2400" b="1" i="0">
                <a:solidFill>
                  <a:srgbClr val="FFFFFF"/>
                </a:solidFill>
                <a:latin typeface="Segoe UI Semibold"/>
              </a:rPr>
              <a:t>4</a:t>
            </a:r>
          </a:p>
        </p:txBody>
      </p:sp>
      <p:sp>
        <p:nvSpPr>
          <p:cNvPr id="29" name="TextBox 28"/>
          <p:cNvSpPr txBox="1"/>
          <p:nvPr/>
        </p:nvSpPr>
        <p:spPr>
          <a:xfrm>
            <a:off x="7360920" y="4105655"/>
            <a:ext cx="4133088" cy="822960"/>
          </a:xfrm>
          <a:prstGeom prst="rect">
            <a:avLst/>
          </a:prstGeom>
          <a:noFill/>
        </p:spPr>
        <p:txBody>
          <a:bodyPr wrap="square" lIns="0" tIns="0" rIns="0" bIns="0" anchor="ctr">
            <a:spAutoFit/>
          </a:bodyPr>
          <a:lstStyle/>
          <a:p>
            <a:pPr algn="l">
              <a:lnSpc>
                <a:spcPct val="100000"/>
              </a:lnSpc>
              <a:spcBef>
                <a:spcPts val="0"/>
              </a:spcBef>
              <a:spcAft>
                <a:spcPts val="600"/>
              </a:spcAft>
            </a:pPr>
            <a:r>
              <a:rPr sz="1750" b="1" i="0">
                <a:solidFill>
                  <a:srgbClr val="0F2A47"/>
                </a:solidFill>
                <a:latin typeface="Segoe UI Semibold"/>
              </a:rPr>
              <a:t>Build a scalable framework</a:t>
            </a:r>
          </a:p>
        </p:txBody>
      </p:sp>
      <p:sp>
        <p:nvSpPr>
          <p:cNvPr id="30" name="TextBox 29"/>
          <p:cNvSpPr txBox="1"/>
          <p:nvPr/>
        </p:nvSpPr>
        <p:spPr>
          <a:xfrm>
            <a:off x="7360920" y="4919471"/>
            <a:ext cx="4087368" cy="822960"/>
          </a:xfrm>
          <a:prstGeom prst="rect">
            <a:avLst/>
          </a:prstGeom>
          <a:noFill/>
        </p:spPr>
        <p:txBody>
          <a:bodyPr wrap="square" lIns="0" tIns="0" rIns="0" bIns="0" anchor="t">
            <a:spAutoFit/>
          </a:bodyPr>
          <a:lstStyle/>
          <a:p>
            <a:pPr algn="l">
              <a:lnSpc>
                <a:spcPct val="110000"/>
              </a:lnSpc>
              <a:spcBef>
                <a:spcPts val="0"/>
              </a:spcBef>
              <a:spcAft>
                <a:spcPts val="600"/>
              </a:spcAft>
            </a:pPr>
            <a:r>
              <a:rPr sz="1300" b="0" i="0">
                <a:solidFill>
                  <a:srgbClr val="5C6B7D"/>
                </a:solidFill>
                <a:latin typeface="Calibri"/>
              </a:rPr>
              <a:t>Reliably handle current workload while remaining easy to update or expand.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MAIN PROJECT</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Hardware &amp; Software Requirements</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548640" y="1554480"/>
            <a:ext cx="3639312" cy="429768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1554480"/>
            <a:ext cx="3639312" cy="603504"/>
          </a:xfrm>
          <a:prstGeom prst="rect">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1572768"/>
            <a:ext cx="3639312" cy="566928"/>
          </a:xfrm>
          <a:prstGeom prst="rect">
            <a:avLst/>
          </a:prstGeom>
          <a:noFill/>
        </p:spPr>
        <p:txBody>
          <a:bodyPr wrap="square" lIns="0" tIns="0" rIns="0" bIns="0" anchor="ctr">
            <a:spAutoFit/>
          </a:bodyPr>
          <a:lstStyle/>
          <a:p>
            <a:pPr algn="ctr">
              <a:lnSpc>
                <a:spcPct val="100000"/>
              </a:lnSpc>
              <a:spcBef>
                <a:spcPts val="0"/>
              </a:spcBef>
              <a:spcAft>
                <a:spcPts val="600"/>
              </a:spcAft>
            </a:pPr>
            <a:r>
              <a:rPr sz="1350" b="1" i="0">
                <a:solidFill>
                  <a:srgbClr val="FFFFFF"/>
                </a:solidFill>
                <a:latin typeface="Segoe UI"/>
              </a:rPr>
              <a:t>LANGUAGE &amp; TOOLS</a:t>
            </a:r>
          </a:p>
        </p:txBody>
      </p:sp>
      <p:sp>
        <p:nvSpPr>
          <p:cNvPr id="14" name="TextBox 13"/>
          <p:cNvSpPr txBox="1"/>
          <p:nvPr/>
        </p:nvSpPr>
        <p:spPr>
          <a:xfrm>
            <a:off x="822960" y="2423160"/>
            <a:ext cx="3136392" cy="3291840"/>
          </a:xfrm>
          <a:prstGeom prst="rect">
            <a:avLst/>
          </a:prstGeom>
          <a:noFill/>
        </p:spPr>
        <p:txBody>
          <a:bodyPr wrap="square" lIns="0" tIns="0" rIns="0" bIns="0">
            <a:spAutoFit/>
          </a:bodyPr>
          <a:lstStyle/>
          <a:p>
            <a:pPr marL="274320" indent="-237744">
              <a:lnSpc>
                <a:spcPct val="105000"/>
              </a:lnSpc>
              <a:spcBef>
                <a:spcPts val="0"/>
              </a:spcBef>
              <a:spcAft>
                <a:spcPts val="1500"/>
              </a:spcAft>
            </a:pPr>
            <a:r>
              <a:rPr sz="1300" b="1">
                <a:solidFill>
                  <a:srgbClr val="2E6BB0"/>
                </a:solidFill>
                <a:latin typeface="Calibri"/>
              </a:rPr>
              <a:t>▸  </a:t>
            </a:r>
            <a:r>
              <a:rPr sz="1300" b="0">
                <a:solidFill>
                  <a:srgbClr val="1E2A36"/>
                </a:solidFill>
                <a:latin typeface="Calibri"/>
              </a:rPr>
              <a:t>Python 3.12 — core automation logic</a:t>
            </a:r>
          </a:p>
          <a:p>
            <a:pPr marL="274320" indent="-237744">
              <a:lnSpc>
                <a:spcPct val="105000"/>
              </a:lnSpc>
              <a:spcBef>
                <a:spcPts val="0"/>
              </a:spcBef>
              <a:spcAft>
                <a:spcPts val="1500"/>
              </a:spcAft>
            </a:pPr>
            <a:r>
              <a:rPr sz="1300" b="1">
                <a:solidFill>
                  <a:srgbClr val="2E6BB0"/>
                </a:solidFill>
                <a:latin typeface="Calibri"/>
              </a:rPr>
              <a:t>▸  </a:t>
            </a:r>
            <a:r>
              <a:rPr sz="1300" b="0">
                <a:solidFill>
                  <a:srgbClr val="1E2A36"/>
                </a:solidFill>
                <a:latin typeface="Calibri"/>
              </a:rPr>
              <a:t>Visual Studio Code — IDE</a:t>
            </a:r>
          </a:p>
          <a:p>
            <a:pPr marL="274320" indent="-237744">
              <a:lnSpc>
                <a:spcPct val="105000"/>
              </a:lnSpc>
              <a:spcBef>
                <a:spcPts val="0"/>
              </a:spcBef>
              <a:spcAft>
                <a:spcPts val="1500"/>
              </a:spcAft>
            </a:pPr>
            <a:r>
              <a:rPr sz="1300" b="1">
                <a:solidFill>
                  <a:srgbClr val="2E6BB0"/>
                </a:solidFill>
                <a:latin typeface="Calibri"/>
              </a:rPr>
              <a:t>▸  </a:t>
            </a:r>
            <a:r>
              <a:rPr sz="1300" b="0">
                <a:solidFill>
                  <a:srgbClr val="1E2A36"/>
                </a:solidFill>
                <a:latin typeface="Calibri"/>
              </a:rPr>
              <a:t>pandas — parse clients.xlsx</a:t>
            </a:r>
          </a:p>
          <a:p>
            <a:pPr marL="274320" indent="-237744">
              <a:lnSpc>
                <a:spcPct val="105000"/>
              </a:lnSpc>
              <a:spcBef>
                <a:spcPts val="0"/>
              </a:spcBef>
              <a:spcAft>
                <a:spcPts val="1500"/>
              </a:spcAft>
            </a:pPr>
            <a:r>
              <a:rPr sz="1300" b="1">
                <a:solidFill>
                  <a:srgbClr val="2E6BB0"/>
                </a:solidFill>
                <a:latin typeface="Calibri"/>
              </a:rPr>
              <a:t>▸  </a:t>
            </a:r>
            <a:r>
              <a:rPr sz="1300" b="0">
                <a:solidFill>
                  <a:srgbClr val="1E2A36"/>
                </a:solidFill>
                <a:latin typeface="Calibri"/>
              </a:rPr>
              <a:t>smtplib — secure mail transport</a:t>
            </a:r>
          </a:p>
        </p:txBody>
      </p:sp>
      <p:sp>
        <p:nvSpPr>
          <p:cNvPr id="15" name="Rectangle 14"/>
          <p:cNvSpPr/>
          <p:nvPr/>
        </p:nvSpPr>
        <p:spPr>
          <a:xfrm>
            <a:off x="4361688" y="1554480"/>
            <a:ext cx="3639312" cy="429768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61688" y="1554480"/>
            <a:ext cx="3639312" cy="603504"/>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61688" y="1572768"/>
            <a:ext cx="3639312" cy="566928"/>
          </a:xfrm>
          <a:prstGeom prst="rect">
            <a:avLst/>
          </a:prstGeom>
          <a:noFill/>
        </p:spPr>
        <p:txBody>
          <a:bodyPr wrap="square" lIns="0" tIns="0" rIns="0" bIns="0" anchor="ctr">
            <a:spAutoFit/>
          </a:bodyPr>
          <a:lstStyle/>
          <a:p>
            <a:pPr algn="ctr">
              <a:lnSpc>
                <a:spcPct val="100000"/>
              </a:lnSpc>
              <a:spcBef>
                <a:spcPts val="0"/>
              </a:spcBef>
              <a:spcAft>
                <a:spcPts val="600"/>
              </a:spcAft>
            </a:pPr>
            <a:r>
              <a:rPr sz="1350" b="1" i="0">
                <a:solidFill>
                  <a:srgbClr val="FFFFFF"/>
                </a:solidFill>
                <a:latin typeface="Segoe UI"/>
              </a:rPr>
              <a:t>DEPLOYMENT</a:t>
            </a:r>
          </a:p>
        </p:txBody>
      </p:sp>
      <p:sp>
        <p:nvSpPr>
          <p:cNvPr id="18" name="TextBox 17"/>
          <p:cNvSpPr txBox="1"/>
          <p:nvPr/>
        </p:nvSpPr>
        <p:spPr>
          <a:xfrm>
            <a:off x="4636008" y="2423160"/>
            <a:ext cx="3136392" cy="3291840"/>
          </a:xfrm>
          <a:prstGeom prst="rect">
            <a:avLst/>
          </a:prstGeom>
          <a:noFill/>
        </p:spPr>
        <p:txBody>
          <a:bodyPr wrap="square" lIns="0" tIns="0" rIns="0" bIns="0">
            <a:spAutoFit/>
          </a:bodyPr>
          <a:lstStyle/>
          <a:p>
            <a:pPr marL="274320" indent="-237744">
              <a:lnSpc>
                <a:spcPct val="105000"/>
              </a:lnSpc>
              <a:spcBef>
                <a:spcPts val="0"/>
              </a:spcBef>
              <a:spcAft>
                <a:spcPts val="1500"/>
              </a:spcAft>
            </a:pPr>
            <a:r>
              <a:rPr sz="1300" b="1">
                <a:solidFill>
                  <a:srgbClr val="E8821E"/>
                </a:solidFill>
                <a:latin typeface="Calibri"/>
              </a:rPr>
              <a:t>▸  </a:t>
            </a:r>
            <a:r>
              <a:rPr sz="1300" b="0">
                <a:solidFill>
                  <a:srgbClr val="1E2A36"/>
                </a:solidFill>
                <a:latin typeface="Calibri"/>
              </a:rPr>
              <a:t>Docker — containerized packaging</a:t>
            </a:r>
          </a:p>
          <a:p>
            <a:pPr marL="274320" indent="-237744">
              <a:lnSpc>
                <a:spcPct val="105000"/>
              </a:lnSpc>
              <a:spcBef>
                <a:spcPts val="0"/>
              </a:spcBef>
              <a:spcAft>
                <a:spcPts val="1500"/>
              </a:spcAft>
            </a:pPr>
            <a:r>
              <a:rPr sz="1300" b="1">
                <a:solidFill>
                  <a:srgbClr val="E8821E"/>
                </a:solidFill>
                <a:latin typeface="Calibri"/>
              </a:rPr>
              <a:t>▸  </a:t>
            </a:r>
            <a:r>
              <a:rPr sz="1300" b="0">
                <a:solidFill>
                  <a:srgbClr val="1E2A36"/>
                </a:solidFill>
                <a:latin typeface="Calibri"/>
              </a:rPr>
              <a:t>GitHub Actions — CI/CD pipeline</a:t>
            </a:r>
          </a:p>
          <a:p>
            <a:pPr marL="274320" indent="-237744">
              <a:lnSpc>
                <a:spcPct val="105000"/>
              </a:lnSpc>
              <a:spcBef>
                <a:spcPts val="0"/>
              </a:spcBef>
              <a:spcAft>
                <a:spcPts val="1500"/>
              </a:spcAft>
            </a:pPr>
            <a:r>
              <a:rPr sz="1300" b="1">
                <a:solidFill>
                  <a:srgbClr val="E8821E"/>
                </a:solidFill>
                <a:latin typeface="Calibri"/>
              </a:rPr>
              <a:t>▸  </a:t>
            </a:r>
            <a:r>
              <a:rPr sz="1300" b="0">
                <a:solidFill>
                  <a:srgbClr val="1E2A36"/>
                </a:solidFill>
                <a:latin typeface="Calibri"/>
              </a:rPr>
              <a:t>Windows Server 2019 — production</a:t>
            </a:r>
          </a:p>
          <a:p>
            <a:pPr marL="274320" indent="-237744">
              <a:lnSpc>
                <a:spcPct val="105000"/>
              </a:lnSpc>
              <a:spcBef>
                <a:spcPts val="0"/>
              </a:spcBef>
              <a:spcAft>
                <a:spcPts val="1500"/>
              </a:spcAft>
            </a:pPr>
            <a:r>
              <a:rPr sz="1300" b="1">
                <a:solidFill>
                  <a:srgbClr val="E8821E"/>
                </a:solidFill>
                <a:latin typeface="Calibri"/>
              </a:rPr>
              <a:t>▸  </a:t>
            </a:r>
            <a:r>
              <a:rPr sz="1300" b="0">
                <a:solidFill>
                  <a:srgbClr val="1E2A36"/>
                </a:solidFill>
                <a:latin typeface="Calibri"/>
              </a:rPr>
              <a:t>Task Scheduler — daily trigger</a:t>
            </a:r>
          </a:p>
        </p:txBody>
      </p:sp>
      <p:sp>
        <p:nvSpPr>
          <p:cNvPr id="19" name="Rectangle 18"/>
          <p:cNvSpPr/>
          <p:nvPr/>
        </p:nvSpPr>
        <p:spPr>
          <a:xfrm>
            <a:off x="8174736" y="1554480"/>
            <a:ext cx="3639312" cy="429768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74736" y="1554480"/>
            <a:ext cx="3639312" cy="603504"/>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74736" y="1572768"/>
            <a:ext cx="3639312" cy="566928"/>
          </a:xfrm>
          <a:prstGeom prst="rect">
            <a:avLst/>
          </a:prstGeom>
          <a:noFill/>
        </p:spPr>
        <p:txBody>
          <a:bodyPr wrap="square" lIns="0" tIns="0" rIns="0" bIns="0" anchor="ctr">
            <a:spAutoFit/>
          </a:bodyPr>
          <a:lstStyle/>
          <a:p>
            <a:pPr algn="ctr">
              <a:lnSpc>
                <a:spcPct val="100000"/>
              </a:lnSpc>
              <a:spcBef>
                <a:spcPts val="0"/>
              </a:spcBef>
              <a:spcAft>
                <a:spcPts val="600"/>
              </a:spcAft>
            </a:pPr>
            <a:r>
              <a:rPr sz="1350" b="1" i="0">
                <a:solidFill>
                  <a:srgbClr val="FFFFFF"/>
                </a:solidFill>
                <a:latin typeface="Segoe UI"/>
              </a:rPr>
              <a:t>DATA &amp; PROTOCOLS</a:t>
            </a:r>
          </a:p>
        </p:txBody>
      </p:sp>
      <p:sp>
        <p:nvSpPr>
          <p:cNvPr id="22" name="TextBox 21"/>
          <p:cNvSpPr txBox="1"/>
          <p:nvPr/>
        </p:nvSpPr>
        <p:spPr>
          <a:xfrm>
            <a:off x="8449056" y="2423160"/>
            <a:ext cx="3136392" cy="3291840"/>
          </a:xfrm>
          <a:prstGeom prst="rect">
            <a:avLst/>
          </a:prstGeom>
          <a:noFill/>
        </p:spPr>
        <p:txBody>
          <a:bodyPr wrap="square" lIns="0" tIns="0" rIns="0" bIns="0">
            <a:spAutoFit/>
          </a:bodyPr>
          <a:lstStyle/>
          <a:p>
            <a:pPr marL="274320" indent="-237744">
              <a:lnSpc>
                <a:spcPct val="105000"/>
              </a:lnSpc>
              <a:spcBef>
                <a:spcPts val="0"/>
              </a:spcBef>
              <a:spcAft>
                <a:spcPts val="1500"/>
              </a:spcAft>
            </a:pPr>
            <a:r>
              <a:rPr sz="1300" b="1">
                <a:solidFill>
                  <a:srgbClr val="1E7A4C"/>
                </a:solidFill>
                <a:latin typeface="Calibri"/>
              </a:rPr>
              <a:t>▸  </a:t>
            </a:r>
            <a:r>
              <a:rPr sz="1300" b="0">
                <a:solidFill>
                  <a:srgbClr val="1E2A36"/>
                </a:solidFill>
                <a:latin typeface="Calibri"/>
              </a:rPr>
              <a:t>.xlsx / .csv — client records</a:t>
            </a:r>
          </a:p>
          <a:p>
            <a:pPr marL="274320" indent="-237744">
              <a:lnSpc>
                <a:spcPct val="105000"/>
              </a:lnSpc>
              <a:spcBef>
                <a:spcPts val="0"/>
              </a:spcBef>
              <a:spcAft>
                <a:spcPts val="1500"/>
              </a:spcAft>
            </a:pPr>
            <a:r>
              <a:rPr sz="1300" b="1">
                <a:solidFill>
                  <a:srgbClr val="1E7A4C"/>
                </a:solidFill>
                <a:latin typeface="Calibri"/>
              </a:rPr>
              <a:t>▸  </a:t>
            </a:r>
            <a:r>
              <a:rPr sz="1300" b="0">
                <a:solidFill>
                  <a:srgbClr val="1E2A36"/>
                </a:solidFill>
                <a:latin typeface="Calibri"/>
              </a:rPr>
              <a:t>.json — sent-log state (dedup)</a:t>
            </a:r>
          </a:p>
          <a:p>
            <a:pPr marL="274320" indent="-237744">
              <a:lnSpc>
                <a:spcPct val="105000"/>
              </a:lnSpc>
              <a:spcBef>
                <a:spcPts val="0"/>
              </a:spcBef>
              <a:spcAft>
                <a:spcPts val="1500"/>
              </a:spcAft>
            </a:pPr>
            <a:r>
              <a:rPr sz="1300" b="1">
                <a:solidFill>
                  <a:srgbClr val="1E7A4C"/>
                </a:solidFill>
                <a:latin typeface="Calibri"/>
              </a:rPr>
              <a:t>▸  </a:t>
            </a:r>
            <a:r>
              <a:rPr sz="1300" b="0">
                <a:solidFill>
                  <a:srgbClr val="1E2A36"/>
                </a:solidFill>
                <a:latin typeface="Calibri"/>
              </a:rPr>
              <a:t>SMTP over TLS (port 587)</a:t>
            </a:r>
          </a:p>
          <a:p>
            <a:pPr marL="274320" indent="-237744">
              <a:lnSpc>
                <a:spcPct val="105000"/>
              </a:lnSpc>
              <a:spcBef>
                <a:spcPts val="0"/>
              </a:spcBef>
              <a:spcAft>
                <a:spcPts val="1500"/>
              </a:spcAft>
            </a:pPr>
            <a:r>
              <a:rPr sz="1300" b="1">
                <a:solidFill>
                  <a:srgbClr val="1E7A4C"/>
                </a:solidFill>
                <a:latin typeface="Calibri"/>
              </a:rPr>
              <a:t>▸  </a:t>
            </a:r>
            <a:r>
              <a:rPr sz="1300" b="0">
                <a:solidFill>
                  <a:srgbClr val="1E2A36"/>
                </a:solidFill>
                <a:latin typeface="Calibri"/>
              </a:rPr>
              <a:t>noreply@kyrolsecuritylabs.com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MAIN PROJECT</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System Development (SDLC)</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548640" y="1481328"/>
            <a:ext cx="3611880" cy="14630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 y="1627632"/>
            <a:ext cx="1097280" cy="45720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821E"/>
                </a:solidFill>
                <a:latin typeface="Segoe UI Semibold"/>
              </a:rPr>
              <a:t>01</a:t>
            </a:r>
          </a:p>
        </p:txBody>
      </p:sp>
      <p:sp>
        <p:nvSpPr>
          <p:cNvPr id="13" name="TextBox 12"/>
          <p:cNvSpPr txBox="1"/>
          <p:nvPr/>
        </p:nvSpPr>
        <p:spPr>
          <a:xfrm>
            <a:off x="1508760" y="1645920"/>
            <a:ext cx="2468880" cy="548640"/>
          </a:xfrm>
          <a:prstGeom prst="rect">
            <a:avLst/>
          </a:prstGeom>
          <a:noFill/>
        </p:spPr>
        <p:txBody>
          <a:bodyPr wrap="square" lIns="0" tIns="0" rIns="0" bIns="0" anchor="ctr">
            <a:spAutoFit/>
          </a:bodyPr>
          <a:lstStyle/>
          <a:p>
            <a:pPr algn="l">
              <a:lnSpc>
                <a:spcPct val="100000"/>
              </a:lnSpc>
              <a:spcBef>
                <a:spcPts val="0"/>
              </a:spcBef>
              <a:spcAft>
                <a:spcPts val="600"/>
              </a:spcAft>
            </a:pPr>
            <a:r>
              <a:rPr sz="1450" b="1" i="0">
                <a:solidFill>
                  <a:srgbClr val="0F2A47"/>
                </a:solidFill>
                <a:latin typeface="Segoe UI Semibold"/>
              </a:rPr>
              <a:t>Planning &amp; Analysis</a:t>
            </a:r>
          </a:p>
        </p:txBody>
      </p:sp>
      <p:sp>
        <p:nvSpPr>
          <p:cNvPr id="14" name="TextBox 13"/>
          <p:cNvSpPr txBox="1"/>
          <p:nvPr/>
        </p:nvSpPr>
        <p:spPr>
          <a:xfrm>
            <a:off x="786384" y="2194560"/>
            <a:ext cx="3154680" cy="685800"/>
          </a:xfrm>
          <a:prstGeom prst="rect">
            <a:avLst/>
          </a:prstGeom>
          <a:noFill/>
        </p:spPr>
        <p:txBody>
          <a:bodyPr wrap="square" lIns="0" tIns="0" rIns="0" bIns="0" anchor="t">
            <a:spAutoFit/>
          </a:bodyPr>
          <a:lstStyle/>
          <a:p>
            <a:pPr algn="l">
              <a:lnSpc>
                <a:spcPct val="108000"/>
              </a:lnSpc>
              <a:spcBef>
                <a:spcPts val="0"/>
              </a:spcBef>
              <a:spcAft>
                <a:spcPts val="600"/>
              </a:spcAft>
            </a:pPr>
            <a:r>
              <a:rPr sz="1150" b="0" i="0">
                <a:solidFill>
                  <a:srgbClr val="5C6B7D"/>
                </a:solidFill>
                <a:latin typeface="Calibri"/>
              </a:rPr>
              <a:t>Replace manual contract tracking with an autonomous tool that verifies expiry milestones.</a:t>
            </a:r>
          </a:p>
        </p:txBody>
      </p:sp>
      <p:sp>
        <p:nvSpPr>
          <p:cNvPr id="15" name="Rectangle 14"/>
          <p:cNvSpPr/>
          <p:nvPr/>
        </p:nvSpPr>
        <p:spPr>
          <a:xfrm>
            <a:off x="4334256" y="1481328"/>
            <a:ext cx="3611880" cy="14630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1627632"/>
            <a:ext cx="1097280" cy="45720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821E"/>
                </a:solidFill>
                <a:latin typeface="Segoe UI Semibold"/>
              </a:rPr>
              <a:t>02</a:t>
            </a:r>
          </a:p>
        </p:txBody>
      </p:sp>
      <p:sp>
        <p:nvSpPr>
          <p:cNvPr id="17" name="TextBox 16"/>
          <p:cNvSpPr txBox="1"/>
          <p:nvPr/>
        </p:nvSpPr>
        <p:spPr>
          <a:xfrm>
            <a:off x="5294376" y="1645920"/>
            <a:ext cx="2468880" cy="548640"/>
          </a:xfrm>
          <a:prstGeom prst="rect">
            <a:avLst/>
          </a:prstGeom>
          <a:noFill/>
        </p:spPr>
        <p:txBody>
          <a:bodyPr wrap="square" lIns="0" tIns="0" rIns="0" bIns="0" anchor="ctr">
            <a:spAutoFit/>
          </a:bodyPr>
          <a:lstStyle/>
          <a:p>
            <a:pPr algn="l">
              <a:lnSpc>
                <a:spcPct val="100000"/>
              </a:lnSpc>
              <a:spcBef>
                <a:spcPts val="0"/>
              </a:spcBef>
              <a:spcAft>
                <a:spcPts val="600"/>
              </a:spcAft>
            </a:pPr>
            <a:r>
              <a:rPr sz="1450" b="1" i="0">
                <a:solidFill>
                  <a:srgbClr val="0F2A47"/>
                </a:solidFill>
                <a:latin typeface="Segoe UI Semibold"/>
              </a:rPr>
              <a:t>System Design</a:t>
            </a:r>
          </a:p>
        </p:txBody>
      </p:sp>
      <p:sp>
        <p:nvSpPr>
          <p:cNvPr id="18" name="TextBox 17"/>
          <p:cNvSpPr txBox="1"/>
          <p:nvPr/>
        </p:nvSpPr>
        <p:spPr>
          <a:xfrm>
            <a:off x="4572000" y="2194560"/>
            <a:ext cx="3154680" cy="685800"/>
          </a:xfrm>
          <a:prstGeom prst="rect">
            <a:avLst/>
          </a:prstGeom>
          <a:noFill/>
        </p:spPr>
        <p:txBody>
          <a:bodyPr wrap="square" lIns="0" tIns="0" rIns="0" bIns="0" anchor="t">
            <a:spAutoFit/>
          </a:bodyPr>
          <a:lstStyle/>
          <a:p>
            <a:pPr algn="l">
              <a:lnSpc>
                <a:spcPct val="108000"/>
              </a:lnSpc>
              <a:spcBef>
                <a:spcPts val="0"/>
              </a:spcBef>
              <a:spcAft>
                <a:spcPts val="600"/>
              </a:spcAft>
            </a:pPr>
            <a:r>
              <a:rPr sz="1150" b="0" i="0">
                <a:solidFill>
                  <a:srgbClr val="5C6B7D"/>
                </a:solidFill>
                <a:latin typeface="Calibri"/>
              </a:rPr>
              <a:t>Containerized Docker architecture to prevent environment drift; map the data-flow.</a:t>
            </a:r>
          </a:p>
        </p:txBody>
      </p:sp>
      <p:sp>
        <p:nvSpPr>
          <p:cNvPr id="19" name="Rectangle 18"/>
          <p:cNvSpPr/>
          <p:nvPr/>
        </p:nvSpPr>
        <p:spPr>
          <a:xfrm>
            <a:off x="8119872" y="1481328"/>
            <a:ext cx="3611880" cy="14630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57616" y="1627632"/>
            <a:ext cx="1097280" cy="45720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821E"/>
                </a:solidFill>
                <a:latin typeface="Segoe UI Semibold"/>
              </a:rPr>
              <a:t>03</a:t>
            </a:r>
          </a:p>
        </p:txBody>
      </p:sp>
      <p:sp>
        <p:nvSpPr>
          <p:cNvPr id="21" name="TextBox 20"/>
          <p:cNvSpPr txBox="1"/>
          <p:nvPr/>
        </p:nvSpPr>
        <p:spPr>
          <a:xfrm>
            <a:off x="9079992" y="1645920"/>
            <a:ext cx="2468880" cy="548640"/>
          </a:xfrm>
          <a:prstGeom prst="rect">
            <a:avLst/>
          </a:prstGeom>
          <a:noFill/>
        </p:spPr>
        <p:txBody>
          <a:bodyPr wrap="square" lIns="0" tIns="0" rIns="0" bIns="0" anchor="ctr">
            <a:spAutoFit/>
          </a:bodyPr>
          <a:lstStyle/>
          <a:p>
            <a:pPr algn="l">
              <a:lnSpc>
                <a:spcPct val="100000"/>
              </a:lnSpc>
              <a:spcBef>
                <a:spcPts val="0"/>
              </a:spcBef>
              <a:spcAft>
                <a:spcPts val="600"/>
              </a:spcAft>
            </a:pPr>
            <a:r>
              <a:rPr sz="1450" b="1" i="0">
                <a:solidFill>
                  <a:srgbClr val="0F2A47"/>
                </a:solidFill>
                <a:latin typeface="Segoe UI Semibold"/>
              </a:rPr>
              <a:t>Implementation</a:t>
            </a:r>
          </a:p>
        </p:txBody>
      </p:sp>
      <p:sp>
        <p:nvSpPr>
          <p:cNvPr id="22" name="TextBox 21"/>
          <p:cNvSpPr txBox="1"/>
          <p:nvPr/>
        </p:nvSpPr>
        <p:spPr>
          <a:xfrm>
            <a:off x="8357616" y="2194560"/>
            <a:ext cx="3154680" cy="685800"/>
          </a:xfrm>
          <a:prstGeom prst="rect">
            <a:avLst/>
          </a:prstGeom>
          <a:noFill/>
        </p:spPr>
        <p:txBody>
          <a:bodyPr wrap="square" lIns="0" tIns="0" rIns="0" bIns="0" anchor="t">
            <a:spAutoFit/>
          </a:bodyPr>
          <a:lstStyle/>
          <a:p>
            <a:pPr algn="l">
              <a:lnSpc>
                <a:spcPct val="108000"/>
              </a:lnSpc>
              <a:spcBef>
                <a:spcPts val="0"/>
              </a:spcBef>
              <a:spcAft>
                <a:spcPts val="600"/>
              </a:spcAft>
            </a:pPr>
            <a:r>
              <a:rPr sz="1150" b="0" i="0">
                <a:solidFill>
                  <a:srgbClr val="5C6B7D"/>
                </a:solidFill>
                <a:latin typeface="Calibri"/>
              </a:rPr>
              <a:t>Core logic in Python 3.12 — pandas for spreadsheets, smtplib for secure mail.</a:t>
            </a:r>
          </a:p>
        </p:txBody>
      </p:sp>
      <p:sp>
        <p:nvSpPr>
          <p:cNvPr id="23" name="Rectangle 22"/>
          <p:cNvSpPr/>
          <p:nvPr/>
        </p:nvSpPr>
        <p:spPr>
          <a:xfrm>
            <a:off x="548640" y="3127248"/>
            <a:ext cx="3611880" cy="14630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6384" y="3273552"/>
            <a:ext cx="1097280" cy="45720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821E"/>
                </a:solidFill>
                <a:latin typeface="Segoe UI Semibold"/>
              </a:rPr>
              <a:t>04</a:t>
            </a:r>
          </a:p>
        </p:txBody>
      </p:sp>
      <p:sp>
        <p:nvSpPr>
          <p:cNvPr id="25" name="TextBox 24"/>
          <p:cNvSpPr txBox="1"/>
          <p:nvPr/>
        </p:nvSpPr>
        <p:spPr>
          <a:xfrm>
            <a:off x="1508760" y="3291840"/>
            <a:ext cx="2468880" cy="548640"/>
          </a:xfrm>
          <a:prstGeom prst="rect">
            <a:avLst/>
          </a:prstGeom>
          <a:noFill/>
        </p:spPr>
        <p:txBody>
          <a:bodyPr wrap="square" lIns="0" tIns="0" rIns="0" bIns="0" anchor="ctr">
            <a:spAutoFit/>
          </a:bodyPr>
          <a:lstStyle/>
          <a:p>
            <a:pPr algn="l">
              <a:lnSpc>
                <a:spcPct val="100000"/>
              </a:lnSpc>
              <a:spcBef>
                <a:spcPts val="0"/>
              </a:spcBef>
              <a:spcAft>
                <a:spcPts val="600"/>
              </a:spcAft>
            </a:pPr>
            <a:r>
              <a:rPr sz="1450" b="1" i="0">
                <a:solidFill>
                  <a:srgbClr val="0F2A47"/>
                </a:solidFill>
                <a:latin typeface="Segoe UI Semibold"/>
              </a:rPr>
              <a:t>Testing &amp; QA</a:t>
            </a:r>
          </a:p>
        </p:txBody>
      </p:sp>
      <p:sp>
        <p:nvSpPr>
          <p:cNvPr id="26" name="TextBox 25"/>
          <p:cNvSpPr txBox="1"/>
          <p:nvPr/>
        </p:nvSpPr>
        <p:spPr>
          <a:xfrm>
            <a:off x="786384" y="3840480"/>
            <a:ext cx="3154680" cy="685800"/>
          </a:xfrm>
          <a:prstGeom prst="rect">
            <a:avLst/>
          </a:prstGeom>
          <a:noFill/>
        </p:spPr>
        <p:txBody>
          <a:bodyPr wrap="square" lIns="0" tIns="0" rIns="0" bIns="0" anchor="t">
            <a:spAutoFit/>
          </a:bodyPr>
          <a:lstStyle/>
          <a:p>
            <a:pPr algn="l">
              <a:lnSpc>
                <a:spcPct val="108000"/>
              </a:lnSpc>
              <a:spcBef>
                <a:spcPts val="0"/>
              </a:spcBef>
              <a:spcAft>
                <a:spcPts val="600"/>
              </a:spcAft>
            </a:pPr>
            <a:r>
              <a:rPr sz="1150" b="0" i="0">
                <a:solidFill>
                  <a:srgbClr val="5C6B7D"/>
                </a:solidFill>
                <a:latin typeface="Calibri"/>
              </a:rPr>
              <a:t>Rigorous local testing on mock data — no live emails sent to real clients.</a:t>
            </a:r>
          </a:p>
        </p:txBody>
      </p:sp>
      <p:sp>
        <p:nvSpPr>
          <p:cNvPr id="27" name="Rectangle 26"/>
          <p:cNvSpPr/>
          <p:nvPr/>
        </p:nvSpPr>
        <p:spPr>
          <a:xfrm>
            <a:off x="4334256" y="3127248"/>
            <a:ext cx="3611880" cy="14630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0" y="3273552"/>
            <a:ext cx="1097280" cy="45720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821E"/>
                </a:solidFill>
                <a:latin typeface="Segoe UI Semibold"/>
              </a:rPr>
              <a:t>05</a:t>
            </a:r>
          </a:p>
        </p:txBody>
      </p:sp>
      <p:sp>
        <p:nvSpPr>
          <p:cNvPr id="29" name="TextBox 28"/>
          <p:cNvSpPr txBox="1"/>
          <p:nvPr/>
        </p:nvSpPr>
        <p:spPr>
          <a:xfrm>
            <a:off x="5294376" y="3291840"/>
            <a:ext cx="2468880" cy="548640"/>
          </a:xfrm>
          <a:prstGeom prst="rect">
            <a:avLst/>
          </a:prstGeom>
          <a:noFill/>
        </p:spPr>
        <p:txBody>
          <a:bodyPr wrap="square" lIns="0" tIns="0" rIns="0" bIns="0" anchor="ctr">
            <a:spAutoFit/>
          </a:bodyPr>
          <a:lstStyle/>
          <a:p>
            <a:pPr algn="l">
              <a:lnSpc>
                <a:spcPct val="100000"/>
              </a:lnSpc>
              <a:spcBef>
                <a:spcPts val="0"/>
              </a:spcBef>
              <a:spcAft>
                <a:spcPts val="600"/>
              </a:spcAft>
            </a:pPr>
            <a:r>
              <a:rPr sz="1450" b="1" i="0">
                <a:solidFill>
                  <a:srgbClr val="0F2A47"/>
                </a:solidFill>
                <a:latin typeface="Segoe UI Semibold"/>
              </a:rPr>
              <a:t>Deployment</a:t>
            </a:r>
          </a:p>
        </p:txBody>
      </p:sp>
      <p:sp>
        <p:nvSpPr>
          <p:cNvPr id="30" name="TextBox 29"/>
          <p:cNvSpPr txBox="1"/>
          <p:nvPr/>
        </p:nvSpPr>
        <p:spPr>
          <a:xfrm>
            <a:off x="4572000" y="3840480"/>
            <a:ext cx="3154680" cy="685800"/>
          </a:xfrm>
          <a:prstGeom prst="rect">
            <a:avLst/>
          </a:prstGeom>
          <a:noFill/>
        </p:spPr>
        <p:txBody>
          <a:bodyPr wrap="square" lIns="0" tIns="0" rIns="0" bIns="0" anchor="t">
            <a:spAutoFit/>
          </a:bodyPr>
          <a:lstStyle/>
          <a:p>
            <a:pPr algn="l">
              <a:lnSpc>
                <a:spcPct val="108000"/>
              </a:lnSpc>
              <a:spcBef>
                <a:spcPts val="0"/>
              </a:spcBef>
              <a:spcAft>
                <a:spcPts val="600"/>
              </a:spcAft>
            </a:pPr>
            <a:r>
              <a:rPr sz="1150" b="0" i="0">
                <a:solidFill>
                  <a:srgbClr val="5C6B7D"/>
                </a:solidFill>
                <a:latin typeface="Calibri"/>
              </a:rPr>
              <a:t>Packaged into a production Docker image on the Kyrol server as a daily task.</a:t>
            </a:r>
          </a:p>
        </p:txBody>
      </p:sp>
      <p:sp>
        <p:nvSpPr>
          <p:cNvPr id="31" name="Rectangle 30"/>
          <p:cNvSpPr/>
          <p:nvPr/>
        </p:nvSpPr>
        <p:spPr>
          <a:xfrm>
            <a:off x="8119872" y="3127248"/>
            <a:ext cx="3611880" cy="14630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57616" y="3273552"/>
            <a:ext cx="1097280" cy="45720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821E"/>
                </a:solidFill>
                <a:latin typeface="Segoe UI Semibold"/>
              </a:rPr>
              <a:t>06</a:t>
            </a:r>
          </a:p>
        </p:txBody>
      </p:sp>
      <p:sp>
        <p:nvSpPr>
          <p:cNvPr id="33" name="TextBox 32"/>
          <p:cNvSpPr txBox="1"/>
          <p:nvPr/>
        </p:nvSpPr>
        <p:spPr>
          <a:xfrm>
            <a:off x="9079992" y="3291840"/>
            <a:ext cx="2468880" cy="548640"/>
          </a:xfrm>
          <a:prstGeom prst="rect">
            <a:avLst/>
          </a:prstGeom>
          <a:noFill/>
        </p:spPr>
        <p:txBody>
          <a:bodyPr wrap="square" lIns="0" tIns="0" rIns="0" bIns="0" anchor="ctr">
            <a:spAutoFit/>
          </a:bodyPr>
          <a:lstStyle/>
          <a:p>
            <a:pPr algn="l">
              <a:lnSpc>
                <a:spcPct val="100000"/>
              </a:lnSpc>
              <a:spcBef>
                <a:spcPts val="0"/>
              </a:spcBef>
              <a:spcAft>
                <a:spcPts val="600"/>
              </a:spcAft>
            </a:pPr>
            <a:r>
              <a:rPr sz="1450" b="1" i="0">
                <a:solidFill>
                  <a:srgbClr val="0F2A47"/>
                </a:solidFill>
                <a:latin typeface="Segoe UI Semibold"/>
              </a:rPr>
              <a:t>Operations &amp; Maintenance</a:t>
            </a:r>
          </a:p>
        </p:txBody>
      </p:sp>
      <p:sp>
        <p:nvSpPr>
          <p:cNvPr id="34" name="TextBox 33"/>
          <p:cNvSpPr txBox="1"/>
          <p:nvPr/>
        </p:nvSpPr>
        <p:spPr>
          <a:xfrm>
            <a:off x="8357616" y="3840480"/>
            <a:ext cx="3154680" cy="685800"/>
          </a:xfrm>
          <a:prstGeom prst="rect">
            <a:avLst/>
          </a:prstGeom>
          <a:noFill/>
        </p:spPr>
        <p:txBody>
          <a:bodyPr wrap="square" lIns="0" tIns="0" rIns="0" bIns="0" anchor="t">
            <a:spAutoFit/>
          </a:bodyPr>
          <a:lstStyle/>
          <a:p>
            <a:pPr algn="l">
              <a:lnSpc>
                <a:spcPct val="108000"/>
              </a:lnSpc>
              <a:spcBef>
                <a:spcPts val="0"/>
              </a:spcBef>
              <a:spcAft>
                <a:spcPts val="600"/>
              </a:spcAft>
            </a:pPr>
            <a:r>
              <a:rPr sz="1150" b="0" i="0">
                <a:solidFill>
                  <a:srgbClr val="5C6B7D"/>
                </a:solidFill>
                <a:latin typeface="Calibri"/>
              </a:rPr>
              <a:t>Error-logging, uptime monitoring, and version-controlled updates.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SECTION 3.4.2</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Flowchart Diagram</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8442655" y="1481328"/>
            <a:ext cx="324612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42655" y="1481328"/>
            <a:ext cx="82296" cy="443484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98687" y="1664208"/>
            <a:ext cx="2788920" cy="36576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KEY POINTS</a:t>
            </a:r>
          </a:p>
        </p:txBody>
      </p:sp>
      <p:sp>
        <p:nvSpPr>
          <p:cNvPr id="14" name="TextBox 13"/>
          <p:cNvSpPr txBox="1"/>
          <p:nvPr/>
        </p:nvSpPr>
        <p:spPr>
          <a:xfrm>
            <a:off x="8698687" y="2121408"/>
            <a:ext cx="2770632" cy="3657600"/>
          </a:xfrm>
          <a:prstGeom prst="rect">
            <a:avLst/>
          </a:prstGeom>
          <a:noFill/>
        </p:spPr>
        <p:txBody>
          <a:bodyPr wrap="square" lIns="0" tIns="0" rIns="0" bIns="0">
            <a:spAutoFit/>
          </a:bodyPr>
          <a:lstStyle/>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Loads config (.env) then the client workbook</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Invalid sheets/columns → safe stop, no emails</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Filters clients expiring within 30 days</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Sends only on 30 / 7 / 1-day milestones</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Skips duplicates via sent_log.json</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MAX_EMAILS_PER_RUN safety cap</a:t>
            </a:r>
          </a:p>
        </p:txBody>
      </p:sp>
      <p:sp>
        <p:nvSpPr>
          <p:cNvPr id="15" name="Rectangle 14"/>
          <p:cNvSpPr/>
          <p:nvPr/>
        </p:nvSpPr>
        <p:spPr>
          <a:xfrm>
            <a:off x="2705250" y="1234440"/>
            <a:ext cx="3246120" cy="4959604"/>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g31_flowchart.png"/>
          <p:cNvPicPr>
            <a:picLocks noChangeAspect="1"/>
          </p:cNvPicPr>
          <p:nvPr/>
        </p:nvPicPr>
        <p:blipFill>
          <a:blip r:embed="rId3"/>
          <a:stretch>
            <a:fillRect/>
          </a:stretch>
        </p:blipFill>
        <p:spPr>
          <a:xfrm>
            <a:off x="2761390" y="1271016"/>
            <a:ext cx="3189980" cy="4914958"/>
          </a:xfrm>
          <a:prstGeom prst="rect">
            <a:avLst/>
          </a:prstGeom>
          <a:ln w="9525">
            <a:solidFill>
              <a:srgbClr val="D5DEE8"/>
            </a:solidFill>
          </a:ln>
        </p:spPr>
      </p:pic>
      <p:sp>
        <p:nvSpPr>
          <p:cNvPr id="17" name="TextBox 16"/>
          <p:cNvSpPr txBox="1"/>
          <p:nvPr/>
        </p:nvSpPr>
        <p:spPr>
          <a:xfrm>
            <a:off x="502920" y="6217920"/>
            <a:ext cx="7665415" cy="365760"/>
          </a:xfrm>
          <a:prstGeom prst="rect">
            <a:avLst/>
          </a:prstGeom>
          <a:noFill/>
        </p:spPr>
        <p:txBody>
          <a:bodyPr wrap="square" lIns="0" tIns="0" rIns="0" bIns="0" anchor="t">
            <a:spAutoFit/>
          </a:bodyPr>
          <a:lstStyle/>
          <a:p>
            <a:pPr algn="ctr">
              <a:lnSpc>
                <a:spcPct val="100000"/>
              </a:lnSpc>
              <a:spcBef>
                <a:spcPts val="0"/>
              </a:spcBef>
              <a:spcAft>
                <a:spcPts val="600"/>
              </a:spcAft>
            </a:pPr>
            <a:r>
              <a:rPr sz="1100" b="0" i="1" dirty="0">
                <a:solidFill>
                  <a:srgbClr val="5C6B7D"/>
                </a:solidFill>
                <a:latin typeface="Calibri"/>
              </a:rPr>
              <a:t>Figure 3.1: Complete System Automation &amp; Runtime Execution Flowchart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SECTION 3.4.3</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Use Case Diagram</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8442655" y="1481328"/>
            <a:ext cx="324612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42655" y="1481328"/>
            <a:ext cx="82296" cy="443484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98687" y="1664208"/>
            <a:ext cx="2788920" cy="36576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KEY POINTS</a:t>
            </a:r>
          </a:p>
        </p:txBody>
      </p:sp>
      <p:sp>
        <p:nvSpPr>
          <p:cNvPr id="14" name="TextBox 13"/>
          <p:cNvSpPr txBox="1"/>
          <p:nvPr/>
        </p:nvSpPr>
        <p:spPr>
          <a:xfrm>
            <a:off x="8698687" y="2121408"/>
            <a:ext cx="2770632" cy="3657600"/>
          </a:xfrm>
          <a:prstGeom prst="rect">
            <a:avLst/>
          </a:prstGeom>
          <a:noFill/>
        </p:spPr>
        <p:txBody>
          <a:bodyPr wrap="square" lIns="0" tIns="0" rIns="0" bIns="0">
            <a:spAutoFit/>
          </a:bodyPr>
          <a:lstStyle/>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System Admin maintains data &amp; configuration</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Task Scheduler triggers the daily run</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"Send Renewal Alert" extends "Trigger Script"</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Only fires when a milestone matches</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Mail Relay (SMTP) is an external actor</a:t>
            </a:r>
          </a:p>
        </p:txBody>
      </p:sp>
      <p:sp>
        <p:nvSpPr>
          <p:cNvPr id="15" name="Rectangle 14"/>
          <p:cNvSpPr/>
          <p:nvPr/>
        </p:nvSpPr>
        <p:spPr>
          <a:xfrm>
            <a:off x="2670931" y="1399032"/>
            <a:ext cx="3329392" cy="432511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g32_usecase.png"/>
          <p:cNvPicPr>
            <a:picLocks noChangeAspect="1"/>
          </p:cNvPicPr>
          <p:nvPr/>
        </p:nvPicPr>
        <p:blipFill>
          <a:blip r:embed="rId3"/>
          <a:stretch>
            <a:fillRect/>
          </a:stretch>
        </p:blipFill>
        <p:spPr>
          <a:xfrm>
            <a:off x="2753227" y="1481328"/>
            <a:ext cx="3164800" cy="4160520"/>
          </a:xfrm>
          <a:prstGeom prst="rect">
            <a:avLst/>
          </a:prstGeom>
          <a:ln w="9525">
            <a:solidFill>
              <a:srgbClr val="D5DEE8"/>
            </a:solidFill>
          </a:ln>
        </p:spPr>
      </p:pic>
      <p:sp>
        <p:nvSpPr>
          <p:cNvPr id="17" name="TextBox 16"/>
          <p:cNvSpPr txBox="1"/>
          <p:nvPr/>
        </p:nvSpPr>
        <p:spPr>
          <a:xfrm>
            <a:off x="502920" y="5742432"/>
            <a:ext cx="7665415" cy="365760"/>
          </a:xfrm>
          <a:prstGeom prst="rect">
            <a:avLst/>
          </a:prstGeom>
          <a:noFill/>
        </p:spPr>
        <p:txBody>
          <a:bodyPr wrap="square" lIns="0" tIns="0" rIns="0" bIns="0" anchor="t">
            <a:spAutoFit/>
          </a:bodyPr>
          <a:lstStyle/>
          <a:p>
            <a:pPr algn="ctr">
              <a:lnSpc>
                <a:spcPct val="100000"/>
              </a:lnSpc>
              <a:spcBef>
                <a:spcPts val="0"/>
              </a:spcBef>
              <a:spcAft>
                <a:spcPts val="600"/>
              </a:spcAft>
            </a:pPr>
            <a:r>
              <a:rPr sz="1100" b="0" i="1">
                <a:solidFill>
                  <a:srgbClr val="5C6B7D"/>
                </a:solidFill>
                <a:latin typeface="Calibri"/>
              </a:rPr>
              <a:t>Figure 3.2: System Functional Requirements &amp; Actor Interactions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SECTION 3.4.4</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Deployment Diagram</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8442655" y="1481328"/>
            <a:ext cx="324612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42655" y="1481328"/>
            <a:ext cx="82296" cy="443484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98687" y="1664208"/>
            <a:ext cx="2788920" cy="36576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KEY POINTS</a:t>
            </a:r>
          </a:p>
        </p:txBody>
      </p:sp>
      <p:sp>
        <p:nvSpPr>
          <p:cNvPr id="14" name="TextBox 13"/>
          <p:cNvSpPr txBox="1"/>
          <p:nvPr/>
        </p:nvSpPr>
        <p:spPr>
          <a:xfrm>
            <a:off x="8698687" y="2121408"/>
            <a:ext cx="2770632" cy="3657600"/>
          </a:xfrm>
          <a:prstGeom prst="rect">
            <a:avLst/>
          </a:prstGeom>
          <a:noFill/>
        </p:spPr>
        <p:txBody>
          <a:bodyPr wrap="square" lIns="0" tIns="0" rIns="0" bIns="0">
            <a:spAutoFit/>
          </a:bodyPr>
          <a:lstStyle/>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Dev workstation pushes code to GitHub</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Production server: Windows Server 2019 + Docker</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Windows container with Python 3.12.10</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Data volume-mounted → editable in Excel</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TLS · port 587 to smtp.office365.com</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Dashed path = manual test runs only</a:t>
            </a:r>
          </a:p>
        </p:txBody>
      </p:sp>
      <p:sp>
        <p:nvSpPr>
          <p:cNvPr id="15" name="Rectangle 14"/>
          <p:cNvSpPr/>
          <p:nvPr/>
        </p:nvSpPr>
        <p:spPr>
          <a:xfrm>
            <a:off x="623131" y="1399032"/>
            <a:ext cx="7424992" cy="432511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g33_deploy.png"/>
          <p:cNvPicPr>
            <a:picLocks noChangeAspect="1"/>
          </p:cNvPicPr>
          <p:nvPr/>
        </p:nvPicPr>
        <p:blipFill>
          <a:blip r:embed="rId3"/>
          <a:stretch>
            <a:fillRect/>
          </a:stretch>
        </p:blipFill>
        <p:spPr>
          <a:xfrm>
            <a:off x="705427" y="1481328"/>
            <a:ext cx="7260400" cy="4160520"/>
          </a:xfrm>
          <a:prstGeom prst="rect">
            <a:avLst/>
          </a:prstGeom>
          <a:ln w="9525">
            <a:solidFill>
              <a:srgbClr val="D5DEE8"/>
            </a:solidFill>
          </a:ln>
        </p:spPr>
      </p:pic>
      <p:sp>
        <p:nvSpPr>
          <p:cNvPr id="17" name="TextBox 16"/>
          <p:cNvSpPr txBox="1"/>
          <p:nvPr/>
        </p:nvSpPr>
        <p:spPr>
          <a:xfrm>
            <a:off x="502920" y="5742432"/>
            <a:ext cx="7665415" cy="365760"/>
          </a:xfrm>
          <a:prstGeom prst="rect">
            <a:avLst/>
          </a:prstGeom>
          <a:noFill/>
        </p:spPr>
        <p:txBody>
          <a:bodyPr wrap="square" lIns="0" tIns="0" rIns="0" bIns="0" anchor="t">
            <a:spAutoFit/>
          </a:bodyPr>
          <a:lstStyle/>
          <a:p>
            <a:pPr algn="ctr">
              <a:lnSpc>
                <a:spcPct val="100000"/>
              </a:lnSpc>
              <a:spcBef>
                <a:spcPts val="0"/>
              </a:spcBef>
              <a:spcAft>
                <a:spcPts val="600"/>
              </a:spcAft>
            </a:pPr>
            <a:r>
              <a:rPr sz="1100" b="0" i="1">
                <a:solidFill>
                  <a:srgbClr val="5C6B7D"/>
                </a:solidFill>
                <a:latin typeface="Calibri"/>
              </a:rPr>
              <a:t>Figure 3.3: Production Deployment Diagram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SECTION 3.4.5</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Component Diagram</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8442655" y="1481328"/>
            <a:ext cx="324612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42655" y="1481328"/>
            <a:ext cx="82296" cy="443484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98687" y="1664208"/>
            <a:ext cx="2788920" cy="36576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KEY POINTS</a:t>
            </a:r>
          </a:p>
        </p:txBody>
      </p:sp>
      <p:sp>
        <p:nvSpPr>
          <p:cNvPr id="14" name="TextBox 13"/>
          <p:cNvSpPr txBox="1"/>
          <p:nvPr/>
        </p:nvSpPr>
        <p:spPr>
          <a:xfrm>
            <a:off x="8698687" y="2121408"/>
            <a:ext cx="2770632" cy="3657600"/>
          </a:xfrm>
          <a:prstGeom prst="rect">
            <a:avLst/>
          </a:prstGeom>
          <a:noFill/>
        </p:spPr>
        <p:txBody>
          <a:bodyPr wrap="square" lIns="0" tIns="0" rIns="0" bIns="0">
            <a:spAutoFit/>
          </a:bodyPr>
          <a:lstStyle/>
          <a:p>
            <a:pPr marL="274320" indent="-237744">
              <a:lnSpc>
                <a:spcPct val="105000"/>
              </a:lnSpc>
              <a:spcBef>
                <a:spcPts val="0"/>
              </a:spcBef>
              <a:spcAft>
                <a:spcPts val="1300"/>
              </a:spcAft>
            </a:pPr>
            <a:r>
              <a:rPr sz="1250" b="1" dirty="0">
                <a:solidFill>
                  <a:srgbClr val="E8821E"/>
                </a:solidFill>
                <a:latin typeface="Calibri"/>
              </a:rPr>
              <a:t>▸  </a:t>
            </a:r>
            <a:r>
              <a:rPr sz="1250" b="0" dirty="0">
                <a:solidFill>
                  <a:srgbClr val="1E2A36"/>
                </a:solidFill>
                <a:latin typeface="Calibri"/>
              </a:rPr>
              <a:t>main.py is the single orchestrator</a:t>
            </a:r>
          </a:p>
          <a:p>
            <a:pPr marL="274320" indent="-237744">
              <a:lnSpc>
                <a:spcPct val="105000"/>
              </a:lnSpc>
              <a:spcBef>
                <a:spcPts val="0"/>
              </a:spcBef>
              <a:spcAft>
                <a:spcPts val="1300"/>
              </a:spcAft>
            </a:pPr>
            <a:r>
              <a:rPr sz="1250" b="1" dirty="0">
                <a:solidFill>
                  <a:srgbClr val="E8821E"/>
                </a:solidFill>
                <a:latin typeface="Calibri"/>
              </a:rPr>
              <a:t>▸  </a:t>
            </a:r>
            <a:r>
              <a:rPr sz="1250" b="0" dirty="0">
                <a:solidFill>
                  <a:srgbClr val="1E2A36"/>
                </a:solidFill>
                <a:latin typeface="Calibri"/>
              </a:rPr>
              <a:t>Six modules, each one clear interface</a:t>
            </a:r>
          </a:p>
          <a:p>
            <a:pPr marL="274320" indent="-237744">
              <a:lnSpc>
                <a:spcPct val="105000"/>
              </a:lnSpc>
              <a:spcBef>
                <a:spcPts val="0"/>
              </a:spcBef>
              <a:spcAft>
                <a:spcPts val="1300"/>
              </a:spcAft>
            </a:pPr>
            <a:r>
              <a:rPr sz="1250" b="1" dirty="0">
                <a:solidFill>
                  <a:srgbClr val="E8821E"/>
                </a:solidFill>
                <a:latin typeface="Calibri"/>
              </a:rPr>
              <a:t>▸  </a:t>
            </a:r>
            <a:r>
              <a:rPr sz="1250" b="0" dirty="0">
                <a:solidFill>
                  <a:srgbClr val="1E2A36"/>
                </a:solidFill>
                <a:latin typeface="Calibri"/>
              </a:rPr>
              <a:t>loader.py uses SHEET_CONFIGS mapping</a:t>
            </a:r>
          </a:p>
          <a:p>
            <a:pPr marL="274320" indent="-237744">
              <a:lnSpc>
                <a:spcPct val="105000"/>
              </a:lnSpc>
              <a:spcBef>
                <a:spcPts val="0"/>
              </a:spcBef>
              <a:spcAft>
                <a:spcPts val="1300"/>
              </a:spcAft>
            </a:pPr>
            <a:r>
              <a:rPr sz="1250" b="1" dirty="0">
                <a:solidFill>
                  <a:srgbClr val="E8821E"/>
                </a:solidFill>
                <a:latin typeface="Calibri"/>
              </a:rPr>
              <a:t>▸  </a:t>
            </a:r>
            <a:r>
              <a:rPr sz="1250" b="0" dirty="0">
                <a:solidFill>
                  <a:srgbClr val="1E2A36"/>
                </a:solidFill>
                <a:latin typeface="Calibri"/>
              </a:rPr>
              <a:t>filterer.py selects due records</a:t>
            </a:r>
          </a:p>
          <a:p>
            <a:pPr marL="274320" indent="-237744">
              <a:lnSpc>
                <a:spcPct val="105000"/>
              </a:lnSpc>
              <a:spcBef>
                <a:spcPts val="0"/>
              </a:spcBef>
              <a:spcAft>
                <a:spcPts val="1300"/>
              </a:spcAft>
            </a:pPr>
            <a:r>
              <a:rPr sz="1250" b="1" dirty="0">
                <a:solidFill>
                  <a:srgbClr val="E8821E"/>
                </a:solidFill>
                <a:latin typeface="Calibri"/>
              </a:rPr>
              <a:t>▸  </a:t>
            </a:r>
            <a:r>
              <a:rPr sz="1250" b="0" dirty="0">
                <a:solidFill>
                  <a:srgbClr val="1E2A36"/>
                </a:solidFill>
                <a:latin typeface="Calibri"/>
              </a:rPr>
              <a:t>emailer.py sends with retry support</a:t>
            </a:r>
          </a:p>
          <a:p>
            <a:pPr marL="274320" indent="-237744">
              <a:lnSpc>
                <a:spcPct val="105000"/>
              </a:lnSpc>
              <a:spcBef>
                <a:spcPts val="0"/>
              </a:spcBef>
              <a:spcAft>
                <a:spcPts val="1300"/>
              </a:spcAft>
            </a:pPr>
            <a:r>
              <a:rPr sz="1250" b="1" dirty="0">
                <a:solidFill>
                  <a:srgbClr val="E8821E"/>
                </a:solidFill>
                <a:latin typeface="Calibri"/>
              </a:rPr>
              <a:t>▸  </a:t>
            </a:r>
            <a:r>
              <a:rPr sz="1250" b="0" dirty="0">
                <a:solidFill>
                  <a:srgbClr val="1E2A36"/>
                </a:solidFill>
                <a:latin typeface="Calibri"/>
              </a:rPr>
              <a:t>sentlog.py prevents duplicates</a:t>
            </a:r>
          </a:p>
        </p:txBody>
      </p:sp>
      <p:sp>
        <p:nvSpPr>
          <p:cNvPr id="15" name="Rectangle 14"/>
          <p:cNvSpPr/>
          <p:nvPr/>
        </p:nvSpPr>
        <p:spPr>
          <a:xfrm>
            <a:off x="1663225" y="1399032"/>
            <a:ext cx="5344805" cy="432511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g34_component.png"/>
          <p:cNvPicPr>
            <a:picLocks noChangeAspect="1"/>
          </p:cNvPicPr>
          <p:nvPr/>
        </p:nvPicPr>
        <p:blipFill>
          <a:blip r:embed="rId3"/>
          <a:stretch>
            <a:fillRect/>
          </a:stretch>
        </p:blipFill>
        <p:spPr>
          <a:xfrm>
            <a:off x="1745521" y="1481328"/>
            <a:ext cx="5180213" cy="4160520"/>
          </a:xfrm>
          <a:prstGeom prst="rect">
            <a:avLst/>
          </a:prstGeom>
          <a:ln w="9525">
            <a:solidFill>
              <a:srgbClr val="D5DEE8"/>
            </a:solidFill>
          </a:ln>
        </p:spPr>
      </p:pic>
      <p:sp>
        <p:nvSpPr>
          <p:cNvPr id="17" name="TextBox 16"/>
          <p:cNvSpPr txBox="1"/>
          <p:nvPr/>
        </p:nvSpPr>
        <p:spPr>
          <a:xfrm>
            <a:off x="502920" y="5742432"/>
            <a:ext cx="7665415" cy="365760"/>
          </a:xfrm>
          <a:prstGeom prst="rect">
            <a:avLst/>
          </a:prstGeom>
          <a:noFill/>
        </p:spPr>
        <p:txBody>
          <a:bodyPr wrap="square" lIns="0" tIns="0" rIns="0" bIns="0" anchor="t">
            <a:spAutoFit/>
          </a:bodyPr>
          <a:lstStyle/>
          <a:p>
            <a:pPr algn="ctr">
              <a:lnSpc>
                <a:spcPct val="100000"/>
              </a:lnSpc>
              <a:spcBef>
                <a:spcPts val="0"/>
              </a:spcBef>
              <a:spcAft>
                <a:spcPts val="600"/>
              </a:spcAft>
            </a:pPr>
            <a:r>
              <a:rPr sz="1100" b="0" i="1">
                <a:solidFill>
                  <a:srgbClr val="5C6B7D"/>
                </a:solidFill>
                <a:latin typeface="Calibri"/>
              </a:rPr>
              <a:t>Figure 3.4: UML Component Diagram of the Source Modules (src/)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SECTION 3.4.6</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Sequence Diagram</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8442655" y="1481328"/>
            <a:ext cx="324612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a:xfrm>
            <a:off x="8442655" y="1481328"/>
            <a:ext cx="82296" cy="443484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98687" y="1664208"/>
            <a:ext cx="2788920" cy="36576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KEY POINTS</a:t>
            </a:r>
          </a:p>
        </p:txBody>
      </p:sp>
      <p:sp>
        <p:nvSpPr>
          <p:cNvPr id="14" name="TextBox 13"/>
          <p:cNvSpPr txBox="1"/>
          <p:nvPr/>
        </p:nvSpPr>
        <p:spPr>
          <a:xfrm>
            <a:off x="8698687" y="2121408"/>
            <a:ext cx="2770632" cy="3657600"/>
          </a:xfrm>
          <a:prstGeom prst="rect">
            <a:avLst/>
          </a:prstGeom>
          <a:noFill/>
        </p:spPr>
        <p:txBody>
          <a:bodyPr wrap="square" lIns="0" tIns="0" rIns="0" bIns="0">
            <a:spAutoFit/>
          </a:bodyPr>
          <a:lstStyle/>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Traces one full daily run end-to-end</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loop: every candidate is checked first</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alt: skip if not due / already sent / capped</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emailer.py retries up to retry_max times</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sent_log updated only on success</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report.py writes the run summary</a:t>
            </a:r>
          </a:p>
        </p:txBody>
      </p:sp>
      <p:sp>
        <p:nvSpPr>
          <p:cNvPr id="15" name="Rectangle 14"/>
          <p:cNvSpPr/>
          <p:nvPr/>
        </p:nvSpPr>
        <p:spPr>
          <a:xfrm>
            <a:off x="420624" y="1536359"/>
            <a:ext cx="7830007" cy="4050457"/>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g35_sequence.png"/>
          <p:cNvPicPr>
            <a:picLocks noChangeAspect="1"/>
          </p:cNvPicPr>
          <p:nvPr/>
        </p:nvPicPr>
        <p:blipFill>
          <a:blip r:embed="rId3"/>
          <a:stretch>
            <a:fillRect/>
          </a:stretch>
        </p:blipFill>
        <p:spPr>
          <a:xfrm>
            <a:off x="505172" y="1609344"/>
            <a:ext cx="7827755" cy="3968161"/>
          </a:xfrm>
          <a:prstGeom prst="rect">
            <a:avLst/>
          </a:prstGeom>
          <a:ln w="9525">
            <a:solidFill>
              <a:srgbClr val="D5DEE8"/>
            </a:solidFill>
          </a:ln>
        </p:spPr>
      </p:pic>
      <p:sp>
        <p:nvSpPr>
          <p:cNvPr id="17" name="TextBox 16"/>
          <p:cNvSpPr txBox="1"/>
          <p:nvPr/>
        </p:nvSpPr>
        <p:spPr>
          <a:xfrm>
            <a:off x="502920" y="5742432"/>
            <a:ext cx="7665415" cy="365760"/>
          </a:xfrm>
          <a:prstGeom prst="rect">
            <a:avLst/>
          </a:prstGeom>
          <a:noFill/>
        </p:spPr>
        <p:txBody>
          <a:bodyPr wrap="square" lIns="0" tIns="0" rIns="0" bIns="0" anchor="t">
            <a:spAutoFit/>
          </a:bodyPr>
          <a:lstStyle/>
          <a:p>
            <a:pPr algn="ctr">
              <a:lnSpc>
                <a:spcPct val="100000"/>
              </a:lnSpc>
              <a:spcBef>
                <a:spcPts val="0"/>
              </a:spcBef>
              <a:spcAft>
                <a:spcPts val="600"/>
              </a:spcAft>
            </a:pPr>
            <a:r>
              <a:rPr sz="1100" b="0" i="1">
                <a:solidFill>
                  <a:srgbClr val="5C6B7D"/>
                </a:solidFill>
                <a:latin typeface="Calibri"/>
              </a:rPr>
              <a:t>Figure 3.5: Sequence Diagram of a Single Daily Reminder Run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SECTION 3.4.7</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Main Project Interface</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754453" y="1380744"/>
            <a:ext cx="5349094" cy="450799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fig36_email.png"/>
          <p:cNvPicPr>
            <a:picLocks noChangeAspect="1"/>
          </p:cNvPicPr>
          <p:nvPr/>
        </p:nvPicPr>
        <p:blipFill>
          <a:blip r:embed="rId3"/>
          <a:stretch>
            <a:fillRect/>
          </a:stretch>
        </p:blipFill>
        <p:spPr>
          <a:xfrm>
            <a:off x="836749" y="1463040"/>
            <a:ext cx="5184502" cy="4343400"/>
          </a:xfrm>
          <a:prstGeom prst="rect">
            <a:avLst/>
          </a:prstGeom>
          <a:ln w="9525">
            <a:solidFill>
              <a:srgbClr val="D5DEE8"/>
            </a:solidFill>
          </a:ln>
        </p:spPr>
      </p:pic>
      <p:sp>
        <p:nvSpPr>
          <p:cNvPr id="13" name="TextBox 12"/>
          <p:cNvSpPr txBox="1"/>
          <p:nvPr/>
        </p:nvSpPr>
        <p:spPr>
          <a:xfrm>
            <a:off x="502920" y="5870448"/>
            <a:ext cx="5852160" cy="320040"/>
          </a:xfrm>
          <a:prstGeom prst="rect">
            <a:avLst/>
          </a:prstGeom>
          <a:noFill/>
        </p:spPr>
        <p:txBody>
          <a:bodyPr wrap="square" lIns="0" tIns="0" rIns="0" bIns="0" anchor="t">
            <a:spAutoFit/>
          </a:bodyPr>
          <a:lstStyle/>
          <a:p>
            <a:pPr algn="ctr">
              <a:lnSpc>
                <a:spcPct val="100000"/>
              </a:lnSpc>
              <a:spcBef>
                <a:spcPts val="0"/>
              </a:spcBef>
              <a:spcAft>
                <a:spcPts val="600"/>
              </a:spcAft>
            </a:pPr>
            <a:r>
              <a:rPr sz="1100" b="0" i="1">
                <a:solidFill>
                  <a:srgbClr val="5C6B7D"/>
                </a:solidFill>
                <a:latin typeface="Calibri"/>
              </a:rPr>
              <a:t>Figure 3.6: HTML Structure of the Reminder Email Template</a:t>
            </a:r>
          </a:p>
        </p:txBody>
      </p:sp>
      <p:sp>
        <p:nvSpPr>
          <p:cNvPr id="14" name="TextBox 13"/>
          <p:cNvSpPr txBox="1"/>
          <p:nvPr/>
        </p:nvSpPr>
        <p:spPr>
          <a:xfrm>
            <a:off x="6720840" y="1554480"/>
            <a:ext cx="4937760" cy="457200"/>
          </a:xfrm>
          <a:prstGeom prst="rect">
            <a:avLst/>
          </a:prstGeom>
          <a:noFill/>
        </p:spPr>
        <p:txBody>
          <a:bodyPr wrap="square" lIns="0" tIns="0" rIns="0" bIns="0" anchor="t">
            <a:spAutoFit/>
          </a:bodyPr>
          <a:lstStyle/>
          <a:p>
            <a:pPr algn="l">
              <a:lnSpc>
                <a:spcPct val="100000"/>
              </a:lnSpc>
              <a:spcBef>
                <a:spcPts val="0"/>
              </a:spcBef>
              <a:spcAft>
                <a:spcPts val="600"/>
              </a:spcAft>
            </a:pPr>
            <a:r>
              <a:rPr sz="1900" b="1" i="0" dirty="0">
                <a:solidFill>
                  <a:srgbClr val="0F2A47"/>
                </a:solidFill>
                <a:latin typeface="Segoe UI Semibold"/>
              </a:rPr>
              <a:t>Dynamic HTML Email</a:t>
            </a:r>
          </a:p>
        </p:txBody>
      </p:sp>
      <p:sp>
        <p:nvSpPr>
          <p:cNvPr id="15" name="TextBox 14"/>
          <p:cNvSpPr txBox="1"/>
          <p:nvPr/>
        </p:nvSpPr>
        <p:spPr>
          <a:xfrm>
            <a:off x="6720840" y="2057400"/>
            <a:ext cx="4937760" cy="914400"/>
          </a:xfrm>
          <a:prstGeom prst="rect">
            <a:avLst/>
          </a:prstGeom>
          <a:noFill/>
        </p:spPr>
        <p:txBody>
          <a:bodyPr wrap="square" lIns="0" tIns="0" rIns="0" bIns="0" anchor="t">
            <a:spAutoFit/>
          </a:bodyPr>
          <a:lstStyle/>
          <a:p>
            <a:pPr algn="l">
              <a:lnSpc>
                <a:spcPct val="112000"/>
              </a:lnSpc>
              <a:spcBef>
                <a:spcPts val="0"/>
              </a:spcBef>
              <a:spcAft>
                <a:spcPts val="600"/>
              </a:spcAft>
            </a:pPr>
            <a:r>
              <a:rPr sz="1350" b="0" i="0">
                <a:solidFill>
                  <a:srgbClr val="1E2A36"/>
                </a:solidFill>
                <a:latin typeface="Calibri"/>
              </a:rPr>
              <a:t>The user-facing output is a branded HTML email generated fresh for each client, using placeholder tags replaced at runtime:</a:t>
            </a:r>
          </a:p>
        </p:txBody>
      </p:sp>
      <p:sp>
        <p:nvSpPr>
          <p:cNvPr id="16" name="Rectangle 15"/>
          <p:cNvSpPr/>
          <p:nvPr/>
        </p:nvSpPr>
        <p:spPr>
          <a:xfrm>
            <a:off x="6720840" y="3200400"/>
            <a:ext cx="4937760" cy="5669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03720" y="3282696"/>
            <a:ext cx="2468880" cy="402336"/>
          </a:xfrm>
          <a:prstGeom prst="rect">
            <a:avLst/>
          </a:prstGeom>
          <a:noFill/>
        </p:spPr>
        <p:txBody>
          <a:bodyPr wrap="square" lIns="0" tIns="0" rIns="0" bIns="0" anchor="ctr">
            <a:spAutoFit/>
          </a:bodyPr>
          <a:lstStyle/>
          <a:p>
            <a:pPr algn="l">
              <a:lnSpc>
                <a:spcPct val="100000"/>
              </a:lnSpc>
              <a:spcBef>
                <a:spcPts val="0"/>
              </a:spcBef>
              <a:spcAft>
                <a:spcPts val="600"/>
              </a:spcAft>
            </a:pPr>
            <a:r>
              <a:rPr sz="1250" b="1" i="0">
                <a:solidFill>
                  <a:srgbClr val="2E6BB0"/>
                </a:solidFill>
                <a:latin typeface="Consolas"/>
              </a:rPr>
              <a:t>{esc(product)}</a:t>
            </a:r>
          </a:p>
        </p:txBody>
      </p:sp>
      <p:sp>
        <p:nvSpPr>
          <p:cNvPr id="18" name="TextBox 17"/>
          <p:cNvSpPr txBox="1"/>
          <p:nvPr/>
        </p:nvSpPr>
        <p:spPr>
          <a:xfrm>
            <a:off x="9326880" y="3282696"/>
            <a:ext cx="2286000" cy="402336"/>
          </a:xfrm>
          <a:prstGeom prst="rect">
            <a:avLst/>
          </a:prstGeom>
          <a:noFill/>
        </p:spPr>
        <p:txBody>
          <a:bodyPr wrap="square" lIns="0" tIns="0" rIns="0" bIns="0" anchor="ctr">
            <a:spAutoFit/>
          </a:bodyPr>
          <a:lstStyle/>
          <a:p>
            <a:pPr algn="l">
              <a:lnSpc>
                <a:spcPct val="100000"/>
              </a:lnSpc>
              <a:spcBef>
                <a:spcPts val="0"/>
              </a:spcBef>
              <a:spcAft>
                <a:spcPts val="600"/>
              </a:spcAft>
            </a:pPr>
            <a:r>
              <a:rPr sz="1150" b="0" i="0">
                <a:solidFill>
                  <a:srgbClr val="5C6B7D"/>
                </a:solidFill>
                <a:latin typeface="Calibri"/>
              </a:rPr>
              <a:t>Product name</a:t>
            </a:r>
          </a:p>
        </p:txBody>
      </p:sp>
      <p:sp>
        <p:nvSpPr>
          <p:cNvPr id="19" name="Rectangle 18"/>
          <p:cNvSpPr/>
          <p:nvPr/>
        </p:nvSpPr>
        <p:spPr>
          <a:xfrm>
            <a:off x="6720840" y="3858768"/>
            <a:ext cx="4937760" cy="5669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03720" y="3941064"/>
            <a:ext cx="2468880" cy="402336"/>
          </a:xfrm>
          <a:prstGeom prst="rect">
            <a:avLst/>
          </a:prstGeom>
          <a:noFill/>
        </p:spPr>
        <p:txBody>
          <a:bodyPr wrap="square" lIns="0" tIns="0" rIns="0" bIns="0" anchor="ctr">
            <a:spAutoFit/>
          </a:bodyPr>
          <a:lstStyle/>
          <a:p>
            <a:pPr algn="l">
              <a:lnSpc>
                <a:spcPct val="100000"/>
              </a:lnSpc>
              <a:spcBef>
                <a:spcPts val="0"/>
              </a:spcBef>
              <a:spcAft>
                <a:spcPts val="600"/>
              </a:spcAft>
            </a:pPr>
            <a:r>
              <a:rPr sz="1250" b="1" i="0">
                <a:solidFill>
                  <a:srgbClr val="2E6BB0"/>
                </a:solidFill>
                <a:latin typeface="Consolas"/>
              </a:rPr>
              <a:t>{stage_days}</a:t>
            </a:r>
          </a:p>
        </p:txBody>
      </p:sp>
      <p:sp>
        <p:nvSpPr>
          <p:cNvPr id="21" name="TextBox 20"/>
          <p:cNvSpPr txBox="1"/>
          <p:nvPr/>
        </p:nvSpPr>
        <p:spPr>
          <a:xfrm>
            <a:off x="9326880" y="3941064"/>
            <a:ext cx="2286000" cy="402336"/>
          </a:xfrm>
          <a:prstGeom prst="rect">
            <a:avLst/>
          </a:prstGeom>
          <a:noFill/>
        </p:spPr>
        <p:txBody>
          <a:bodyPr wrap="square" lIns="0" tIns="0" rIns="0" bIns="0" anchor="ctr">
            <a:spAutoFit/>
          </a:bodyPr>
          <a:lstStyle/>
          <a:p>
            <a:pPr algn="l">
              <a:lnSpc>
                <a:spcPct val="100000"/>
              </a:lnSpc>
              <a:spcBef>
                <a:spcPts val="0"/>
              </a:spcBef>
              <a:spcAft>
                <a:spcPts val="600"/>
              </a:spcAft>
            </a:pPr>
            <a:r>
              <a:rPr sz="1150" b="0" i="0">
                <a:solidFill>
                  <a:srgbClr val="5C6B7D"/>
                </a:solidFill>
                <a:latin typeface="Calibri"/>
              </a:rPr>
              <a:t>Milestone (30 / 7 / 1)</a:t>
            </a:r>
          </a:p>
        </p:txBody>
      </p:sp>
      <p:sp>
        <p:nvSpPr>
          <p:cNvPr id="22" name="Rectangle 21"/>
          <p:cNvSpPr/>
          <p:nvPr/>
        </p:nvSpPr>
        <p:spPr>
          <a:xfrm>
            <a:off x="6720840" y="4517136"/>
            <a:ext cx="4937760" cy="5669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03720" y="4599432"/>
            <a:ext cx="2468880" cy="402336"/>
          </a:xfrm>
          <a:prstGeom prst="rect">
            <a:avLst/>
          </a:prstGeom>
          <a:noFill/>
        </p:spPr>
        <p:txBody>
          <a:bodyPr wrap="square" lIns="0" tIns="0" rIns="0" bIns="0" anchor="ctr">
            <a:spAutoFit/>
          </a:bodyPr>
          <a:lstStyle/>
          <a:p>
            <a:pPr algn="l">
              <a:lnSpc>
                <a:spcPct val="100000"/>
              </a:lnSpc>
              <a:spcBef>
                <a:spcPts val="0"/>
              </a:spcBef>
              <a:spcAft>
                <a:spcPts val="600"/>
              </a:spcAft>
            </a:pPr>
            <a:r>
              <a:rPr sz="1250" b="1" i="0">
                <a:solidFill>
                  <a:srgbClr val="2E6BB0"/>
                </a:solidFill>
                <a:latin typeface="Consolas"/>
              </a:rPr>
              <a:t>{formatted_date}</a:t>
            </a:r>
          </a:p>
        </p:txBody>
      </p:sp>
      <p:sp>
        <p:nvSpPr>
          <p:cNvPr id="24" name="TextBox 23"/>
          <p:cNvSpPr txBox="1"/>
          <p:nvPr/>
        </p:nvSpPr>
        <p:spPr>
          <a:xfrm>
            <a:off x="9326880" y="4599432"/>
            <a:ext cx="2286000" cy="402336"/>
          </a:xfrm>
          <a:prstGeom prst="rect">
            <a:avLst/>
          </a:prstGeom>
          <a:noFill/>
        </p:spPr>
        <p:txBody>
          <a:bodyPr wrap="square" lIns="0" tIns="0" rIns="0" bIns="0" anchor="ctr">
            <a:spAutoFit/>
          </a:bodyPr>
          <a:lstStyle/>
          <a:p>
            <a:pPr algn="l">
              <a:lnSpc>
                <a:spcPct val="100000"/>
              </a:lnSpc>
              <a:spcBef>
                <a:spcPts val="0"/>
              </a:spcBef>
              <a:spcAft>
                <a:spcPts val="600"/>
              </a:spcAft>
            </a:pPr>
            <a:r>
              <a:rPr sz="1150" b="0" i="0">
                <a:solidFill>
                  <a:srgbClr val="5C6B7D"/>
                </a:solidFill>
                <a:latin typeface="Calibri"/>
              </a:rPr>
              <a:t>Client's expiry date</a:t>
            </a:r>
          </a:p>
        </p:txBody>
      </p:sp>
      <p:sp>
        <p:nvSpPr>
          <p:cNvPr id="25" name="Rectangle 24"/>
          <p:cNvSpPr/>
          <p:nvPr/>
        </p:nvSpPr>
        <p:spPr>
          <a:xfrm>
            <a:off x="6720840" y="5175504"/>
            <a:ext cx="4937760" cy="5669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03720" y="5257800"/>
            <a:ext cx="2468880" cy="402336"/>
          </a:xfrm>
          <a:prstGeom prst="rect">
            <a:avLst/>
          </a:prstGeom>
          <a:noFill/>
        </p:spPr>
        <p:txBody>
          <a:bodyPr wrap="square" lIns="0" tIns="0" rIns="0" bIns="0" anchor="ctr">
            <a:spAutoFit/>
          </a:bodyPr>
          <a:lstStyle/>
          <a:p>
            <a:pPr algn="l">
              <a:lnSpc>
                <a:spcPct val="100000"/>
              </a:lnSpc>
              <a:spcBef>
                <a:spcPts val="0"/>
              </a:spcBef>
              <a:spcAft>
                <a:spcPts val="600"/>
              </a:spcAft>
            </a:pPr>
            <a:r>
              <a:rPr sz="1250" b="1" i="0">
                <a:solidFill>
                  <a:srgbClr val="2E6BB0"/>
                </a:solidFill>
                <a:latin typeface="Consolas"/>
              </a:rPr>
              <a:t>{detail_rows_html}</a:t>
            </a:r>
          </a:p>
        </p:txBody>
      </p:sp>
      <p:sp>
        <p:nvSpPr>
          <p:cNvPr id="27" name="TextBox 26"/>
          <p:cNvSpPr txBox="1"/>
          <p:nvPr/>
        </p:nvSpPr>
        <p:spPr>
          <a:xfrm>
            <a:off x="9326880" y="5257800"/>
            <a:ext cx="2286000" cy="402336"/>
          </a:xfrm>
          <a:prstGeom prst="rect">
            <a:avLst/>
          </a:prstGeom>
          <a:noFill/>
        </p:spPr>
        <p:txBody>
          <a:bodyPr wrap="square" lIns="0" tIns="0" rIns="0" bIns="0" anchor="ctr">
            <a:spAutoFit/>
          </a:bodyPr>
          <a:lstStyle/>
          <a:p>
            <a:pPr algn="l">
              <a:lnSpc>
                <a:spcPct val="100000"/>
              </a:lnSpc>
              <a:spcBef>
                <a:spcPts val="0"/>
              </a:spcBef>
              <a:spcAft>
                <a:spcPts val="600"/>
              </a:spcAft>
            </a:pPr>
            <a:r>
              <a:rPr sz="1150" b="0" i="0">
                <a:solidFill>
                  <a:srgbClr val="5C6B7D"/>
                </a:solidFill>
                <a:latin typeface="Calibri"/>
              </a:rPr>
              <a:t>Company · Contact · Email · Phone</a:t>
            </a:r>
          </a:p>
        </p:txBody>
      </p:sp>
      <p:sp>
        <p:nvSpPr>
          <p:cNvPr id="28" name="TextBox 27"/>
          <p:cNvSpPr txBox="1"/>
          <p:nvPr/>
        </p:nvSpPr>
        <p:spPr>
          <a:xfrm>
            <a:off x="6720840" y="5870448"/>
            <a:ext cx="4937760" cy="457200"/>
          </a:xfrm>
          <a:prstGeom prst="rect">
            <a:avLst/>
          </a:prstGeom>
          <a:noFill/>
        </p:spPr>
        <p:txBody>
          <a:bodyPr wrap="square" lIns="0" tIns="0" rIns="0" bIns="0" anchor="t">
            <a:spAutoFit/>
          </a:bodyPr>
          <a:lstStyle/>
          <a:p>
            <a:pPr algn="l">
              <a:lnSpc>
                <a:spcPct val="105000"/>
              </a:lnSpc>
              <a:spcBef>
                <a:spcPts val="0"/>
              </a:spcBef>
              <a:spcAft>
                <a:spcPts val="600"/>
              </a:spcAft>
            </a:pPr>
            <a:r>
              <a:rPr sz="1150" b="0" i="1">
                <a:solidFill>
                  <a:srgbClr val="5C6B7D"/>
                </a:solidFill>
                <a:latin typeface="Calibri"/>
              </a:rPr>
              <a:t>The esc() wrapper sanitizes every value, protecting the email from malformed HTML.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4 · TASK A</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Website Revamp — Muzium Petaling Jaya</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TextBox 10"/>
          <p:cNvSpPr txBox="1"/>
          <p:nvPr/>
        </p:nvSpPr>
        <p:spPr>
          <a:xfrm>
            <a:off x="548640" y="1417320"/>
            <a:ext cx="4754880" cy="1371600"/>
          </a:xfrm>
          <a:prstGeom prst="rect">
            <a:avLst/>
          </a:prstGeom>
          <a:noFill/>
        </p:spPr>
        <p:txBody>
          <a:bodyPr wrap="square" lIns="0" tIns="0" rIns="0" bIns="0" anchor="t">
            <a:spAutoFit/>
          </a:bodyPr>
          <a:lstStyle/>
          <a:p>
            <a:pPr algn="l">
              <a:lnSpc>
                <a:spcPct val="114000"/>
              </a:lnSpc>
              <a:spcBef>
                <a:spcPts val="0"/>
              </a:spcBef>
              <a:spcAft>
                <a:spcPts val="600"/>
              </a:spcAft>
            </a:pPr>
            <a:r>
              <a:rPr sz="1350" b="0" i="0">
                <a:solidFill>
                  <a:srgbClr val="1E2A36"/>
                </a:solidFill>
                <a:latin typeface="Calibri"/>
              </a:rPr>
              <a:t>Revamped the museum's outdated, non-responsive website into a clean, modern, mobile-friendly site using the Joomla CMS and a visual page builder.</a:t>
            </a:r>
          </a:p>
        </p:txBody>
      </p:sp>
      <p:sp>
        <p:nvSpPr>
          <p:cNvPr id="12" name="TextBox 11"/>
          <p:cNvSpPr txBox="1"/>
          <p:nvPr/>
        </p:nvSpPr>
        <p:spPr>
          <a:xfrm>
            <a:off x="548640" y="2926080"/>
            <a:ext cx="4754880" cy="32004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TOOLS USED</a:t>
            </a:r>
          </a:p>
        </p:txBody>
      </p:sp>
      <p:sp>
        <p:nvSpPr>
          <p:cNvPr id="13" name="TextBox 12"/>
          <p:cNvSpPr txBox="1"/>
          <p:nvPr/>
        </p:nvSpPr>
        <p:spPr>
          <a:xfrm>
            <a:off x="548640" y="3291840"/>
            <a:ext cx="4754880" cy="2377440"/>
          </a:xfrm>
          <a:prstGeom prst="rect">
            <a:avLst/>
          </a:prstGeom>
          <a:noFill/>
        </p:spPr>
        <p:txBody>
          <a:bodyPr wrap="square" lIns="0" tIns="0" rIns="0" bIns="0">
            <a:spAutoFit/>
          </a:bodyPr>
          <a:lstStyle/>
          <a:p>
            <a:pPr marL="274320" indent="-237744">
              <a:lnSpc>
                <a:spcPct val="105000"/>
              </a:lnSpc>
              <a:spcBef>
                <a:spcPts val="0"/>
              </a:spcBef>
              <a:spcAft>
                <a:spcPts val="1300"/>
              </a:spcAft>
            </a:pPr>
            <a:r>
              <a:rPr sz="1350" b="1">
                <a:solidFill>
                  <a:srgbClr val="E8821E"/>
                </a:solidFill>
                <a:latin typeface="Calibri"/>
              </a:rPr>
              <a:t>▸  </a:t>
            </a:r>
            <a:r>
              <a:rPr sz="1350" b="0">
                <a:solidFill>
                  <a:srgbClr val="1E2A36"/>
                </a:solidFill>
                <a:latin typeface="Calibri"/>
              </a:rPr>
              <a:t>Joomla CMS</a:t>
            </a:r>
          </a:p>
          <a:p>
            <a:pPr marL="274320" indent="-237744">
              <a:lnSpc>
                <a:spcPct val="105000"/>
              </a:lnSpc>
              <a:spcBef>
                <a:spcPts val="0"/>
              </a:spcBef>
              <a:spcAft>
                <a:spcPts val="1300"/>
              </a:spcAft>
            </a:pPr>
            <a:r>
              <a:rPr sz="1350" b="1">
                <a:solidFill>
                  <a:srgbClr val="E8821E"/>
                </a:solidFill>
                <a:latin typeface="Calibri"/>
              </a:rPr>
              <a:t>▸  </a:t>
            </a:r>
            <a:r>
              <a:rPr sz="1350" b="0">
                <a:solidFill>
                  <a:srgbClr val="1E2A36"/>
                </a:solidFill>
                <a:latin typeface="Calibri"/>
              </a:rPr>
              <a:t>SP Page Builder (Newsberg template)</a:t>
            </a:r>
          </a:p>
          <a:p>
            <a:pPr marL="274320" indent="-237744">
              <a:lnSpc>
                <a:spcPct val="105000"/>
              </a:lnSpc>
              <a:spcBef>
                <a:spcPts val="0"/>
              </a:spcBef>
              <a:spcAft>
                <a:spcPts val="1300"/>
              </a:spcAft>
            </a:pPr>
            <a:r>
              <a:rPr sz="1350" b="1">
                <a:solidFill>
                  <a:srgbClr val="E8821E"/>
                </a:solidFill>
                <a:latin typeface="Calibri"/>
              </a:rPr>
              <a:t>▸  </a:t>
            </a:r>
            <a:r>
              <a:rPr sz="1350" b="0">
                <a:solidFill>
                  <a:srgbClr val="1E2A36"/>
                </a:solidFill>
                <a:latin typeface="Calibri"/>
              </a:rPr>
              <a:t>HTML5 &amp; custom CSS styling</a:t>
            </a:r>
          </a:p>
          <a:p>
            <a:pPr marL="274320" indent="-237744">
              <a:lnSpc>
                <a:spcPct val="105000"/>
              </a:lnSpc>
              <a:spcBef>
                <a:spcPts val="0"/>
              </a:spcBef>
              <a:spcAft>
                <a:spcPts val="1300"/>
              </a:spcAft>
            </a:pPr>
            <a:r>
              <a:rPr sz="1350" b="1">
                <a:solidFill>
                  <a:srgbClr val="E8821E"/>
                </a:solidFill>
                <a:latin typeface="Calibri"/>
              </a:rPr>
              <a:t>▸  </a:t>
            </a:r>
            <a:r>
              <a:rPr sz="1350" b="0">
                <a:solidFill>
                  <a:srgbClr val="1E2A36"/>
                </a:solidFill>
                <a:latin typeface="Calibri"/>
              </a:rPr>
              <a:t>Responsive design for mobile &amp; tablet</a:t>
            </a:r>
          </a:p>
        </p:txBody>
      </p:sp>
      <p:sp>
        <p:nvSpPr>
          <p:cNvPr id="14" name="Rectangle 13"/>
          <p:cNvSpPr/>
          <p:nvPr/>
        </p:nvSpPr>
        <p:spPr>
          <a:xfrm>
            <a:off x="5912631" y="1380744"/>
            <a:ext cx="2393657" cy="235915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g43_homepage.png"/>
          <p:cNvPicPr>
            <a:picLocks noChangeAspect="1"/>
          </p:cNvPicPr>
          <p:nvPr/>
        </p:nvPicPr>
        <p:blipFill>
          <a:blip r:embed="rId3"/>
          <a:stretch>
            <a:fillRect/>
          </a:stretch>
        </p:blipFill>
        <p:spPr>
          <a:xfrm>
            <a:off x="5994927" y="1463040"/>
            <a:ext cx="2229065" cy="2194560"/>
          </a:xfrm>
          <a:prstGeom prst="rect">
            <a:avLst/>
          </a:prstGeom>
          <a:ln w="9525">
            <a:solidFill>
              <a:srgbClr val="D5DEE8"/>
            </a:solidFill>
          </a:ln>
        </p:spPr>
      </p:pic>
      <p:sp>
        <p:nvSpPr>
          <p:cNvPr id="16" name="TextBox 15"/>
          <p:cNvSpPr txBox="1"/>
          <p:nvPr/>
        </p:nvSpPr>
        <p:spPr>
          <a:xfrm>
            <a:off x="5513832" y="3794154"/>
            <a:ext cx="3063240" cy="274320"/>
          </a:xfrm>
          <a:prstGeom prst="rect">
            <a:avLst/>
          </a:prstGeom>
          <a:noFill/>
        </p:spPr>
        <p:txBody>
          <a:bodyPr wrap="square" lIns="0" tIns="0" rIns="0" bIns="0" anchor="t">
            <a:spAutoFit/>
          </a:bodyPr>
          <a:lstStyle/>
          <a:p>
            <a:pPr algn="ctr">
              <a:lnSpc>
                <a:spcPct val="100000"/>
              </a:lnSpc>
              <a:spcBef>
                <a:spcPts val="0"/>
              </a:spcBef>
              <a:spcAft>
                <a:spcPts val="600"/>
              </a:spcAft>
            </a:pPr>
            <a:r>
              <a:rPr sz="950" b="0" i="1" dirty="0">
                <a:solidFill>
                  <a:srgbClr val="5C6B7D"/>
                </a:solidFill>
                <a:latin typeface="Calibri"/>
              </a:rPr>
              <a:t>Fig 4.3: Revamped homepage</a:t>
            </a:r>
          </a:p>
        </p:txBody>
      </p:sp>
      <p:sp>
        <p:nvSpPr>
          <p:cNvPr id="17" name="Rectangle 16"/>
          <p:cNvSpPr/>
          <p:nvPr/>
        </p:nvSpPr>
        <p:spPr>
          <a:xfrm>
            <a:off x="5495544" y="4122732"/>
            <a:ext cx="3227832" cy="1767214"/>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fig41_joomla.png"/>
          <p:cNvPicPr>
            <a:picLocks noChangeAspect="1"/>
          </p:cNvPicPr>
          <p:nvPr/>
        </p:nvPicPr>
        <p:blipFill>
          <a:blip r:embed="rId4"/>
          <a:stretch>
            <a:fillRect/>
          </a:stretch>
        </p:blipFill>
        <p:spPr>
          <a:xfrm>
            <a:off x="5577840" y="4205028"/>
            <a:ext cx="3063240" cy="1602622"/>
          </a:xfrm>
          <a:prstGeom prst="rect">
            <a:avLst/>
          </a:prstGeom>
          <a:ln w="9525">
            <a:solidFill>
              <a:srgbClr val="D5DEE8"/>
            </a:solidFill>
          </a:ln>
        </p:spPr>
      </p:pic>
      <p:sp>
        <p:nvSpPr>
          <p:cNvPr id="19" name="TextBox 18"/>
          <p:cNvSpPr txBox="1"/>
          <p:nvPr/>
        </p:nvSpPr>
        <p:spPr>
          <a:xfrm>
            <a:off x="5577840" y="5961888"/>
            <a:ext cx="3063240" cy="274320"/>
          </a:xfrm>
          <a:prstGeom prst="rect">
            <a:avLst/>
          </a:prstGeom>
          <a:noFill/>
        </p:spPr>
        <p:txBody>
          <a:bodyPr wrap="square" lIns="0" tIns="0" rIns="0" bIns="0" anchor="t">
            <a:spAutoFit/>
          </a:bodyPr>
          <a:lstStyle/>
          <a:p>
            <a:pPr algn="ctr">
              <a:lnSpc>
                <a:spcPct val="100000"/>
              </a:lnSpc>
              <a:spcBef>
                <a:spcPts val="0"/>
              </a:spcBef>
              <a:spcAft>
                <a:spcPts val="600"/>
              </a:spcAft>
            </a:pPr>
            <a:r>
              <a:rPr sz="950" b="0" i="1">
                <a:solidFill>
                  <a:srgbClr val="5C6B7D"/>
                </a:solidFill>
                <a:latin typeface="Calibri"/>
              </a:rPr>
              <a:t>Fig 4.1: Joomla admin backend</a:t>
            </a:r>
          </a:p>
        </p:txBody>
      </p:sp>
      <p:sp>
        <p:nvSpPr>
          <p:cNvPr id="20" name="Rectangle 19"/>
          <p:cNvSpPr/>
          <p:nvPr/>
        </p:nvSpPr>
        <p:spPr>
          <a:xfrm>
            <a:off x="8787384" y="2910220"/>
            <a:ext cx="2953512" cy="158620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fig42_mobile.png"/>
          <p:cNvPicPr>
            <a:picLocks noChangeAspect="1"/>
          </p:cNvPicPr>
          <p:nvPr/>
        </p:nvPicPr>
        <p:blipFill>
          <a:blip r:embed="rId5"/>
          <a:stretch>
            <a:fillRect/>
          </a:stretch>
        </p:blipFill>
        <p:spPr>
          <a:xfrm>
            <a:off x="8869680" y="2992516"/>
            <a:ext cx="2788920" cy="1421608"/>
          </a:xfrm>
          <a:prstGeom prst="rect">
            <a:avLst/>
          </a:prstGeom>
          <a:ln w="9525">
            <a:solidFill>
              <a:srgbClr val="D5DEE8"/>
            </a:solidFill>
          </a:ln>
        </p:spPr>
      </p:pic>
      <p:sp>
        <p:nvSpPr>
          <p:cNvPr id="22" name="TextBox 21"/>
          <p:cNvSpPr txBox="1"/>
          <p:nvPr/>
        </p:nvSpPr>
        <p:spPr>
          <a:xfrm>
            <a:off x="8951976" y="4578716"/>
            <a:ext cx="2788920" cy="274320"/>
          </a:xfrm>
          <a:prstGeom prst="rect">
            <a:avLst/>
          </a:prstGeom>
          <a:noFill/>
        </p:spPr>
        <p:txBody>
          <a:bodyPr wrap="square" lIns="0" tIns="0" rIns="0" bIns="0" anchor="t">
            <a:spAutoFit/>
          </a:bodyPr>
          <a:lstStyle/>
          <a:p>
            <a:pPr algn="ctr">
              <a:lnSpc>
                <a:spcPct val="100000"/>
              </a:lnSpc>
              <a:spcBef>
                <a:spcPts val="0"/>
              </a:spcBef>
              <a:spcAft>
                <a:spcPts val="600"/>
              </a:spcAft>
            </a:pPr>
            <a:r>
              <a:rPr sz="950" b="0" i="1" dirty="0">
                <a:solidFill>
                  <a:srgbClr val="5C6B7D"/>
                </a:solidFill>
                <a:latin typeface="Calibri"/>
              </a:rPr>
              <a:t>Fig 4.2: Mobile-responsive view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4 · TASK B</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Graphic Design — Branding &amp; Festive Greetings</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TextBox 10"/>
          <p:cNvSpPr txBox="1"/>
          <p:nvPr/>
        </p:nvSpPr>
        <p:spPr>
          <a:xfrm>
            <a:off x="548640" y="1417320"/>
            <a:ext cx="4297680" cy="1645920"/>
          </a:xfrm>
          <a:prstGeom prst="rect">
            <a:avLst/>
          </a:prstGeom>
          <a:noFill/>
        </p:spPr>
        <p:txBody>
          <a:bodyPr wrap="square" lIns="0" tIns="0" rIns="0" bIns="0" anchor="t">
            <a:spAutoFit/>
          </a:bodyPr>
          <a:lstStyle/>
          <a:p>
            <a:pPr algn="l">
              <a:lnSpc>
                <a:spcPct val="114000"/>
              </a:lnSpc>
              <a:spcBef>
                <a:spcPts val="0"/>
              </a:spcBef>
              <a:spcAft>
                <a:spcPts val="600"/>
              </a:spcAft>
            </a:pPr>
            <a:r>
              <a:rPr sz="1350" b="0" i="0">
                <a:solidFill>
                  <a:srgbClr val="1E2A36"/>
                </a:solidFill>
                <a:latin typeface="Calibri"/>
              </a:rPr>
              <a:t>Produced graphic design work supporting KYROL's corporate identity and client-facing communications, keeping a consistent brand across every design.</a:t>
            </a:r>
          </a:p>
        </p:txBody>
      </p:sp>
      <p:sp>
        <p:nvSpPr>
          <p:cNvPr id="12" name="TextBox 11"/>
          <p:cNvSpPr txBox="1"/>
          <p:nvPr/>
        </p:nvSpPr>
        <p:spPr>
          <a:xfrm>
            <a:off x="548640" y="3154680"/>
            <a:ext cx="4297680" cy="32004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DELIVERABLES</a:t>
            </a:r>
          </a:p>
        </p:txBody>
      </p:sp>
      <p:sp>
        <p:nvSpPr>
          <p:cNvPr id="13" name="TextBox 12"/>
          <p:cNvSpPr txBox="1"/>
          <p:nvPr/>
        </p:nvSpPr>
        <p:spPr>
          <a:xfrm>
            <a:off x="548640" y="3520440"/>
            <a:ext cx="4297680" cy="2194560"/>
          </a:xfrm>
          <a:prstGeom prst="rect">
            <a:avLst/>
          </a:prstGeom>
          <a:noFill/>
        </p:spPr>
        <p:txBody>
          <a:bodyPr wrap="square" lIns="0" tIns="0" rIns="0" bIns="0">
            <a:spAutoFit/>
          </a:bodyPr>
          <a:lstStyle/>
          <a:p>
            <a:pPr marL="274320" indent="-237744">
              <a:lnSpc>
                <a:spcPct val="105000"/>
              </a:lnSpc>
              <a:spcBef>
                <a:spcPts val="0"/>
              </a:spcBef>
              <a:spcAft>
                <a:spcPts val="1200"/>
              </a:spcAft>
            </a:pPr>
            <a:r>
              <a:rPr sz="1300" b="1" dirty="0">
                <a:solidFill>
                  <a:srgbClr val="E8821E"/>
                </a:solidFill>
                <a:latin typeface="Calibri"/>
              </a:rPr>
              <a:t>▸  </a:t>
            </a:r>
            <a:r>
              <a:rPr sz="1300" b="0" dirty="0">
                <a:solidFill>
                  <a:srgbClr val="1E2A36"/>
                </a:solidFill>
                <a:latin typeface="Calibri"/>
              </a:rPr>
              <a:t>Corporate polo shirt uniform designs</a:t>
            </a:r>
          </a:p>
          <a:p>
            <a:pPr marL="274320" indent="-237744">
              <a:lnSpc>
                <a:spcPct val="105000"/>
              </a:lnSpc>
              <a:spcBef>
                <a:spcPts val="0"/>
              </a:spcBef>
              <a:spcAft>
                <a:spcPts val="1200"/>
              </a:spcAft>
            </a:pPr>
            <a:r>
              <a:rPr sz="1300" b="1" dirty="0">
                <a:solidFill>
                  <a:srgbClr val="E8821E"/>
                </a:solidFill>
                <a:latin typeface="Calibri"/>
              </a:rPr>
              <a:t>▸  </a:t>
            </a:r>
            <a:r>
              <a:rPr sz="1300" b="0" dirty="0">
                <a:solidFill>
                  <a:srgbClr val="1E2A36"/>
                </a:solidFill>
                <a:latin typeface="Calibri"/>
              </a:rPr>
              <a:t>Festive greeting posters (Wesak, </a:t>
            </a:r>
            <a:r>
              <a:rPr sz="1300" b="0" dirty="0" err="1">
                <a:solidFill>
                  <a:srgbClr val="1E2A36"/>
                </a:solidFill>
                <a:latin typeface="Calibri"/>
              </a:rPr>
              <a:t>Agong's</a:t>
            </a:r>
            <a:r>
              <a:rPr sz="1300" b="0" dirty="0">
                <a:solidFill>
                  <a:srgbClr val="1E2A36"/>
                </a:solidFill>
                <a:latin typeface="Calibri"/>
              </a:rPr>
              <a:t> birthday, </a:t>
            </a:r>
            <a:r>
              <a:rPr sz="1300" b="0" dirty="0" err="1">
                <a:solidFill>
                  <a:srgbClr val="1E2A36"/>
                </a:solidFill>
                <a:latin typeface="Calibri"/>
              </a:rPr>
              <a:t>Labour</a:t>
            </a:r>
            <a:r>
              <a:rPr sz="1300" b="0" dirty="0">
                <a:solidFill>
                  <a:srgbClr val="1E2A36"/>
                </a:solidFill>
                <a:latin typeface="Calibri"/>
              </a:rPr>
              <a:t> Day, Awal Muharram)</a:t>
            </a:r>
          </a:p>
          <a:p>
            <a:pPr marL="274320" indent="-237744">
              <a:lnSpc>
                <a:spcPct val="105000"/>
              </a:lnSpc>
              <a:spcBef>
                <a:spcPts val="0"/>
              </a:spcBef>
              <a:spcAft>
                <a:spcPts val="1200"/>
              </a:spcAft>
            </a:pPr>
            <a:r>
              <a:rPr sz="1300" b="1" dirty="0">
                <a:solidFill>
                  <a:srgbClr val="E8821E"/>
                </a:solidFill>
                <a:latin typeface="Calibri"/>
              </a:rPr>
              <a:t>▸  </a:t>
            </a:r>
            <a:r>
              <a:rPr sz="1300" b="0" dirty="0">
                <a:solidFill>
                  <a:srgbClr val="1E2A36"/>
                </a:solidFill>
                <a:latin typeface="Calibri"/>
              </a:rPr>
              <a:t>Two layout variants — banner &amp; portrait</a:t>
            </a:r>
          </a:p>
          <a:p>
            <a:pPr marL="274320" indent="-237744">
              <a:lnSpc>
                <a:spcPct val="105000"/>
              </a:lnSpc>
              <a:spcBef>
                <a:spcPts val="0"/>
              </a:spcBef>
              <a:spcAft>
                <a:spcPts val="1200"/>
              </a:spcAft>
            </a:pPr>
            <a:r>
              <a:rPr sz="1300" b="1" dirty="0">
                <a:solidFill>
                  <a:srgbClr val="E8821E"/>
                </a:solidFill>
                <a:latin typeface="Calibri"/>
              </a:rPr>
              <a:t>▸  </a:t>
            </a:r>
            <a:r>
              <a:rPr sz="1300" b="0" dirty="0">
                <a:solidFill>
                  <a:srgbClr val="1E2A36"/>
                </a:solidFill>
                <a:latin typeface="Calibri"/>
              </a:rPr>
              <a:t>Tool: Canva, incl. Canva AI</a:t>
            </a:r>
          </a:p>
        </p:txBody>
      </p:sp>
      <p:sp>
        <p:nvSpPr>
          <p:cNvPr id="14" name="Rectangle 13"/>
          <p:cNvSpPr/>
          <p:nvPr/>
        </p:nvSpPr>
        <p:spPr>
          <a:xfrm>
            <a:off x="4992624" y="1865796"/>
            <a:ext cx="3364992" cy="18005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g45_polo.png"/>
          <p:cNvPicPr>
            <a:picLocks noChangeAspect="1"/>
          </p:cNvPicPr>
          <p:nvPr/>
        </p:nvPicPr>
        <p:blipFill>
          <a:blip r:embed="rId3"/>
          <a:stretch>
            <a:fillRect/>
          </a:stretch>
        </p:blipFill>
        <p:spPr>
          <a:xfrm>
            <a:off x="5074920" y="1948092"/>
            <a:ext cx="3200400" cy="1635936"/>
          </a:xfrm>
          <a:prstGeom prst="rect">
            <a:avLst/>
          </a:prstGeom>
          <a:ln w="9525">
            <a:solidFill>
              <a:srgbClr val="D5DEE8"/>
            </a:solidFill>
          </a:ln>
        </p:spPr>
      </p:pic>
      <p:sp>
        <p:nvSpPr>
          <p:cNvPr id="16" name="TextBox 15"/>
          <p:cNvSpPr txBox="1"/>
          <p:nvPr/>
        </p:nvSpPr>
        <p:spPr>
          <a:xfrm>
            <a:off x="5010912" y="3712044"/>
            <a:ext cx="3200400" cy="274320"/>
          </a:xfrm>
          <a:prstGeom prst="rect">
            <a:avLst/>
          </a:prstGeom>
          <a:noFill/>
        </p:spPr>
        <p:txBody>
          <a:bodyPr wrap="square" lIns="0" tIns="0" rIns="0" bIns="0" anchor="t">
            <a:spAutoFit/>
          </a:bodyPr>
          <a:lstStyle/>
          <a:p>
            <a:pPr algn="ctr">
              <a:lnSpc>
                <a:spcPct val="100000"/>
              </a:lnSpc>
              <a:spcBef>
                <a:spcPts val="0"/>
              </a:spcBef>
              <a:spcAft>
                <a:spcPts val="600"/>
              </a:spcAft>
            </a:pPr>
            <a:r>
              <a:rPr sz="950" b="0" i="1" dirty="0">
                <a:solidFill>
                  <a:srgbClr val="5C6B7D"/>
                </a:solidFill>
                <a:latin typeface="Calibri"/>
              </a:rPr>
              <a:t>Fig 4.5: Corporate polo designs</a:t>
            </a:r>
          </a:p>
        </p:txBody>
      </p:sp>
      <p:sp>
        <p:nvSpPr>
          <p:cNvPr id="17" name="Rectangle 16"/>
          <p:cNvSpPr/>
          <p:nvPr/>
        </p:nvSpPr>
        <p:spPr>
          <a:xfrm>
            <a:off x="8375904" y="1616218"/>
            <a:ext cx="3364992" cy="2299684"/>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fig46_festive.png"/>
          <p:cNvPicPr>
            <a:picLocks noChangeAspect="1"/>
          </p:cNvPicPr>
          <p:nvPr/>
        </p:nvPicPr>
        <p:blipFill>
          <a:blip r:embed="rId4"/>
          <a:stretch>
            <a:fillRect/>
          </a:stretch>
        </p:blipFill>
        <p:spPr>
          <a:xfrm>
            <a:off x="8458200" y="1698514"/>
            <a:ext cx="3200400" cy="2135092"/>
          </a:xfrm>
          <a:prstGeom prst="rect">
            <a:avLst/>
          </a:prstGeom>
          <a:ln w="9525">
            <a:solidFill>
              <a:srgbClr val="D5DEE8"/>
            </a:solidFill>
          </a:ln>
        </p:spPr>
      </p:pic>
      <p:sp>
        <p:nvSpPr>
          <p:cNvPr id="19" name="TextBox 18"/>
          <p:cNvSpPr txBox="1"/>
          <p:nvPr/>
        </p:nvSpPr>
        <p:spPr>
          <a:xfrm>
            <a:off x="8485632" y="3995928"/>
            <a:ext cx="3200400" cy="274320"/>
          </a:xfrm>
          <a:prstGeom prst="rect">
            <a:avLst/>
          </a:prstGeom>
          <a:noFill/>
        </p:spPr>
        <p:txBody>
          <a:bodyPr wrap="square" lIns="0" tIns="0" rIns="0" bIns="0" anchor="t">
            <a:spAutoFit/>
          </a:bodyPr>
          <a:lstStyle/>
          <a:p>
            <a:pPr algn="ctr">
              <a:lnSpc>
                <a:spcPct val="100000"/>
              </a:lnSpc>
              <a:spcBef>
                <a:spcPts val="0"/>
              </a:spcBef>
              <a:spcAft>
                <a:spcPts val="600"/>
              </a:spcAft>
            </a:pPr>
            <a:r>
              <a:rPr sz="950" b="0" i="1">
                <a:solidFill>
                  <a:srgbClr val="5C6B7D"/>
                </a:solidFill>
                <a:latin typeface="Calibri"/>
              </a:rPr>
              <a:t>Fig 4.6: Festive greeting posters</a:t>
            </a:r>
          </a:p>
        </p:txBody>
      </p:sp>
      <p:sp>
        <p:nvSpPr>
          <p:cNvPr id="20" name="Rectangle 19"/>
          <p:cNvSpPr/>
          <p:nvPr/>
        </p:nvSpPr>
        <p:spPr>
          <a:xfrm>
            <a:off x="5074920" y="4498848"/>
            <a:ext cx="6583680" cy="13716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74920" y="4498848"/>
            <a:ext cx="82296" cy="137160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49240" y="4681728"/>
            <a:ext cx="6126480" cy="32004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BRAND CONSISTENCY</a:t>
            </a:r>
          </a:p>
        </p:txBody>
      </p:sp>
      <p:sp>
        <p:nvSpPr>
          <p:cNvPr id="23" name="TextBox 22"/>
          <p:cNvSpPr txBox="1"/>
          <p:nvPr/>
        </p:nvSpPr>
        <p:spPr>
          <a:xfrm>
            <a:off x="5349240" y="5029200"/>
            <a:ext cx="6126480" cy="412613"/>
          </a:xfrm>
          <a:prstGeom prst="rect">
            <a:avLst/>
          </a:prstGeom>
          <a:noFill/>
        </p:spPr>
        <p:txBody>
          <a:bodyPr wrap="square" lIns="0" tIns="0" rIns="0" bIns="0" anchor="t">
            <a:spAutoFit/>
          </a:bodyPr>
          <a:lstStyle/>
          <a:p>
            <a:pPr algn="l">
              <a:lnSpc>
                <a:spcPct val="110000"/>
              </a:lnSpc>
              <a:spcBef>
                <a:spcPts val="0"/>
              </a:spcBef>
              <a:spcAft>
                <a:spcPts val="600"/>
              </a:spcAft>
            </a:pPr>
            <a:r>
              <a:rPr sz="1250" b="0" i="0" dirty="0">
                <a:solidFill>
                  <a:srgbClr val="D8E1EC"/>
                </a:solidFill>
                <a:latin typeface="Calibri"/>
              </a:rPr>
              <a:t>Company logo, </a:t>
            </a:r>
            <a:r>
              <a:rPr sz="1250" b="0" i="0" dirty="0" err="1">
                <a:solidFill>
                  <a:srgbClr val="D8E1EC"/>
                </a:solidFill>
                <a:latin typeface="Calibri"/>
              </a:rPr>
              <a:t>colour</a:t>
            </a:r>
            <a:r>
              <a:rPr sz="1250" b="0" i="0" dirty="0">
                <a:solidFill>
                  <a:srgbClr val="D8E1EC"/>
                </a:solidFill>
                <a:latin typeface="Calibri"/>
              </a:rPr>
              <a:t> scheme, and tagline applied consistently across all corporate apparel and festive designs</a:t>
            </a:r>
            <a:r>
              <a:rPr lang="en-US" sz="1250" b="0" i="0" dirty="0">
                <a:solidFill>
                  <a:srgbClr val="D8E1EC"/>
                </a:solidFill>
                <a:latin typeface="Calibri"/>
              </a:rPr>
              <a:t>, </a:t>
            </a:r>
            <a:r>
              <a:rPr sz="1250" b="0" i="0" dirty="0">
                <a:solidFill>
                  <a:srgbClr val="D8E1EC"/>
                </a:solidFill>
                <a:latin typeface="Calibri"/>
              </a:rPr>
              <a:t>also produced event jerseys and branded corporate materials.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5</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Conclusion</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TextBox 10"/>
          <p:cNvSpPr txBox="1"/>
          <p:nvPr/>
        </p:nvSpPr>
        <p:spPr>
          <a:xfrm>
            <a:off x="548640" y="1417320"/>
            <a:ext cx="11064240" cy="494302"/>
          </a:xfrm>
          <a:prstGeom prst="rect">
            <a:avLst/>
          </a:prstGeom>
          <a:noFill/>
        </p:spPr>
        <p:txBody>
          <a:bodyPr wrap="square" lIns="0" tIns="0" rIns="0" bIns="0" anchor="t">
            <a:spAutoFit/>
          </a:bodyPr>
          <a:lstStyle/>
          <a:p>
            <a:pPr algn="l">
              <a:lnSpc>
                <a:spcPct val="114000"/>
              </a:lnSpc>
              <a:spcBef>
                <a:spcPts val="0"/>
              </a:spcBef>
              <a:spcAft>
                <a:spcPts val="600"/>
              </a:spcAft>
            </a:pPr>
            <a:r>
              <a:rPr sz="1450" b="0" i="0" dirty="0">
                <a:solidFill>
                  <a:srgbClr val="1E2A36"/>
                </a:solidFill>
                <a:latin typeface="Calibri"/>
              </a:rPr>
              <a:t>The 24-week training at KYROL Security Labs was a valuable bridge between classroom learning and real industry practice</a:t>
            </a:r>
            <a:r>
              <a:rPr lang="en-US" sz="1450" b="0" i="0" dirty="0">
                <a:solidFill>
                  <a:srgbClr val="1E2A36"/>
                </a:solidFill>
                <a:latin typeface="Calibri"/>
              </a:rPr>
              <a:t>,</a:t>
            </a:r>
            <a:r>
              <a:rPr sz="1450" b="0" i="0" dirty="0">
                <a:solidFill>
                  <a:srgbClr val="1E2A36"/>
                </a:solidFill>
                <a:latin typeface="Calibri"/>
              </a:rPr>
              <a:t> giving me hands-on exposure across software development, cybersecurity, systems administration, and creative design.</a:t>
            </a:r>
          </a:p>
        </p:txBody>
      </p:sp>
      <p:sp>
        <p:nvSpPr>
          <p:cNvPr id="12" name="Rectangle 11"/>
          <p:cNvSpPr/>
          <p:nvPr/>
        </p:nvSpPr>
        <p:spPr>
          <a:xfrm>
            <a:off x="548640" y="2880360"/>
            <a:ext cx="3639312" cy="297180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880360"/>
            <a:ext cx="3639312" cy="82296"/>
          </a:xfrm>
          <a:prstGeom prst="rect">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172968"/>
            <a:ext cx="3090672" cy="54864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Main Project</a:t>
            </a:r>
          </a:p>
        </p:txBody>
      </p:sp>
      <p:sp>
        <p:nvSpPr>
          <p:cNvPr id="15" name="TextBox 14"/>
          <p:cNvSpPr txBox="1"/>
          <p:nvPr/>
        </p:nvSpPr>
        <p:spPr>
          <a:xfrm>
            <a:off x="822960" y="3794760"/>
            <a:ext cx="3090672" cy="671209"/>
          </a:xfrm>
          <a:prstGeom prst="rect">
            <a:avLst/>
          </a:prstGeom>
          <a:noFill/>
        </p:spPr>
        <p:txBody>
          <a:bodyPr wrap="square" lIns="0" tIns="0" rIns="0" bIns="0" anchor="t">
            <a:spAutoFit/>
          </a:bodyPr>
          <a:lstStyle/>
          <a:p>
            <a:pPr algn="l">
              <a:lnSpc>
                <a:spcPct val="114000"/>
              </a:lnSpc>
              <a:spcBef>
                <a:spcPts val="0"/>
              </a:spcBef>
              <a:spcAft>
                <a:spcPts val="600"/>
              </a:spcAft>
            </a:pPr>
            <a:r>
              <a:rPr sz="1300" b="0" i="0" dirty="0">
                <a:solidFill>
                  <a:srgbClr val="5C6B7D"/>
                </a:solidFill>
                <a:latin typeface="Calibri"/>
              </a:rPr>
              <a:t>Full SDLC experience</a:t>
            </a:r>
            <a:r>
              <a:rPr lang="en-US" sz="1300" b="0" i="0" dirty="0">
                <a:solidFill>
                  <a:srgbClr val="5C6B7D"/>
                </a:solidFill>
                <a:latin typeface="Calibri"/>
              </a:rPr>
              <a:t>, </a:t>
            </a:r>
            <a:r>
              <a:rPr sz="1300" b="0" i="0" dirty="0">
                <a:solidFill>
                  <a:srgbClr val="5C6B7D"/>
                </a:solidFill>
                <a:latin typeface="Calibri"/>
              </a:rPr>
              <a:t>Python scripting, Docker containerization, secure SMTP, and CI/CD via GitHub Actions.</a:t>
            </a:r>
          </a:p>
        </p:txBody>
      </p:sp>
      <p:sp>
        <p:nvSpPr>
          <p:cNvPr id="16" name="Rectangle 15"/>
          <p:cNvSpPr/>
          <p:nvPr/>
        </p:nvSpPr>
        <p:spPr>
          <a:xfrm>
            <a:off x="4361688" y="2880360"/>
            <a:ext cx="3639312" cy="297180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61688" y="2880360"/>
            <a:ext cx="3639312" cy="82296"/>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36008" y="3172968"/>
            <a:ext cx="3090672" cy="54864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Technical Breadth</a:t>
            </a:r>
          </a:p>
        </p:txBody>
      </p:sp>
      <p:sp>
        <p:nvSpPr>
          <p:cNvPr id="19" name="TextBox 18"/>
          <p:cNvSpPr txBox="1"/>
          <p:nvPr/>
        </p:nvSpPr>
        <p:spPr>
          <a:xfrm>
            <a:off x="4636008" y="3794760"/>
            <a:ext cx="3090672" cy="1828800"/>
          </a:xfrm>
          <a:prstGeom prst="rect">
            <a:avLst/>
          </a:prstGeom>
          <a:noFill/>
        </p:spPr>
        <p:txBody>
          <a:bodyPr wrap="square" lIns="0" tIns="0" rIns="0" bIns="0" anchor="t">
            <a:spAutoFit/>
          </a:bodyPr>
          <a:lstStyle/>
          <a:p>
            <a:pPr algn="l">
              <a:lnSpc>
                <a:spcPct val="114000"/>
              </a:lnSpc>
              <a:spcBef>
                <a:spcPts val="0"/>
              </a:spcBef>
              <a:spcAft>
                <a:spcPts val="600"/>
              </a:spcAft>
            </a:pPr>
            <a:r>
              <a:rPr sz="1300" b="0" i="0">
                <a:solidFill>
                  <a:srgbClr val="5C6B7D"/>
                </a:solidFill>
                <a:latin typeface="Calibri"/>
              </a:rPr>
              <a:t>Cybersecurity &amp; pen-testing (TryHackMe, CTF), Active Directory, VMware, on-site hardware maintenance, Power BI, Joomla CMS.</a:t>
            </a:r>
          </a:p>
        </p:txBody>
      </p:sp>
      <p:sp>
        <p:nvSpPr>
          <p:cNvPr id="20" name="Rectangle 19"/>
          <p:cNvSpPr/>
          <p:nvPr/>
        </p:nvSpPr>
        <p:spPr>
          <a:xfrm>
            <a:off x="8174736" y="2880360"/>
            <a:ext cx="3639312" cy="297180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74736" y="2880360"/>
            <a:ext cx="3639312" cy="82296"/>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49056" y="3172968"/>
            <a:ext cx="3090672" cy="54864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Creative &amp; Soft Skills</a:t>
            </a:r>
          </a:p>
        </p:txBody>
      </p:sp>
      <p:sp>
        <p:nvSpPr>
          <p:cNvPr id="23" name="TextBox 22"/>
          <p:cNvSpPr txBox="1"/>
          <p:nvPr/>
        </p:nvSpPr>
        <p:spPr>
          <a:xfrm>
            <a:off x="8449056" y="3794760"/>
            <a:ext cx="3090672" cy="1828800"/>
          </a:xfrm>
          <a:prstGeom prst="rect">
            <a:avLst/>
          </a:prstGeom>
          <a:noFill/>
        </p:spPr>
        <p:txBody>
          <a:bodyPr wrap="square" lIns="0" tIns="0" rIns="0" bIns="0" anchor="t">
            <a:spAutoFit/>
          </a:bodyPr>
          <a:lstStyle/>
          <a:p>
            <a:pPr algn="l">
              <a:lnSpc>
                <a:spcPct val="114000"/>
              </a:lnSpc>
              <a:spcBef>
                <a:spcPts val="0"/>
              </a:spcBef>
              <a:spcAft>
                <a:spcPts val="600"/>
              </a:spcAft>
            </a:pPr>
            <a:r>
              <a:rPr sz="1300" b="0" i="0">
                <a:solidFill>
                  <a:srgbClr val="5C6B7D"/>
                </a:solidFill>
                <a:latin typeface="Calibri"/>
              </a:rPr>
              <a:t>Corporate graphic design plus communication, time management, and adaptability in a client-facing environment.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5</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Recommendations</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548640" y="1554480"/>
            <a:ext cx="11091672" cy="129844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77240" y="1874520"/>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1892808"/>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1700" b="1" i="0">
                <a:solidFill>
                  <a:srgbClr val="FFFFFF"/>
                </a:solidFill>
                <a:latin typeface="Segoe UI Semibold"/>
              </a:rPr>
              <a:t>i</a:t>
            </a:r>
          </a:p>
        </p:txBody>
      </p:sp>
      <p:sp>
        <p:nvSpPr>
          <p:cNvPr id="14" name="TextBox 13"/>
          <p:cNvSpPr txBox="1"/>
          <p:nvPr/>
        </p:nvSpPr>
        <p:spPr>
          <a:xfrm>
            <a:off x="1691640" y="1737360"/>
            <a:ext cx="960120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To the University</a:t>
            </a:r>
          </a:p>
        </p:txBody>
      </p:sp>
      <p:sp>
        <p:nvSpPr>
          <p:cNvPr id="15" name="TextBox 14"/>
          <p:cNvSpPr txBox="1"/>
          <p:nvPr/>
        </p:nvSpPr>
        <p:spPr>
          <a:xfrm>
            <a:off x="1691640" y="2157984"/>
            <a:ext cx="9692640" cy="640080"/>
          </a:xfrm>
          <a:prstGeom prst="rect">
            <a:avLst/>
          </a:prstGeom>
          <a:noFill/>
        </p:spPr>
        <p:txBody>
          <a:bodyPr wrap="square" lIns="0" tIns="0" rIns="0" bIns="0" anchor="t">
            <a:spAutoFit/>
          </a:bodyPr>
          <a:lstStyle/>
          <a:p>
            <a:pPr algn="l">
              <a:lnSpc>
                <a:spcPct val="110000"/>
              </a:lnSpc>
              <a:spcBef>
                <a:spcPts val="0"/>
              </a:spcBef>
              <a:spcAft>
                <a:spcPts val="600"/>
              </a:spcAft>
            </a:pPr>
            <a:r>
              <a:rPr sz="1300" b="0" i="0">
                <a:solidFill>
                  <a:srgbClr val="5C6B7D"/>
                </a:solidFill>
                <a:latin typeface="Calibri"/>
              </a:rPr>
              <a:t>Actively secure internship placements by expanding partnerships with IT and cybersecurity firms, as some students struggle to find suitable placements in time.</a:t>
            </a:r>
          </a:p>
        </p:txBody>
      </p:sp>
      <p:sp>
        <p:nvSpPr>
          <p:cNvPr id="16" name="Rectangle 15"/>
          <p:cNvSpPr/>
          <p:nvPr/>
        </p:nvSpPr>
        <p:spPr>
          <a:xfrm>
            <a:off x="548640" y="2999232"/>
            <a:ext cx="11091672" cy="129844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77240" y="3319272"/>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337560"/>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1700" b="1" i="0">
                <a:solidFill>
                  <a:srgbClr val="FFFFFF"/>
                </a:solidFill>
                <a:latin typeface="Segoe UI Semibold"/>
              </a:rPr>
              <a:t>ii</a:t>
            </a:r>
          </a:p>
        </p:txBody>
      </p:sp>
      <p:sp>
        <p:nvSpPr>
          <p:cNvPr id="19" name="TextBox 18"/>
          <p:cNvSpPr txBox="1"/>
          <p:nvPr/>
        </p:nvSpPr>
        <p:spPr>
          <a:xfrm>
            <a:off x="1691640" y="3182112"/>
            <a:ext cx="960120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To Future Students</a:t>
            </a:r>
          </a:p>
        </p:txBody>
      </p:sp>
      <p:sp>
        <p:nvSpPr>
          <p:cNvPr id="20" name="TextBox 19"/>
          <p:cNvSpPr txBox="1"/>
          <p:nvPr/>
        </p:nvSpPr>
        <p:spPr>
          <a:xfrm>
            <a:off x="1691640" y="3602736"/>
            <a:ext cx="9692640" cy="209032"/>
          </a:xfrm>
          <a:prstGeom prst="rect">
            <a:avLst/>
          </a:prstGeom>
          <a:noFill/>
        </p:spPr>
        <p:txBody>
          <a:bodyPr wrap="square" lIns="0" tIns="0" rIns="0" bIns="0" anchor="t">
            <a:spAutoFit/>
          </a:bodyPr>
          <a:lstStyle/>
          <a:p>
            <a:pPr algn="l">
              <a:lnSpc>
                <a:spcPct val="110000"/>
              </a:lnSpc>
              <a:spcBef>
                <a:spcPts val="0"/>
              </a:spcBef>
              <a:spcAft>
                <a:spcPts val="600"/>
              </a:spcAft>
            </a:pPr>
            <a:r>
              <a:rPr sz="1300" b="0" i="0" dirty="0">
                <a:solidFill>
                  <a:srgbClr val="5C6B7D"/>
                </a:solidFill>
                <a:latin typeface="Calibri"/>
              </a:rPr>
              <a:t>Be proactive</a:t>
            </a:r>
            <a:r>
              <a:rPr lang="en-US" sz="1300" b="0" i="0" dirty="0">
                <a:solidFill>
                  <a:srgbClr val="5C6B7D"/>
                </a:solidFill>
                <a:latin typeface="Calibri"/>
              </a:rPr>
              <a:t>, </a:t>
            </a:r>
            <a:r>
              <a:rPr sz="1300" b="0" i="0" dirty="0">
                <a:solidFill>
                  <a:srgbClr val="5C6B7D"/>
                </a:solidFill>
                <a:latin typeface="Calibri"/>
              </a:rPr>
              <a:t>ask questions and seek responsibilities beyond assigned tasks. This leads to broader exposure to different tools and workflows.</a:t>
            </a:r>
          </a:p>
        </p:txBody>
      </p:sp>
      <p:sp>
        <p:nvSpPr>
          <p:cNvPr id="21" name="Rectangle 20"/>
          <p:cNvSpPr/>
          <p:nvPr/>
        </p:nvSpPr>
        <p:spPr>
          <a:xfrm>
            <a:off x="548640" y="4443984"/>
            <a:ext cx="11091672" cy="129844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77240" y="4764024"/>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782312"/>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1700" b="1" i="0">
                <a:solidFill>
                  <a:srgbClr val="FFFFFF"/>
                </a:solidFill>
                <a:latin typeface="Segoe UI Semibold"/>
              </a:rPr>
              <a:t>iii</a:t>
            </a:r>
          </a:p>
        </p:txBody>
      </p:sp>
      <p:sp>
        <p:nvSpPr>
          <p:cNvPr id="24" name="TextBox 23"/>
          <p:cNvSpPr txBox="1"/>
          <p:nvPr/>
        </p:nvSpPr>
        <p:spPr>
          <a:xfrm>
            <a:off x="1691640" y="4626864"/>
            <a:ext cx="960120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On Flexible Work</a:t>
            </a:r>
          </a:p>
        </p:txBody>
      </p:sp>
      <p:sp>
        <p:nvSpPr>
          <p:cNvPr id="25" name="TextBox 24"/>
          <p:cNvSpPr txBox="1"/>
          <p:nvPr/>
        </p:nvSpPr>
        <p:spPr>
          <a:xfrm>
            <a:off x="1691640" y="5047488"/>
            <a:ext cx="9692640" cy="640080"/>
          </a:xfrm>
          <a:prstGeom prst="rect">
            <a:avLst/>
          </a:prstGeom>
          <a:noFill/>
        </p:spPr>
        <p:txBody>
          <a:bodyPr wrap="square" lIns="0" tIns="0" rIns="0" bIns="0" anchor="t">
            <a:spAutoFit/>
          </a:bodyPr>
          <a:lstStyle/>
          <a:p>
            <a:pPr algn="l">
              <a:lnSpc>
                <a:spcPct val="110000"/>
              </a:lnSpc>
              <a:spcBef>
                <a:spcPts val="0"/>
              </a:spcBef>
              <a:spcAft>
                <a:spcPts val="600"/>
              </a:spcAft>
            </a:pPr>
            <a:r>
              <a:rPr sz="1300" b="0" i="0">
                <a:solidFill>
                  <a:srgbClr val="5C6B7D"/>
                </a:solidFill>
                <a:latin typeface="Calibri"/>
              </a:rPr>
              <a:t>Embrace varied working arrangements — remote days, client site visits, and after-hours maintenance give a far more realistic picture of IT industry life.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rot="10800000">
            <a:off x="-548640" y="5394960"/>
            <a:ext cx="2468880" cy="2011680"/>
          </a:xfrm>
          <a:prstGeom prst="rtTriangle">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175504" y="3429000"/>
            <a:ext cx="1828800" cy="3175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423160"/>
            <a:ext cx="10360152" cy="1005840"/>
          </a:xfrm>
          <a:prstGeom prst="rect">
            <a:avLst/>
          </a:prstGeom>
          <a:noFill/>
        </p:spPr>
        <p:txBody>
          <a:bodyPr wrap="square" lIns="0" tIns="0" rIns="0" bIns="0" anchor="t">
            <a:spAutoFit/>
          </a:bodyPr>
          <a:lstStyle/>
          <a:p>
            <a:pPr algn="ctr">
              <a:lnSpc>
                <a:spcPct val="100000"/>
              </a:lnSpc>
              <a:spcBef>
                <a:spcPts val="0"/>
              </a:spcBef>
              <a:spcAft>
                <a:spcPts val="600"/>
              </a:spcAft>
            </a:pPr>
            <a:r>
              <a:rPr sz="5200" b="1" i="0">
                <a:solidFill>
                  <a:srgbClr val="FFFFFF"/>
                </a:solidFill>
                <a:latin typeface="Segoe UI Semibold"/>
              </a:rPr>
              <a:t>Thank You</a:t>
            </a:r>
          </a:p>
        </p:txBody>
      </p:sp>
      <p:sp>
        <p:nvSpPr>
          <p:cNvPr id="6" name="TextBox 5"/>
          <p:cNvSpPr txBox="1"/>
          <p:nvPr/>
        </p:nvSpPr>
        <p:spPr>
          <a:xfrm>
            <a:off x="914400" y="3657600"/>
            <a:ext cx="10360152" cy="548640"/>
          </a:xfrm>
          <a:prstGeom prst="rect">
            <a:avLst/>
          </a:prstGeom>
          <a:noFill/>
        </p:spPr>
        <p:txBody>
          <a:bodyPr wrap="square" lIns="0" tIns="0" rIns="0" bIns="0" anchor="t">
            <a:spAutoFit/>
          </a:bodyPr>
          <a:lstStyle/>
          <a:p>
            <a:pPr algn="ctr">
              <a:lnSpc>
                <a:spcPct val="100000"/>
              </a:lnSpc>
              <a:spcBef>
                <a:spcPts val="0"/>
              </a:spcBef>
              <a:spcAft>
                <a:spcPts val="600"/>
              </a:spcAft>
            </a:pPr>
            <a:r>
              <a:rPr sz="2000" b="0" i="0">
                <a:solidFill>
                  <a:srgbClr val="9FC1E6"/>
                </a:solidFill>
                <a:latin typeface="Calibri"/>
              </a:rPr>
              <a:t>Questions &amp; Discussion</a:t>
            </a:r>
          </a:p>
        </p:txBody>
      </p:sp>
      <p:sp>
        <p:nvSpPr>
          <p:cNvPr id="7" name="TextBox 6"/>
          <p:cNvSpPr txBox="1"/>
          <p:nvPr/>
        </p:nvSpPr>
        <p:spPr>
          <a:xfrm>
            <a:off x="914400" y="4846320"/>
            <a:ext cx="10360152" cy="914400"/>
          </a:xfrm>
          <a:prstGeom prst="rect">
            <a:avLst/>
          </a:prstGeom>
          <a:noFill/>
        </p:spPr>
        <p:txBody>
          <a:bodyPr wrap="square" lIns="0" tIns="0" rIns="0" bIns="0" anchor="t">
            <a:spAutoFit/>
          </a:bodyPr>
          <a:lstStyle/>
          <a:p>
            <a:pPr algn="ctr">
              <a:lnSpc>
                <a:spcPct val="100000"/>
              </a:lnSpc>
              <a:spcBef>
                <a:spcPts val="0"/>
              </a:spcBef>
              <a:spcAft>
                <a:spcPts val="400"/>
              </a:spcAft>
            </a:pPr>
            <a:r>
              <a:rPr sz="1400" b="1" i="0">
                <a:solidFill>
                  <a:srgbClr val="FFFFFF"/>
                </a:solidFill>
                <a:latin typeface="Calibri"/>
              </a:rPr>
              <a:t>Muhammad Arif Danial Bin Mohd Anuar  ·  2024933617</a:t>
            </a:r>
          </a:p>
          <a:p>
            <a:pPr algn="ctr">
              <a:lnSpc>
                <a:spcPct val="100000"/>
              </a:lnSpc>
              <a:spcBef>
                <a:spcPts val="0"/>
              </a:spcBef>
              <a:spcAft>
                <a:spcPts val="400"/>
              </a:spcAft>
            </a:pPr>
            <a:r>
              <a:rPr sz="1200" b="0" i="0">
                <a:solidFill>
                  <a:srgbClr val="8FA6BE"/>
                </a:solidFill>
                <a:latin typeface="Calibri"/>
              </a:rPr>
              <a:t>Practical Training at KYROL Security Labs Sdn. Bhd.  ·  Diploma in Computer Science (CDCS110)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TotalTime>
  <Words>2525</Words>
  <Application>Microsoft Office PowerPoint</Application>
  <PresentationFormat>Widescreen</PresentationFormat>
  <Paragraphs>286</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ARIF DANIAL BIN MOHD ANUAR</cp:lastModifiedBy>
  <cp:revision>3</cp:revision>
  <dcterms:created xsi:type="dcterms:W3CDTF">2013-01-27T09:14:16Z</dcterms:created>
  <dcterms:modified xsi:type="dcterms:W3CDTF">2026-07-20T03:59:41Z</dcterms:modified>
  <cp:category/>
</cp:coreProperties>
</file>